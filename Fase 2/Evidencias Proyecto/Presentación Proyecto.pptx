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Lato" panose="020F0502020204030203" pitchFamily="34" charset="0"/>
      <p:regular r:id="rId31"/>
      <p:bold r:id="rId32"/>
    </p:embeddedFont>
    <p:embeddedFont>
      <p:font typeface="Plus Jakarta Sans" panose="020B060402020202020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</p:embeddedFont>
    <p:embeddedFont>
      <p:font typeface="Poppins SemiBold" panose="00000700000000000000" pitchFamily="2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iRJQOlOGcwH9OqPxU60LePQ8b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56EAD6-58A3-4237-966B-4422FB4963BE}">
  <a:tblStyle styleId="{6056EAD6-58A3-4237-966B-4422FB4963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6B4313-7571-4057-95A6-CEAACECF216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979669B-35E5-4E75-9A7A-9506D7F4DA2C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51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1ffbbd66c0d0bd0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h61ffbbd66c0d0bd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30b8666f6d08938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h30b8666f6d0893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12556c826f0a0262_2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h12556c826f0a0262_2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30b8666f6d08938_2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h30b8666f6d08938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30b8666f6d08938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h30b8666f6d08938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12556c826f0a0262_2_5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h12556c826f0a0262_2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61ffbbd66c0d0bd0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h61ffbbd66c0d0bd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0b8666f6d08938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h30b8666f6d0893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761e30b142a570f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h761e30b142a570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61ffbbd66c0d0bd0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h61ffbbd66c0d0bd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61ffbbd66c0d0bd0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h61ffbbd66c0d0bd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2556c826f0a0262_2_5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h12556c826f0a0262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12556c826f0a0262_2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h12556c826f0a0262_2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1a26b3ade1f5064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h1a26b3ade1f506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12556c826f0a02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h12556c826f0a026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h12556c826f0a026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30b8666f6d0893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30b8666f6d0893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h30b8666f6d08938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1a26b3ade1f5064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h1a26b3ade1f506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a26b3ade1f506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h1a26b3ade1f506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12556c826f0a0262_2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h12556c826f0a0262_2_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h12556c826f0a0262_2_4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61ffbbd66c0d0bd0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h61ffbbd66c0d0bd0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KuoCg7xv2980OtQUA9V07-4xf-G7XJG/vie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-CL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CL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y canal de pedidos cliente para </a:t>
            </a:r>
            <a:r>
              <a:rPr lang="es-CL" sz="14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lang="es-CL" b="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lang="es-CL" sz="14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 b="0" i="0" u="none" strike="noStrike" cap="non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endParaRPr sz="1200" b="1" i="0" u="none" strike="noStrike" cap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-10-2026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sz="975" b="1" i="0" u="none" strike="noStrike" cap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sz="1200" b="1" i="0" u="none" strike="noStrike" cap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s-CL" sz="25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sz="255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34572" y="2068710"/>
            <a:ext cx="5391300" cy="8667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116222" y="2068710"/>
            <a:ext cx="5391300" cy="8667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344200" y="2287775"/>
            <a:ext cx="3102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del Proyecto 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344201" y="2544950"/>
            <a:ext cx="3328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breve del alcance.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344201" y="3306950"/>
            <a:ext cx="2834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344201" y="3564127"/>
            <a:ext cx="3633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arquitectura y diagramas Vistas 4+1. </a:t>
            </a:r>
            <a:endParaRPr sz="1050" b="0" i="0" u="none" strike="noStrike" cap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344202" y="4326125"/>
            <a:ext cx="350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Prototipo Página Web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344200" y="4583288"/>
            <a:ext cx="3823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Video demostrativo de página web en ambiente local.</a:t>
            </a:r>
            <a:endParaRPr sz="1050" b="0" i="0" u="none" strike="noStrike" cap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925853" y="2287775"/>
            <a:ext cx="445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 y Plan de Mitigaciones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925850" y="2544950"/>
            <a:ext cx="4581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principales riesgos del proyecto con el plan de mitigación definido.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925852" y="3306950"/>
            <a:ext cx="363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y Porcentaje Cumplimiento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25851" y="3564125"/>
            <a:ext cx="4491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del cronograma general de 16 semanas.</a:t>
            </a:r>
            <a:endParaRPr sz="1050" b="0" i="0" u="none" strike="noStrike" cap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925848" y="4326125"/>
            <a:ext cx="2865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25849" y="4583300"/>
            <a:ext cx="4581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sz="1050" b="0" i="0" u="none" strike="noStrike" cap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372528" y="432613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619925" y="2426070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225684" y="2408224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s-CL"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237591" y="338361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s-CL"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225672" y="440368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s-CL"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534497" y="5220848"/>
            <a:ext cx="5391300" cy="8667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344125" y="5439913"/>
            <a:ext cx="2426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Casos de Prueba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1344125" y="5697100"/>
            <a:ext cx="3981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plan de prueba con principales casos diseñados.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619924" y="5449448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6116222" y="5289435"/>
            <a:ext cx="5391300" cy="8667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6925850" y="5508500"/>
            <a:ext cx="2942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CL" sz="13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 sz="1350" b="1" i="0" u="none" strike="noStrike" cap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6925850" y="5765675"/>
            <a:ext cx="4459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del avance actual y compromisos para la próxima semana.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201649" y="551803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763024" y="544462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6368624" y="552567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 flipH="1">
            <a:off x="620075" y="5550249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s-CL"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 flipH="1">
            <a:off x="6201650" y="5618824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s-CL"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h61ffbbd66c0d0bd0_0_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h61ffbbd66c0d0bd0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Propuesta: Ecosistema Integrado </a:t>
            </a:r>
            <a:endParaRPr sz="2800" b="1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h61ffbbd66c0d0bd0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h61ffbbd66c0d0bd0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h61ffbbd66c0d0bd0_0_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675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h61ffbbd66c0d0bd0_0_4"/>
          <p:cNvSpPr txBox="1"/>
          <p:nvPr/>
        </p:nvSpPr>
        <p:spPr>
          <a:xfrm>
            <a:off x="602913" y="2865000"/>
            <a:ext cx="32982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Reemplaza el flujo físico sincronizando salón, caja, cocina y gerencia.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h61ffbbd66c0d0bd0_0_4"/>
          <p:cNvSpPr txBox="1"/>
          <p:nvPr/>
        </p:nvSpPr>
        <p:spPr>
          <a:xfrm>
            <a:off x="602925" y="2507450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Plataforma POS Central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h61ffbbd66c0d0bd0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375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h61ffbbd66c0d0bd0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3838" y="2156113"/>
            <a:ext cx="3048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h61ffbbd66c0d0bd0_0_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7550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h61ffbbd66c0d0bd0_0_4"/>
          <p:cNvSpPr txBox="1"/>
          <p:nvPr/>
        </p:nvSpPr>
        <p:spPr>
          <a:xfrm>
            <a:off x="4414363" y="2865000"/>
            <a:ext cx="32982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Impresión automática e instantánea en cocina y barra al ingresar la orden.</a:t>
            </a:r>
            <a:endParaRPr sz="1200">
              <a:solidFill>
                <a:srgbClr val="1665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h61ffbbd66c0d0bd0_0_4"/>
          <p:cNvSpPr txBox="1"/>
          <p:nvPr/>
        </p:nvSpPr>
        <p:spPr>
          <a:xfrm>
            <a:off x="4414375" y="2507450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Comandas Térmicas</a:t>
            </a:r>
            <a:endParaRPr b="1">
              <a:solidFill>
                <a:srgbClr val="1453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9" name="Google Shape;169;h61ffbbd66c0d0bd0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6250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h61ffbbd66c0d0bd0_0_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1375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61ffbbd66c0d0bd0_0_4"/>
          <p:cNvSpPr txBox="1"/>
          <p:nvPr/>
        </p:nvSpPr>
        <p:spPr>
          <a:xfrm>
            <a:off x="8225825" y="2910750"/>
            <a:ext cx="3170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Carta digital para realizar pedidos de forma online.</a:t>
            </a:r>
            <a:endParaRPr sz="10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2" name="Google Shape;172;h61ffbbd66c0d0bd0_0_4"/>
          <p:cNvSpPr txBox="1"/>
          <p:nvPr/>
        </p:nvSpPr>
        <p:spPr>
          <a:xfrm>
            <a:off x="8225825" y="2530325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App</a:t>
            </a:r>
            <a:r>
              <a:rPr lang="es-CL" sz="1350" b="1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s-CL" b="1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Móvil Clientes</a:t>
            </a:r>
            <a:endParaRPr b="1">
              <a:solidFill>
                <a:srgbClr val="1453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h61ffbbd66c0d0bd0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0075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h61ffbbd66c0d0bd0_0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8175" y="2146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h61ffbbd66c0d0bd0_0_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38300" y="2156125"/>
            <a:ext cx="3048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h61ffbbd66c0d0bd0_0_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3875" y="3934100"/>
            <a:ext cx="11144400" cy="2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h61ffbbd66c0d0bd0_0_4"/>
          <p:cNvSpPr txBox="1"/>
          <p:nvPr/>
        </p:nvSpPr>
        <p:spPr>
          <a:xfrm>
            <a:off x="843850" y="5156225"/>
            <a:ext cx="60450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Control visual en tiempo real de las </a:t>
            </a:r>
            <a:r>
              <a:rPr lang="es-CL" b="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24 mesas distribuidas en 2 pisos</a:t>
            </a: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(disponible, ocupada, comanda enviada, cuenta pedida).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h61ffbbd66c0d0bd0_0_4"/>
          <p:cNvSpPr txBox="1"/>
          <p:nvPr/>
        </p:nvSpPr>
        <p:spPr>
          <a:xfrm>
            <a:off x="843850" y="4644850"/>
            <a:ext cx="451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Mapa Interactivo de Mesas</a:t>
            </a:r>
            <a:endParaRPr sz="160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h61ffbbd66c0d0bd0_0_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21100" y="4551760"/>
            <a:ext cx="1603625" cy="1024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h61ffbbd66c0d0bd0_0_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15975" y="4552601"/>
            <a:ext cx="1602000" cy="10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h61ffbbd66c0d0bd0_0_4"/>
          <p:cNvSpPr/>
          <p:nvPr/>
        </p:nvSpPr>
        <p:spPr>
          <a:xfrm>
            <a:off x="972075" y="4127688"/>
            <a:ext cx="2107200" cy="4311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61ffbbd66c0d0bd0_0_4"/>
          <p:cNvSpPr txBox="1"/>
          <p:nvPr/>
        </p:nvSpPr>
        <p:spPr>
          <a:xfrm>
            <a:off x="1082025" y="4149738"/>
            <a:ext cx="1933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DESTACADO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h61ffbbd66c0d0bd0_0_4"/>
          <p:cNvSpPr txBox="1"/>
          <p:nvPr/>
        </p:nvSpPr>
        <p:spPr>
          <a:xfrm>
            <a:off x="7554425" y="4749750"/>
            <a:ext cx="12534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4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40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61ffbbd66c0d0bd0_0_4"/>
          <p:cNvSpPr txBox="1"/>
          <p:nvPr/>
        </p:nvSpPr>
        <p:spPr>
          <a:xfrm>
            <a:off x="7524250" y="5156225"/>
            <a:ext cx="13953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Mesas En Red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h61ffbbd66c0d0bd0_0_4"/>
          <p:cNvSpPr txBox="1"/>
          <p:nvPr/>
        </p:nvSpPr>
        <p:spPr>
          <a:xfrm>
            <a:off x="9890275" y="4749738"/>
            <a:ext cx="12534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h61ffbbd66c0d0bd0_0_4"/>
          <p:cNvSpPr txBox="1"/>
          <p:nvPr/>
        </p:nvSpPr>
        <p:spPr>
          <a:xfrm>
            <a:off x="9715975" y="5156225"/>
            <a:ext cx="1603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Pisos Controlados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h61ffbbd66c0d0bd0_0_4"/>
          <p:cNvSpPr txBox="1"/>
          <p:nvPr/>
        </p:nvSpPr>
        <p:spPr>
          <a:xfrm>
            <a:off x="643975" y="1576450"/>
            <a:ext cx="10332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Digitalización punto a punto desde la mesa hasta la administración.</a:t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h30b8666f6d08938_0_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h30b8666f6d08938_0_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Arquitectura en 3 Capas y Autonomía Local</a:t>
            </a:r>
            <a:endParaRPr sz="2800" b="1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h30b8666f6d08938_0_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30b8666f6d08938_0_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30b8666f6d08938_0_2"/>
          <p:cNvSpPr txBox="1"/>
          <p:nvPr/>
        </p:nvSpPr>
        <p:spPr>
          <a:xfrm>
            <a:off x="464175" y="1596588"/>
            <a:ext cx="11263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>
                <a:solidFill>
                  <a:srgbClr val="475569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Monolito modular en Django y PostgreSQL desplegado en Docker On-Premise para garantizar continuidad operacional en la red LAN.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h30b8666f6d08938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575" y="2225075"/>
            <a:ext cx="3512401" cy="30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h30b8666f6d08938_0_2"/>
          <p:cNvSpPr txBox="1"/>
          <p:nvPr/>
        </p:nvSpPr>
        <p:spPr>
          <a:xfrm>
            <a:off x="1371775" y="2464775"/>
            <a:ext cx="15474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9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Capa 1</a:t>
            </a:r>
            <a:endParaRPr sz="900" b="1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h30b8666f6d08938_0_2"/>
          <p:cNvSpPr txBox="1"/>
          <p:nvPr/>
        </p:nvSpPr>
        <p:spPr>
          <a:xfrm>
            <a:off x="1299625" y="2775238"/>
            <a:ext cx="169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Presentación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h30b8666f6d08938_0_2"/>
          <p:cNvSpPr txBox="1"/>
          <p:nvPr/>
        </p:nvSpPr>
        <p:spPr>
          <a:xfrm>
            <a:off x="619725" y="3245100"/>
            <a:ext cx="3237000" cy="19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 Web/PWA: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Angular 22, adaptable a distintos dispositivos.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 Android  Móvil Cliente: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Ionic 9 + Capacitor 8 para clientes.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Funciones: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Pedidos, carta,mesas, caja y control operativo.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h30b8666f6d08938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2285675"/>
            <a:ext cx="3512401" cy="30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h30b8666f6d08938_0_2"/>
          <p:cNvSpPr txBox="1"/>
          <p:nvPr/>
        </p:nvSpPr>
        <p:spPr>
          <a:xfrm>
            <a:off x="5177000" y="2525375"/>
            <a:ext cx="15474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9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Capa 2</a:t>
            </a:r>
            <a:endParaRPr sz="900" b="1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h30b8666f6d08938_0_2"/>
          <p:cNvSpPr txBox="1"/>
          <p:nvPr/>
        </p:nvSpPr>
        <p:spPr>
          <a:xfrm>
            <a:off x="5104850" y="2835850"/>
            <a:ext cx="211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Negocio (Backend)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h30b8666f6d08938_0_2"/>
          <p:cNvSpPr txBox="1"/>
          <p:nvPr/>
        </p:nvSpPr>
        <p:spPr>
          <a:xfrm>
            <a:off x="4424950" y="3305700"/>
            <a:ext cx="3237000" cy="19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Django 5.2 + Django REST Framework 3.17.</a:t>
            </a:r>
            <a:endParaRPr sz="115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 Módulos Delimitados: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carta, salón, caja, reportes y pedidos.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Reglas de negocio, validaciones y permisos.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h30b8666f6d08938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5025" y="2285675"/>
            <a:ext cx="3512401" cy="30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h30b8666f6d08938_0_2"/>
          <p:cNvSpPr txBox="1"/>
          <p:nvPr/>
        </p:nvSpPr>
        <p:spPr>
          <a:xfrm>
            <a:off x="8982225" y="2525375"/>
            <a:ext cx="15474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Capa 3</a:t>
            </a:r>
            <a:endParaRPr sz="900" b="1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30b8666f6d08938_0_2"/>
          <p:cNvSpPr txBox="1"/>
          <p:nvPr/>
        </p:nvSpPr>
        <p:spPr>
          <a:xfrm>
            <a:off x="8910075" y="2835850"/>
            <a:ext cx="236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Datos 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h30b8666f6d08938_0_2"/>
          <p:cNvSpPr txBox="1"/>
          <p:nvPr/>
        </p:nvSpPr>
        <p:spPr>
          <a:xfrm>
            <a:off x="8230175" y="3305700"/>
            <a:ext cx="3237000" cy="19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 de Datos: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PostgreSQL 17 en azure.</a:t>
            </a:r>
            <a:endParaRPr sz="115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Integridad: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Relaciones y restricciones para proteger la información.</a:t>
            </a:r>
            <a:endParaRPr sz="115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5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Concurrencia:</a:t>
            </a:r>
            <a:r>
              <a:rPr lang="es-CL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Transacciones y bloqueos para evitar conflictos.</a:t>
            </a: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h30b8666f6d08938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75" y="5468077"/>
            <a:ext cx="11144399" cy="98442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h30b8666f6d08938_0_2"/>
          <p:cNvSpPr txBox="1"/>
          <p:nvPr/>
        </p:nvSpPr>
        <p:spPr>
          <a:xfrm>
            <a:off x="801350" y="5615200"/>
            <a:ext cx="279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Despliegue en Azure</a:t>
            </a:r>
            <a:endParaRPr sz="1200" b="1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h30b8666f6d08938_0_2"/>
          <p:cNvSpPr txBox="1"/>
          <p:nvPr/>
        </p:nvSpPr>
        <p:spPr>
          <a:xfrm>
            <a:off x="8230175" y="5920000"/>
            <a:ext cx="32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volver la conexión, las ventas se registran sin duplicarse.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h30b8666f6d08938_0_2"/>
          <p:cNvSpPr txBox="1"/>
          <p:nvPr/>
        </p:nvSpPr>
        <p:spPr>
          <a:xfrm>
            <a:off x="4424950" y="5615200"/>
            <a:ext cx="279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Continuidad Offline</a:t>
            </a:r>
            <a:endParaRPr sz="1200" b="1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h30b8666f6d08938_0_2"/>
          <p:cNvSpPr txBox="1"/>
          <p:nvPr/>
        </p:nvSpPr>
        <p:spPr>
          <a:xfrm>
            <a:off x="801350" y="5920000"/>
            <a:ext cx="32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Aplicaciones y base de datos alojadas en la nube.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h30b8666f6d08938_0_2"/>
          <p:cNvSpPr txBox="1"/>
          <p:nvPr/>
        </p:nvSpPr>
        <p:spPr>
          <a:xfrm>
            <a:off x="4424950" y="5920000"/>
            <a:ext cx="32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POS permite registrar determinadas ventas sin internet.</a:t>
            </a:r>
            <a:endParaRPr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h30b8666f6d08938_0_2"/>
          <p:cNvSpPr txBox="1"/>
          <p:nvPr/>
        </p:nvSpPr>
        <p:spPr>
          <a:xfrm>
            <a:off x="8230175" y="5615200"/>
            <a:ext cx="279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Sincronización posterior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h30b8666f6d08938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675" y="2443150"/>
            <a:ext cx="792100" cy="7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h30b8666f6d08938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5925" y="2486050"/>
            <a:ext cx="706300" cy="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h30b8666f6d08938_0_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34300" y="2528950"/>
            <a:ext cx="706300" cy="7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h12556c826f0a0262_2_387" title="Mirellita_DER_Claude.drawio.png"/>
          <p:cNvPicPr preferRelativeResize="0"/>
          <p:nvPr/>
        </p:nvPicPr>
        <p:blipFill rotWithShape="1">
          <a:blip r:embed="rId3">
            <a:alphaModFix/>
          </a:blip>
          <a:srcRect b="-1245"/>
          <a:stretch/>
        </p:blipFill>
        <p:spPr>
          <a:xfrm>
            <a:off x="182950" y="877100"/>
            <a:ext cx="11714299" cy="564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h12556c826f0a0262_2_387"/>
          <p:cNvSpPr txBox="1"/>
          <p:nvPr/>
        </p:nvSpPr>
        <p:spPr>
          <a:xfrm>
            <a:off x="523875" y="149218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Lógica - Diagrama DER</a:t>
            </a:r>
            <a:endParaRPr sz="2800" b="1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h12556c826f0a0262_2_387"/>
          <p:cNvSpPr/>
          <p:nvPr/>
        </p:nvSpPr>
        <p:spPr>
          <a:xfrm>
            <a:off x="523875" y="749293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h12556c826f0a0262_2_387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30b8666f6d08938_2_18"/>
          <p:cNvSpPr txBox="1"/>
          <p:nvPr/>
        </p:nvSpPr>
        <p:spPr>
          <a:xfrm>
            <a:off x="523875" y="37630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Lógica - Clases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h30b8666f6d08938_2_18"/>
          <p:cNvSpPr/>
          <p:nvPr/>
        </p:nvSpPr>
        <p:spPr>
          <a:xfrm>
            <a:off x="648766" y="852823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30b8666f6d08938_2_18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h30b8666f6d08938_2_18" title="Mirellita_Diagrama_Clas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5" y="1559963"/>
            <a:ext cx="11887201" cy="432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30b8666f6d08938_2_10"/>
          <p:cNvSpPr txBox="1"/>
          <p:nvPr/>
        </p:nvSpPr>
        <p:spPr>
          <a:xfrm>
            <a:off x="523875" y="37630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Lógica - Comunicación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h30b8666f6d08938_2_10"/>
          <p:cNvSpPr/>
          <p:nvPr/>
        </p:nvSpPr>
        <p:spPr>
          <a:xfrm>
            <a:off x="648766" y="852823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h30b8666f6d08938_2_1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h30b8666f6d08938_2_10" title="02-diagrama-comunicac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775" y="997925"/>
            <a:ext cx="9821476" cy="540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12556c826f0a0262_2_500"/>
          <p:cNvSpPr txBox="1"/>
          <p:nvPr/>
        </p:nvSpPr>
        <p:spPr>
          <a:xfrm>
            <a:off x="523875" y="37630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Lógica - Secuencia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h12556c826f0a0262_2_500"/>
          <p:cNvSpPr/>
          <p:nvPr/>
        </p:nvSpPr>
        <p:spPr>
          <a:xfrm>
            <a:off x="648766" y="852823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h12556c826f0a0262_2_50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h12556c826f0a0262_2_500" title="Mirellita_Secuencia_01_Pedido_Client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675" y="881325"/>
            <a:ext cx="4186598" cy="559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h61ffbbd66c0d0bd0_0_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h61ffbbd66c0d0bd0_0_16"/>
          <p:cNvSpPr txBox="1"/>
          <p:nvPr/>
        </p:nvSpPr>
        <p:spPr>
          <a:xfrm>
            <a:off x="523875" y="293590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Despliegue - Componentes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h61ffbbd66c0d0bd0_0_16"/>
          <p:cNvSpPr/>
          <p:nvPr/>
        </p:nvSpPr>
        <p:spPr>
          <a:xfrm>
            <a:off x="523875" y="893665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h61ffbbd66c0d0bd0_0_1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h61ffbbd66c0d0bd0_0_16" title="Shaolin_Sushi_Diagrama_Componentes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4625" y="979425"/>
            <a:ext cx="9070899" cy="548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30b8666f6d08938_0_125"/>
          <p:cNvSpPr txBox="1"/>
          <p:nvPr/>
        </p:nvSpPr>
        <p:spPr>
          <a:xfrm>
            <a:off x="523875" y="293590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Despliegue - Paquetes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h30b8666f6d08938_0_125"/>
          <p:cNvSpPr/>
          <p:nvPr/>
        </p:nvSpPr>
        <p:spPr>
          <a:xfrm>
            <a:off x="523875" y="893665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h30b8666f6d08938_0_125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h30b8666f6d08938_0_125" title="Shaolin_Sushi_Diagrama_Paquet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525" y="984450"/>
            <a:ext cx="7396273" cy="549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761e30b142a570f1_0_0"/>
          <p:cNvSpPr txBox="1"/>
          <p:nvPr/>
        </p:nvSpPr>
        <p:spPr>
          <a:xfrm>
            <a:off x="523875" y="273654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Procesos - Actividades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h761e30b142a570f1_0_0"/>
          <p:cNvSpPr/>
          <p:nvPr/>
        </p:nvSpPr>
        <p:spPr>
          <a:xfrm>
            <a:off x="523875" y="873729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h761e30b142a570f1_0_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h761e30b142a570f1_0_0" title="Shorin_Suchi_Actividad_01_Gestion_Pedid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725" y="998412"/>
            <a:ext cx="5358401" cy="532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61ffbbd66c0d0bd0_0_204"/>
          <p:cNvSpPr txBox="1"/>
          <p:nvPr/>
        </p:nvSpPr>
        <p:spPr>
          <a:xfrm>
            <a:off x="523875" y="223814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Física - Despliegue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h61ffbbd66c0d0bd0_0_204"/>
          <p:cNvSpPr/>
          <p:nvPr/>
        </p:nvSpPr>
        <p:spPr>
          <a:xfrm>
            <a:off x="523875" y="823889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h61ffbbd66c0d0bd0_0_20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h61ffbbd66c0d0bd0_0_204" title="Shaolin_Sushi_Diagrama_Despliegu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393" y="920838"/>
            <a:ext cx="8951301" cy="552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61ffbbd66c0d0bd0_0_139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Escenarios - Casos de Uso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h61ffbbd66c0d0bd0_0_139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61ffbbd66c0d0bd0_0_139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h61ffbbd66c0d0bd0_0_139" title="Captura de pantalla 2026-10-12 2321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25" y="1622806"/>
            <a:ext cx="10746707" cy="474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12556c826f0a0262_2_51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Escenarios - Casos de Uso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h12556c826f0a0262_2_51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h12556c826f0a0262_2_51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h12556c826f0a0262_2_512" title="Captura de pantalla 2026-10-11 0200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2806"/>
            <a:ext cx="11887198" cy="451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2556c826f0a0262_2_52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Vista De Escenarios - Casos de Uso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h12556c826f0a0262_2_52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h12556c826f0a0262_2_52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h12556c826f0a0262_2_522" title="Captura de pantalla 2026-10-11 0158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2800"/>
            <a:ext cx="5054850" cy="489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h12556c826f0a0262_2_522" title="Captura de pantalla 2026-10-11 0158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675" y="1639375"/>
            <a:ext cx="6916294" cy="487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1a26b3ade1f5064_0_50"/>
          <p:cNvSpPr txBox="1"/>
          <p:nvPr/>
        </p:nvSpPr>
        <p:spPr>
          <a:xfrm>
            <a:off x="523875" y="20598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Prototipo Funcional Página </a:t>
            </a: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Web </a:t>
            </a: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- V</a:t>
            </a: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ideo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h1a26b3ade1f5064_0_50"/>
          <p:cNvSpPr/>
          <p:nvPr/>
        </p:nvSpPr>
        <p:spPr>
          <a:xfrm>
            <a:off x="534575" y="7947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h1a26b3ade1f5064_0_5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h1a26b3ade1f5064_0_50" title="Grabación de pantalla 2026-10-17 19504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575" y="975600"/>
            <a:ext cx="11144400" cy="53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12556c826f0a0262_0_0"/>
          <p:cNvSpPr txBox="1"/>
          <p:nvPr/>
        </p:nvSpPr>
        <p:spPr>
          <a:xfrm>
            <a:off x="572075" y="410725"/>
            <a:ext cx="506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h12556c826f0a0262_0_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4" name="Google Shape;324;h12556c826f0a0262_0_0"/>
          <p:cNvGraphicFramePr/>
          <p:nvPr/>
        </p:nvGraphicFramePr>
        <p:xfrm>
          <a:off x="572075" y="94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{6056EAD6-58A3-4237-966B-4422FB4963BE}</a:tableStyleId>
              </a:tblPr>
              <a:tblGrid>
                <a:gridCol w="106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N°CU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NOMBRE CASO DE USO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MÓDULO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ACTORES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CU.01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Iniciar sesión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Autenticación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administrador-cajero-garzon-cliente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CU.02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Cerrar sesión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Autenticación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administrador-cajero-garzon-cliente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CU.03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Gestionar usuario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Personas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CU.04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Administrar productos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Catálogo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CU.05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Gestionar cajas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Cajas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CU.06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Gestionar mesas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Gestión de mesas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administrador-cajero-garzon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CU.07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Gestionar ventas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Punto de venta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CU.08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Registrar proceso de pago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Punto de venta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CU.09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Configurar parámetros del local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Configuración negocio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CU.10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Administrar sector de reparto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Configuración negocio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CU.11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Gestionar estados de un pedido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Gestión de pedidos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CU.12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Consultar el historial de pedidos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Gestión de pedidos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administrador-cajero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CU.13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Consultar panel de control (Dashboard)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Informes y gestión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CU.14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Consultar reportes del local (Informes)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Informes y gestión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/>
                        <a:t>administrador</a:t>
                      </a:r>
                      <a:endParaRPr sz="1200"/>
                    </a:p>
                  </a:txBody>
                  <a:tcPr marL="91425" marR="91425" marT="91425" marB="91425">
                    <a:lnL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325" name="Google Shape;325;h12556c826f0a0262_0_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900" y="0"/>
            <a:ext cx="1780600" cy="9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h12556c826f0a0262_0_0"/>
          <p:cNvSpPr txBox="1"/>
          <p:nvPr/>
        </p:nvSpPr>
        <p:spPr>
          <a:xfrm>
            <a:off x="5802250" y="144875"/>
            <a:ext cx="17115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Total Casos Uso</a:t>
            </a:r>
            <a:endParaRPr sz="1800" b="1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19</a:t>
            </a:r>
            <a:endParaRPr sz="1800" b="1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h12556c826f0a0262_0_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8475" y="0"/>
            <a:ext cx="1780600" cy="9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h12556c826f0a0262_0_0"/>
          <p:cNvSpPr txBox="1"/>
          <p:nvPr/>
        </p:nvSpPr>
        <p:spPr>
          <a:xfrm>
            <a:off x="7680225" y="144875"/>
            <a:ext cx="19371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Cantidad Módulos</a:t>
            </a:r>
            <a:endParaRPr sz="1800" b="1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10</a:t>
            </a:r>
            <a:endParaRPr sz="1800" b="1" i="0" u="none" strike="noStrike" cap="none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h12556c826f0a0262_0_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8050" y="0"/>
            <a:ext cx="1780600" cy="9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h12556c826f0a0262_0_0"/>
          <p:cNvSpPr txBox="1"/>
          <p:nvPr/>
        </p:nvSpPr>
        <p:spPr>
          <a:xfrm>
            <a:off x="9656550" y="144875"/>
            <a:ext cx="20436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Cantidad Actores</a:t>
            </a:r>
            <a:endParaRPr sz="1800" b="1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8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1" i="0" u="none" strike="noStrike" cap="none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30b8666f6d08938_0_89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Casos de Prueba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h30b8666f6d08938_0_89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" name="Google Shape;338;h30b8666f6d08938_0_89"/>
          <p:cNvGraphicFramePr/>
          <p:nvPr/>
        </p:nvGraphicFramePr>
        <p:xfrm>
          <a:off x="534575" y="16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{6056EAD6-58A3-4237-966B-4422FB4963BE}</a:tableStyleId>
              </a:tblPr>
              <a:tblGrid>
                <a:gridCol w="106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NOMBRE PRUEBA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TIPO DE PRUEBA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rgbClr val="FFFFFF"/>
                          </a:solidFill>
                        </a:rPr>
                        <a:t>MÓDULO A PROBAR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inicio de sesión del personal y página inicial según rol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rgbClr val="000000"/>
                          </a:solidFill>
                        </a:rPr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000000"/>
                          </a:solidFill>
                        </a:rPr>
                        <a:t>Autenticación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CP-002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rechazo de credenciales inválidas del personal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Autenticación 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CP-003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que el garzón no pueda ejecutar operaciones de caja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Seguridad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CP-004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que cajera y garzón no accedan a funciones del administrador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Seguridad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CP-005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cierre de sesión del personal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Autenticación 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creación de un usuario del personal con rol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Personal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CP-007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baja de una persona sin eliminar su registro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Personal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CP-008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alta de categoría y producto en el catálogo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CP-009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cambio de precio de un producto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CP-010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carga o reemplazo de la foto de un producto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L="91425" marR="91425" marT="91425" marB="91425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39" name="Google Shape;339;h30b8666f6d08938_0_8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900" y="168975"/>
            <a:ext cx="1780593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h30b8666f6d08938_0_89"/>
          <p:cNvSpPr txBox="1"/>
          <p:nvPr/>
        </p:nvSpPr>
        <p:spPr>
          <a:xfrm>
            <a:off x="5890649" y="478125"/>
            <a:ext cx="14571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sz="1272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CL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antidad Pruebas Funcionales</a:t>
            </a:r>
            <a:endParaRPr b="0" i="0" u="none" strike="noStrike" cap="none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76</a:t>
            </a:r>
            <a:endParaRPr b="1" i="0" u="none" strike="noStrike" cap="non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h30b8666f6d08938_0_8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8475" y="168975"/>
            <a:ext cx="1780593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h30b8666f6d08938_0_89"/>
          <p:cNvSpPr txBox="1"/>
          <p:nvPr/>
        </p:nvSpPr>
        <p:spPr>
          <a:xfrm>
            <a:off x="7758525" y="478125"/>
            <a:ext cx="17805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Cantidad Pruebas No Funcionales</a:t>
            </a:r>
            <a:endParaRPr b="0" i="0" u="none" strike="noStrike" cap="none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i="0" u="none" strike="noStrike" cap="non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h30b8666f6d08938_0_8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8050" y="168976"/>
            <a:ext cx="1780600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h30b8666f6d08938_0_89"/>
          <p:cNvSpPr txBox="1"/>
          <p:nvPr/>
        </p:nvSpPr>
        <p:spPr>
          <a:xfrm>
            <a:off x="10019557" y="507687"/>
            <a:ext cx="13176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00" tIns="32300" rIns="64600" bIns="32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Total Casos de Pruebas </a:t>
            </a:r>
            <a:endParaRPr b="1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lang="es-CL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1" i="0" u="none" strike="noStrike" cap="non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h1a26b3ade1f5064_0_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h1a26b3ade1f5064_0_3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 de Riesgos y Mitigación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h1a26b3ade1f5064_0_3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h1a26b3ade1f5064_0_3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" name="Google Shape;353;h1a26b3ade1f5064_0_32"/>
          <p:cNvGraphicFramePr/>
          <p:nvPr/>
        </p:nvGraphicFramePr>
        <p:xfrm>
          <a:off x="534575" y="161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{166B4313-7571-4057-95A6-CEAACECF2168}</a:tableStyleId>
              </a:tblPr>
              <a:tblGrid>
                <a:gridCol w="72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ID 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Descripción del Riesgo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Probabilidad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Impacto	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Nivel del Riesgo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Plan de Mitigación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</a:rPr>
                        <a:t>Estado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R.01</a:t>
                      </a:r>
                      <a:endParaRPr sz="13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Mensajes de error que revelan si el usuario existe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 b="1" u="none" strike="noStrike" cap="none">
                          <a:solidFill>
                            <a:schemeClr val="dk1"/>
                          </a:solidFill>
                        </a:rPr>
                        <a:t>Media (2)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 b="1" u="none" strike="noStrike" cap="none">
                          <a:solidFill>
                            <a:schemeClr val="dk1"/>
                          </a:solidFill>
                        </a:rPr>
                        <a:t>Medio (2)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Riesgo Medio (4)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Mostrar mensaje genérico: 'Credenciales inválidas'.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Mitigado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R.02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>
                          <a:solidFill>
                            <a:schemeClr val="dk1"/>
                          </a:solidFill>
                        </a:rPr>
                        <a:t>Subir claves o contraseñas a GitHub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 b="1" u="none" strike="noStrike" cap="none">
                          <a:solidFill>
                            <a:schemeClr val="dk1"/>
                          </a:solidFill>
                        </a:rPr>
                        <a:t>Alta(3)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Alto (3)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Riesgo Crítico (9)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Guardar claves en archivo .env y agregarlo a .gitignore.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Mitigado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R.03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>
                          <a:solidFill>
                            <a:schemeClr val="dk1"/>
                          </a:solidFill>
                        </a:rPr>
                        <a:t>Fechas o montos sin formato CLP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 b="1" u="none" strike="noStrike" cap="none">
                          <a:solidFill>
                            <a:schemeClr val="dk1"/>
                          </a:solidFill>
                        </a:rPr>
                        <a:t>Baja (1)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Medio (2)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Riesgo Bajo (2)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Fijar hora de Santiago y formatear importes en pesos chilenos.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Mitigado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R.04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Fallo en la comunicación entre el navegador web y la impresora térmica en cocina.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Alta (3)</a:t>
                      </a:r>
                      <a:endParaRPr sz="13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>
                          <a:solidFill>
                            <a:schemeClr val="dk1"/>
                          </a:solidFill>
                        </a:rPr>
                        <a:t>Medio (2)</a:t>
                      </a:r>
                      <a:endParaRPr sz="13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Riesgo Alto (6)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Driver puente local en Python/Node y emulador térmico de respaldo.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Pendiente</a:t>
                      </a: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11-11-2026</a:t>
                      </a: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R.05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Interrupción en el envío de pedidos durante horas de alta demanda por caída Wi-Fi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Alta (3)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b="1" u="none" strike="noStrike" cap="none"/>
                        <a:t>Medio (2)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 u="none" strike="noStrike" cap="none">
                          <a:solidFill>
                            <a:schemeClr val="dk1"/>
                          </a:solidFill>
                        </a:rPr>
                        <a:t>Riesgo Alto (6)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Modo offline temporal con cola de sincronización local.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Pendiente</a:t>
                      </a: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L" sz="1300" u="none" strike="noStrike" cap="none"/>
                        <a:t>20-11-2026</a:t>
                      </a:r>
                      <a:endParaRPr sz="13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h1a26b3ade1f5064_0_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-104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h1a26b3ade1f5064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</a:t>
            </a:r>
            <a:endParaRPr sz="28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h1a26b3ade1f5064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h1a26b3ade1f5064_0_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825" y="5348400"/>
            <a:ext cx="11362625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h1a26b3ade1f5064_0_4"/>
          <p:cNvSpPr txBox="1"/>
          <p:nvPr/>
        </p:nvSpPr>
        <p:spPr>
          <a:xfrm>
            <a:off x="466435" y="5624068"/>
            <a:ext cx="1112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16 semanas </a:t>
            </a:r>
            <a:r>
              <a:rPr lang="es-CL" sz="1400" b="0" i="0" u="none" strike="noStrike" cap="non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sz="1400" b="0" i="0" u="none" strike="noStrike" cap="non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h1a26b3ade1f5064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h1a26b3ade1f506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800" y="1832051"/>
            <a:ext cx="11801549" cy="317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s-CL" sz="25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sz="255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750" y="5646550"/>
            <a:ext cx="11058526" cy="102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00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"/>
          <p:cNvSpPr txBox="1"/>
          <p:nvPr/>
        </p:nvSpPr>
        <p:spPr>
          <a:xfrm>
            <a:off x="784775" y="5811467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just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8% de avance general completado. Mantenemos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desviación en las actividades en relación del plazo planificado. Las tareas de levantamiento, análisis, diseño, base de datos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backend y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fronted web 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están concluidas. Actualmente nos encontramos en la etapa de desarrollo de fronted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móvil</a:t>
            </a:r>
            <a:r>
              <a:rPr lang="es-CL" sz="1400" b="0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400" b="0" i="0" u="none" strike="noStrike" cap="non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4" name="Google Shape;374;p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4534" y="1235505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14586" y="42997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"/>
          <p:cNvSpPr txBox="1"/>
          <p:nvPr/>
        </p:nvSpPr>
        <p:spPr>
          <a:xfrm>
            <a:off x="10255487" y="1546171"/>
            <a:ext cx="112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 txBox="1"/>
          <p:nvPr/>
        </p:nvSpPr>
        <p:spPr>
          <a:xfrm>
            <a:off x="9957596" y="3086808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sz="18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 txBox="1"/>
          <p:nvPr/>
        </p:nvSpPr>
        <p:spPr>
          <a:xfrm>
            <a:off x="10118851" y="45715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3%</a:t>
            </a:r>
            <a:endParaRPr sz="18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875" y="1209675"/>
            <a:ext cx="9076151" cy="42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" name="Google Shape;386;h12556c826f0a0262_2_476"/>
          <p:cNvGraphicFramePr/>
          <p:nvPr>
            <p:extLst>
              <p:ext uri="{D42A27DB-BD31-4B8C-83A1-F6EECF244321}">
                <p14:modId xmlns:p14="http://schemas.microsoft.com/office/powerpoint/2010/main" val="2831222643"/>
              </p:ext>
            </p:extLst>
          </p:nvPr>
        </p:nvGraphicFramePr>
        <p:xfrm>
          <a:off x="523872" y="951050"/>
          <a:ext cx="11144225" cy="2671800"/>
        </p:xfrm>
        <a:graphic>
          <a:graphicData uri="http://schemas.openxmlformats.org/drawingml/2006/table">
            <a:tbl>
              <a:tblPr firstRow="1" bandRow="1">
                <a:noFill/>
                <a:tableStyleId>{7979669B-35E5-4E75-9A7A-9506D7F4DA2C}</a:tableStyleId>
              </a:tblPr>
              <a:tblGrid>
                <a:gridCol w="27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lang="es-CL" sz="12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sz="1200" b="1" i="0" u="non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 i="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sz="1200" b="1" i="0" u="non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sz="1200" b="1" i="0" u="none">
                        <a:solidFill>
                          <a:srgbClr val="D9770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</a:t>
                      </a:r>
                      <a:r>
                        <a:rPr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Móvil</a:t>
                      </a: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Carta &amp; Pedidos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 dirty="0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7" name="Google Shape;387;h12556c826f0a0262_2_476"/>
          <p:cNvSpPr txBox="1"/>
          <p:nvPr/>
        </p:nvSpPr>
        <p:spPr>
          <a:xfrm>
            <a:off x="523876" y="11089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/>
          </a:p>
        </p:txBody>
      </p:sp>
      <p:sp>
        <p:nvSpPr>
          <p:cNvPr id="388" name="Google Shape;388;h12556c826f0a0262_2_476"/>
          <p:cNvSpPr/>
          <p:nvPr/>
        </p:nvSpPr>
        <p:spPr>
          <a:xfrm>
            <a:off x="523876" y="710971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9" name="Google Shape;389;h12556c826f0a0262_2_476"/>
          <p:cNvGraphicFramePr/>
          <p:nvPr/>
        </p:nvGraphicFramePr>
        <p:xfrm>
          <a:off x="523872" y="3633525"/>
          <a:ext cx="11144225" cy="890600"/>
        </p:xfrm>
        <a:graphic>
          <a:graphicData uri="http://schemas.openxmlformats.org/drawingml/2006/table">
            <a:tbl>
              <a:tblPr firstRow="1" bandRow="1">
                <a:noFill/>
                <a:tableStyleId>{7979669B-35E5-4E75-9A7A-9506D7F4DA2C}</a:tableStyleId>
              </a:tblPr>
              <a:tblGrid>
                <a:gridCol w="27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</a:t>
                      </a:r>
                      <a:r>
                        <a:rPr lang="es-CL" sz="1200" b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Google Maps e Impresora Térmica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dirty="0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sz="1200" b="1" i="0" u="none" dirty="0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</a:t>
                      </a:r>
                      <a:r>
                        <a:rPr lang="es-CL" sz="1200" b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Huaman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</a:t>
                      </a: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 impresión de comanda y </a:t>
                      </a:r>
                      <a:r>
                        <a:rPr lang="es-CL" sz="1200" b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mapa interactivo para sectores de reparto por delivery.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&amp; Marcha Blanca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Ejecución pruebas, </a:t>
                      </a:r>
                      <a:r>
                        <a:rPr lang="es-CL" sz="1200" b="0" i="0" u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90" name="Google Shape;390;h12556c826f0a0262_2_47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0794" y="4692453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h12556c826f0a0262_2_4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0412" y="4667848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h12556c826f0a0262_2_47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50422" y="4667847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h12556c826f0a0262_2_476"/>
          <p:cNvSpPr txBox="1"/>
          <p:nvPr/>
        </p:nvSpPr>
        <p:spPr>
          <a:xfrm>
            <a:off x="3773973" y="5004531"/>
            <a:ext cx="1925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h12556c826f0a0262_2_476"/>
          <p:cNvSpPr txBox="1"/>
          <p:nvPr/>
        </p:nvSpPr>
        <p:spPr>
          <a:xfrm>
            <a:off x="6767484" y="5035219"/>
            <a:ext cx="1665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h12556c826f0a0262_2_476"/>
          <p:cNvSpPr txBox="1"/>
          <p:nvPr/>
        </p:nvSpPr>
        <p:spPr>
          <a:xfrm>
            <a:off x="9543547" y="5004531"/>
            <a:ext cx="1733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h12556c826f0a0262_2_47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1264" y="4704757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h12556c826f0a0262_2_476"/>
          <p:cNvSpPr txBox="1"/>
          <p:nvPr/>
        </p:nvSpPr>
        <p:spPr>
          <a:xfrm>
            <a:off x="763870" y="5035219"/>
            <a:ext cx="1864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h12556c826f0a0262_2_47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399" name="Google Shape;399;h12556c826f0a0262_2_4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05" y="15392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h12556c826f0a0262_2_4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05" y="20163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h12556c826f0a0262_2_47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62305" y="378318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h12556c826f0a0262_2_47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71830" y="423782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h12556c826f0a0262_2_4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05" y="241720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h12556c826f0a0262_2_47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52780" y="333019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h12556c826f0a0262_2_4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05" y="2873707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h61ffbbd66c0d0bd0_0_248"/>
          <p:cNvSpPr/>
          <p:nvPr/>
        </p:nvSpPr>
        <p:spPr>
          <a:xfrm>
            <a:off x="412653" y="557064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sz="26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h61ffbbd66c0d0bd0_0_248"/>
          <p:cNvSpPr/>
          <p:nvPr/>
        </p:nvSpPr>
        <p:spPr>
          <a:xfrm>
            <a:off x="412653" y="1197167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h61ffbbd66c0d0bd0_0_248"/>
          <p:cNvSpPr/>
          <p:nvPr/>
        </p:nvSpPr>
        <p:spPr>
          <a:xfrm>
            <a:off x="609600" y="1447800"/>
            <a:ext cx="5372100" cy="4324200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61ffbbd66c0d0bd0_0_248"/>
          <p:cNvSpPr/>
          <p:nvPr/>
        </p:nvSpPr>
        <p:spPr>
          <a:xfrm>
            <a:off x="6210300" y="1447800"/>
            <a:ext cx="5372100" cy="4324200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h61ffbbd66c0d0bd0_0_248"/>
          <p:cNvSpPr/>
          <p:nvPr/>
        </p:nvSpPr>
        <p:spPr>
          <a:xfrm>
            <a:off x="6448425" y="5233988"/>
            <a:ext cx="4896000" cy="409500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h61ffbbd66c0d0bd0_0_248"/>
          <p:cNvSpPr/>
          <p:nvPr/>
        </p:nvSpPr>
        <p:spPr>
          <a:xfrm>
            <a:off x="6448425" y="2181225"/>
            <a:ext cx="4896000" cy="866700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h61ffbbd66c0d0bd0_0_248"/>
          <p:cNvSpPr/>
          <p:nvPr/>
        </p:nvSpPr>
        <p:spPr>
          <a:xfrm>
            <a:off x="6448425" y="3162300"/>
            <a:ext cx="4896000" cy="866700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h61ffbbd66c0d0bd0_0_248"/>
          <p:cNvSpPr/>
          <p:nvPr/>
        </p:nvSpPr>
        <p:spPr>
          <a:xfrm>
            <a:off x="6448425" y="4143375"/>
            <a:ext cx="4896000" cy="866700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h61ffbbd66c0d0bd0_0_248"/>
          <p:cNvSpPr/>
          <p:nvPr/>
        </p:nvSpPr>
        <p:spPr>
          <a:xfrm>
            <a:off x="6448425" y="2181225"/>
            <a:ext cx="38100" cy="866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h61ffbbd66c0d0bd0_0_248"/>
          <p:cNvSpPr/>
          <p:nvPr/>
        </p:nvSpPr>
        <p:spPr>
          <a:xfrm>
            <a:off x="6448425" y="3162300"/>
            <a:ext cx="38100" cy="866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h61ffbbd66c0d0bd0_0_248"/>
          <p:cNvSpPr/>
          <p:nvPr/>
        </p:nvSpPr>
        <p:spPr>
          <a:xfrm>
            <a:off x="6448425" y="4143375"/>
            <a:ext cx="38100" cy="866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h61ffbbd66c0d0bd0_0_2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h61ffbbd66c0d0bd0_0_2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h61ffbbd66c0d0bd0_0_2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h61ffbbd66c0d0bd0_0_2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h61ffbbd66c0d0bd0_0_2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h61ffbbd66c0d0bd0_0_2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h61ffbbd66c0d0bd0_0_248"/>
          <p:cNvSpPr txBox="1"/>
          <p:nvPr/>
        </p:nvSpPr>
        <p:spPr>
          <a:xfrm>
            <a:off x="838200" y="6115050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h61ffbbd66c0d0bd0_0_248"/>
          <p:cNvSpPr txBox="1"/>
          <p:nvPr/>
        </p:nvSpPr>
        <p:spPr>
          <a:xfrm>
            <a:off x="6715125" y="5369379"/>
            <a:ext cx="4246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L" sz="1100" b="1" i="0" u="none" strike="noStrike" cap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VIERNES 30-10-2026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h61ffbbd66c0d0bd0_0_248"/>
          <p:cNvSpPr txBox="1"/>
          <p:nvPr/>
        </p:nvSpPr>
        <p:spPr>
          <a:xfrm>
            <a:off x="1285875" y="1738312"/>
            <a:ext cx="2058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h61ffbbd66c0d0bd0_0_248"/>
          <p:cNvSpPr txBox="1"/>
          <p:nvPr/>
        </p:nvSpPr>
        <p:spPr>
          <a:xfrm>
            <a:off x="6811125" y="1738300"/>
            <a:ext cx="474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1</a:t>
            </a:r>
            <a:r>
              <a:rPr lang="es-CL"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s-CL" sz="1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h61ffbbd66c0d0bd0_0_248"/>
          <p:cNvSpPr txBox="1"/>
          <p:nvPr/>
        </p:nvSpPr>
        <p:spPr>
          <a:xfrm>
            <a:off x="1095375" y="3171825"/>
            <a:ext cx="4743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endParaRPr sz="1200" b="1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Kick Off.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Carta Gantt.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Especificación de Requisitos y casos de uso.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Diseño Arquitectura, diagramas 4+1 y mockup.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Script BD PostgreSQL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y carga de catálogo de productos.</a:t>
            </a:r>
            <a:endParaRPr sz="12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r>
              <a:rPr lang="es-CL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métodos HTTP, respuestas JSON y autenticación.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Endpoints, URLs de consumo de recursos.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oppins"/>
              <a:buChar char="●"/>
            </a:pP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Frontend web, módulos administrador, cajera y garzón.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h61ffbbd66c0d0bd0_0_248"/>
          <p:cNvSpPr txBox="1"/>
          <p:nvPr/>
        </p:nvSpPr>
        <p:spPr>
          <a:xfrm>
            <a:off x="6638925" y="2533650"/>
            <a:ext cx="4610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Integración con página web para sector de reparto</a:t>
            </a:r>
            <a:r>
              <a:rPr lang="es-CL" sz="1200" b="0" i="0" u="none" strike="noStrike" cap="none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 b="0" i="0" u="none" strike="noStrike" cap="none" dirty="0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h61ffbbd66c0d0bd0_0_248"/>
          <p:cNvSpPr txBox="1"/>
          <p:nvPr/>
        </p:nvSpPr>
        <p:spPr>
          <a:xfrm>
            <a:off x="6638925" y="2743200"/>
            <a:ext cx="23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</a:t>
            </a: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Jerson Huaman</a:t>
            </a:r>
            <a:endParaRPr sz="1200" b="1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h61ffbbd66c0d0bd0_0_248"/>
          <p:cNvSpPr txBox="1"/>
          <p:nvPr/>
        </p:nvSpPr>
        <p:spPr>
          <a:xfrm>
            <a:off x="6638925" y="3514725"/>
            <a:ext cx="27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s-CL" sz="12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Menú</a:t>
            </a: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61ffbbd66c0d0bd0_0_248"/>
          <p:cNvSpPr txBox="1"/>
          <p:nvPr/>
        </p:nvSpPr>
        <p:spPr>
          <a:xfrm>
            <a:off x="6638925" y="3724275"/>
            <a:ext cx="140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sz="1200" b="1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h61ffbbd66c0d0bd0_0_248"/>
          <p:cNvSpPr txBox="1"/>
          <p:nvPr/>
        </p:nvSpPr>
        <p:spPr>
          <a:xfrm>
            <a:off x="6638925" y="4495800"/>
            <a:ext cx="38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Seguimiento actividades y status proyecto.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h61ffbbd66c0d0bd0_0_248"/>
          <p:cNvSpPr txBox="1"/>
          <p:nvPr/>
        </p:nvSpPr>
        <p:spPr>
          <a:xfrm>
            <a:off x="6638925" y="4705350"/>
            <a:ext cx="165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h61ffbbd66c0d0bd0_0_248"/>
          <p:cNvSpPr txBox="1"/>
          <p:nvPr/>
        </p:nvSpPr>
        <p:spPr>
          <a:xfrm>
            <a:off x="6638925" y="2251372"/>
            <a:ext cx="373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Inicio Integración google maps</a:t>
            </a:r>
            <a:endParaRPr sz="1200" b="1" i="0" u="none" strike="noStrike" cap="none" dirty="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h61ffbbd66c0d0bd0_0_248"/>
          <p:cNvSpPr txBox="1"/>
          <p:nvPr/>
        </p:nvSpPr>
        <p:spPr>
          <a:xfrm>
            <a:off x="6638925" y="3295650"/>
            <a:ext cx="3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</a:t>
            </a: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desarrollo App Móvil</a:t>
            </a:r>
            <a:endParaRPr sz="1200" b="1" i="0" u="none" strike="noStrike" cap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h61ffbbd66c0d0bd0_0_248"/>
          <p:cNvSpPr txBox="1"/>
          <p:nvPr/>
        </p:nvSpPr>
        <p:spPr>
          <a:xfrm>
            <a:off x="6638925" y="4276725"/>
            <a:ext cx="20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Semanal</a:t>
            </a:r>
            <a:endParaRPr sz="1200" b="1" i="0" u="none" strike="noStrike" cap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h61ffbbd66c0d0bd0_0_248"/>
          <p:cNvSpPr/>
          <p:nvPr/>
        </p:nvSpPr>
        <p:spPr>
          <a:xfrm>
            <a:off x="942975" y="2071562"/>
            <a:ext cx="4896000" cy="833700"/>
          </a:xfrm>
          <a:prstGeom prst="roundRect">
            <a:avLst>
              <a:gd name="adj" fmla="val 18604"/>
            </a:avLst>
          </a:prstGeom>
          <a:solidFill>
            <a:srgbClr val="002060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h61ffbbd66c0d0bd0_0_248"/>
          <p:cNvSpPr txBox="1"/>
          <p:nvPr/>
        </p:nvSpPr>
        <p:spPr>
          <a:xfrm>
            <a:off x="1038225" y="2478823"/>
            <a:ext cx="1588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es-CL" sz="1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8% Completado</a:t>
            </a:r>
            <a:endParaRPr sz="1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h61ffbbd66c0d0bd0_0_248"/>
          <p:cNvSpPr txBox="1"/>
          <p:nvPr/>
        </p:nvSpPr>
        <p:spPr>
          <a:xfrm>
            <a:off x="1038225" y="2288323"/>
            <a:ext cx="209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61ffbbd66c0d0bd0_0_248"/>
          <p:cNvSpPr/>
          <p:nvPr/>
        </p:nvSpPr>
        <p:spPr>
          <a:xfrm>
            <a:off x="3695677" y="2362359"/>
            <a:ext cx="1953900" cy="231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h61ffbbd66c0d0bd0_0_248"/>
          <p:cNvSpPr txBox="1"/>
          <p:nvPr/>
        </p:nvSpPr>
        <p:spPr>
          <a:xfrm>
            <a:off x="3772772" y="2393252"/>
            <a:ext cx="1799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L" sz="11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Semana </a:t>
            </a:r>
            <a:r>
              <a:rPr lang="es-CL" sz="11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es-CL" sz="11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16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"/>
          <p:cNvSpPr txBox="1"/>
          <p:nvPr/>
        </p:nvSpPr>
        <p:spPr>
          <a:xfrm>
            <a:off x="772380" y="2302317"/>
            <a:ext cx="1049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L" sz="3400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gracias por su atención!</a:t>
            </a:r>
            <a:endParaRPr sz="3400" b="1" i="0" u="none" strike="noStrike" cap="non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L" sz="1100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L" sz="1100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L" sz="1100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Octubre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8"/>
          <p:cNvSpPr/>
          <p:nvPr/>
        </p:nvSpPr>
        <p:spPr>
          <a:xfrm>
            <a:off x="3812826" y="445425"/>
            <a:ext cx="5236500" cy="304800"/>
          </a:xfrm>
          <a:prstGeom prst="roundRect">
            <a:avLst>
              <a:gd name="adj" fmla="val 50000"/>
            </a:avLst>
          </a:prstGeom>
          <a:solidFill>
            <a:srgbClr val="142B43"/>
          </a:solidFill>
          <a:ln w="9525" cap="flat" cmpd="sng">
            <a:solidFill>
              <a:srgbClr val="1B49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8"/>
          <p:cNvSpPr txBox="1"/>
          <p:nvPr/>
        </p:nvSpPr>
        <p:spPr>
          <a:xfrm>
            <a:off x="4205725" y="501450"/>
            <a:ext cx="474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lang="es-CL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8"/>
          <p:cNvSpPr txBox="1"/>
          <p:nvPr/>
        </p:nvSpPr>
        <p:spPr>
          <a:xfrm>
            <a:off x="1627450" y="3197975"/>
            <a:ext cx="90753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 — Transformación digital inteligente e integral para el Restaurante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Shaolin Sushi.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1624</Words>
  <Application>Microsoft Office PowerPoint</Application>
  <PresentationFormat>Panorámica</PresentationFormat>
  <Paragraphs>374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Plus Jakarta Sans</vt:lpstr>
      <vt:lpstr>Inter</vt:lpstr>
      <vt:lpstr>Poppins SemiBold</vt:lpstr>
      <vt:lpstr>Lato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Karina Escobar Navarro</cp:lastModifiedBy>
  <cp:revision>1</cp:revision>
  <dcterms:created xsi:type="dcterms:W3CDTF">2013-01-27T09:14:16Z</dcterms:created>
  <dcterms:modified xsi:type="dcterms:W3CDTF">2026-10-18T00:22:00Z</dcterms:modified>
</cp:coreProperties>
</file>