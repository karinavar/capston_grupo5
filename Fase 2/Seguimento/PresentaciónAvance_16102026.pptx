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eIMmS221sGj5cqyxgn6s/WdOv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482B87-ABB3-4CA3-A4A0-2AEC0C65AFC4}">
  <a:tblStyle styleId="{72482B87-ABB3-4CA3-A4A0-2AEC0C65AFC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a26b3ade1f506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h1a26b3ade1f506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2556c826f0a0262_2_4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h12556c826f0a0262_2_4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h12556c826f0a0262_2_4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1ffbbd66c0d0bd0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h61ffbbd66c0d0bd0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-10-2026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0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34572" y="227956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3453635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063922" y="227126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344203" y="2498625"/>
            <a:ext cx="44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344200" y="2755800"/>
            <a:ext cx="45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a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vance del cronograma general de 16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344202" y="3672700"/>
            <a:ext cx="36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Porcentaje Cumplimiento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344201" y="3929875"/>
            <a:ext cx="449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porcentaje cumplimiento v/s planificación.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873548" y="2490325"/>
            <a:ext cx="28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873549" y="2747500"/>
            <a:ext cx="45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86984" y="252376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98891" y="366082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320228" y="249033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44034" y="2619074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s-CL" sz="13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55941" y="374936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s-CL" sz="13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173372" y="256788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s-CL" sz="13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063922" y="3453635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873550" y="3672700"/>
            <a:ext cx="294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873550" y="3929875"/>
            <a:ext cx="445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del avance actual y 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compromisos para la próxima semana.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149349" y="368223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316324" y="3689878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 flipH="1">
            <a:off x="6149350" y="3783024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s-CL" sz="13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h1a26b3ade1f5064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h1a26b3ade1f5064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h1a26b3ade1f5064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h1a26b3ade1f5064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825" y="5348400"/>
            <a:ext cx="11362625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h1a26b3ade1f5064_0_4"/>
          <p:cNvSpPr txBox="1"/>
          <p:nvPr/>
        </p:nvSpPr>
        <p:spPr>
          <a:xfrm>
            <a:off x="466435" y="5624068"/>
            <a:ext cx="1112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16 semanas </a:t>
            </a:r>
            <a:r>
              <a:rPr b="0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b="0" i="0" sz="14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h1a26b3ade1f5064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h1a26b3ade1f5064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150" y="1802975"/>
            <a:ext cx="11762201" cy="32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50" y="5646550"/>
            <a:ext cx="11058526" cy="102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0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784775" y="5811467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10 con un 68% de avance general completado. Mantenemos un 5% de desviación en las actividades en relación del plazo planificado. Las tareas de levantamiento, análisis, diseño, base de datos, backend y fronted web están concluidas. Actualmente nos encontramos en la etapa de desarrollo de fronted móvil. </a:t>
            </a:r>
            <a:endParaRPr b="0" i="0" sz="1400" u="none" cap="none" strike="noStrik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2" name="Google Shape;1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4534" y="1235505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4586" y="42997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10255487" y="1546171"/>
            <a:ext cx="112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10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957596" y="3086808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68%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10118851" y="45715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5%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" y="1209675"/>
            <a:ext cx="9167950" cy="42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h12556c826f0a0262_2_476"/>
          <p:cNvGraphicFramePr/>
          <p:nvPr/>
        </p:nvGraphicFramePr>
        <p:xfrm>
          <a:off x="523872" y="951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{72482B87-ABB3-4CA3-A4A0-2AEC0C65AFC4}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s-CL" sz="16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b="0" i="0" lang="es-CL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b="1" i="0" sz="1200" u="none" cap="none" strike="noStrike">
                        <a:solidFill>
                          <a:srgbClr val="D9770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sz="1400" u="none" cap="none" strike="noStrike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</a:t>
                      </a:r>
                      <a:r>
                        <a:rPr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Móvil</a:t>
                      </a: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Carta &amp; Pedidos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 sz="1400" u="none" cap="none" strike="noStrike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h12556c826f0a0262_2_476"/>
          <p:cNvSpPr txBox="1"/>
          <p:nvPr/>
        </p:nvSpPr>
        <p:spPr>
          <a:xfrm>
            <a:off x="523876" y="11089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12556c826f0a0262_2_476"/>
          <p:cNvSpPr/>
          <p:nvPr/>
        </p:nvSpPr>
        <p:spPr>
          <a:xfrm>
            <a:off x="523876" y="710971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h12556c826f0a0262_2_476"/>
          <p:cNvGraphicFramePr/>
          <p:nvPr/>
        </p:nvGraphicFramePr>
        <p:xfrm>
          <a:off x="523872" y="36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{72482B87-ABB3-4CA3-A4A0-2AEC0C65AFC4}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</a:t>
                      </a:r>
                      <a:r>
                        <a:rPr b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Google Maps e Impresora Térmica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</a:t>
                      </a:r>
                      <a:r>
                        <a:rPr b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Huaman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</a:t>
                      </a: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 impresión de comanda y </a:t>
                      </a:r>
                      <a:r>
                        <a:rPr b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mapa interactivo para sectores de reparto por delivery.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&amp; Marcha Blanca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Ejecución pruebas, </a:t>
                      </a: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68" name="Google Shape;168;h12556c826f0a0262_2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0794" y="4692453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h12556c826f0a0262_2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0412" y="4667848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h12556c826f0a0262_2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50422" y="4667847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12556c826f0a0262_2_476"/>
          <p:cNvSpPr txBox="1"/>
          <p:nvPr/>
        </p:nvSpPr>
        <p:spPr>
          <a:xfrm>
            <a:off x="3773973" y="5004531"/>
            <a:ext cx="1925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12556c826f0a0262_2_476"/>
          <p:cNvSpPr txBox="1"/>
          <p:nvPr/>
        </p:nvSpPr>
        <p:spPr>
          <a:xfrm>
            <a:off x="6767484" y="5035219"/>
            <a:ext cx="166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h12556c826f0a0262_2_476"/>
          <p:cNvSpPr txBox="1"/>
          <p:nvPr/>
        </p:nvSpPr>
        <p:spPr>
          <a:xfrm>
            <a:off x="9543547" y="5004531"/>
            <a:ext cx="173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h12556c826f0a0262_2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264" y="4704757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h12556c826f0a0262_2_476"/>
          <p:cNvSpPr txBox="1"/>
          <p:nvPr/>
        </p:nvSpPr>
        <p:spPr>
          <a:xfrm>
            <a:off x="763870" y="5035219"/>
            <a:ext cx="186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12556c826f0a0262_2_47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h12556c826f0a0262_2_4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15392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h12556c826f0a0262_2_4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0163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h12556c826f0a0262_2_4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62305" y="378318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h12556c826f0a0262_2_4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1830" y="423782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h12556c826f0a0262_2_4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41720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h12556c826f0a0262_2_4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52780" y="333019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h12556c826f0a0262_2_4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873707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61ffbbd66c0d0bd0_0_248"/>
          <p:cNvSpPr/>
          <p:nvPr/>
        </p:nvSpPr>
        <p:spPr>
          <a:xfrm>
            <a:off x="412653" y="557064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h61ffbbd66c0d0bd0_0_248"/>
          <p:cNvSpPr/>
          <p:nvPr/>
        </p:nvSpPr>
        <p:spPr>
          <a:xfrm>
            <a:off x="412653" y="1197167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61ffbbd66c0d0bd0_0_248"/>
          <p:cNvSpPr/>
          <p:nvPr/>
        </p:nvSpPr>
        <p:spPr>
          <a:xfrm>
            <a:off x="609600" y="1447800"/>
            <a:ext cx="5372100" cy="432420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61ffbbd66c0d0bd0_0_248"/>
          <p:cNvSpPr/>
          <p:nvPr/>
        </p:nvSpPr>
        <p:spPr>
          <a:xfrm>
            <a:off x="6210300" y="1447800"/>
            <a:ext cx="5372100" cy="432420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61ffbbd66c0d0bd0_0_248"/>
          <p:cNvSpPr/>
          <p:nvPr/>
        </p:nvSpPr>
        <p:spPr>
          <a:xfrm>
            <a:off x="6448425" y="5233988"/>
            <a:ext cx="4896000" cy="409500"/>
          </a:xfrm>
          <a:prstGeom prst="roundRect">
            <a:avLst>
              <a:gd fmla="val 1860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61ffbbd66c0d0bd0_0_248"/>
          <p:cNvSpPr/>
          <p:nvPr/>
        </p:nvSpPr>
        <p:spPr>
          <a:xfrm>
            <a:off x="6448425" y="2181225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h61ffbbd66c0d0bd0_0_248"/>
          <p:cNvSpPr/>
          <p:nvPr/>
        </p:nvSpPr>
        <p:spPr>
          <a:xfrm>
            <a:off x="6448425" y="3162300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61ffbbd66c0d0bd0_0_248"/>
          <p:cNvSpPr/>
          <p:nvPr/>
        </p:nvSpPr>
        <p:spPr>
          <a:xfrm>
            <a:off x="6448425" y="4143375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h61ffbbd66c0d0bd0_0_248"/>
          <p:cNvSpPr/>
          <p:nvPr/>
        </p:nvSpPr>
        <p:spPr>
          <a:xfrm>
            <a:off x="6448425" y="2181225"/>
            <a:ext cx="38100" cy="866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h61ffbbd66c0d0bd0_0_248"/>
          <p:cNvSpPr/>
          <p:nvPr/>
        </p:nvSpPr>
        <p:spPr>
          <a:xfrm>
            <a:off x="6448425" y="3162300"/>
            <a:ext cx="38100" cy="866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h61ffbbd66c0d0bd0_0_248"/>
          <p:cNvSpPr/>
          <p:nvPr/>
        </p:nvSpPr>
        <p:spPr>
          <a:xfrm>
            <a:off x="6448425" y="4143375"/>
            <a:ext cx="38100" cy="866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h61ffbbd66c0d0bd0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h61ffbbd66c0d0bd0_0_2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h61ffbbd66c0d0bd0_0_2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h61ffbbd66c0d0bd0_0_2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h61ffbbd66c0d0bd0_0_2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h61ffbbd66c0d0bd0_0_2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h61ffbbd66c0d0bd0_0_248"/>
          <p:cNvSpPr txBox="1"/>
          <p:nvPr/>
        </p:nvSpPr>
        <p:spPr>
          <a:xfrm>
            <a:off x="838200" y="6115050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61ffbbd66c0d0bd0_0_248"/>
          <p:cNvSpPr txBox="1"/>
          <p:nvPr/>
        </p:nvSpPr>
        <p:spPr>
          <a:xfrm>
            <a:off x="6715125" y="5369379"/>
            <a:ext cx="42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VIERNES 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-10-2026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61ffbbd66c0d0bd0_0_248"/>
          <p:cNvSpPr txBox="1"/>
          <p:nvPr/>
        </p:nvSpPr>
        <p:spPr>
          <a:xfrm>
            <a:off x="1285875" y="1738312"/>
            <a:ext cx="205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61ffbbd66c0d0bd0_0_248"/>
          <p:cNvSpPr txBox="1"/>
          <p:nvPr/>
        </p:nvSpPr>
        <p:spPr>
          <a:xfrm>
            <a:off x="6811125" y="1738300"/>
            <a:ext cx="474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11)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61ffbbd66c0d0bd0_0_248"/>
          <p:cNvSpPr txBox="1"/>
          <p:nvPr/>
        </p:nvSpPr>
        <p:spPr>
          <a:xfrm>
            <a:off x="1095375" y="3171825"/>
            <a:ext cx="4743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Kick Off.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Carta Gantt.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Especificación de Requisitos y casos de uso.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Diseño Arquitectura, diagramas 4+1 y mockup.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Script BD PostgreSQL y carga de catálogo de productos.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API REST	, métodos HTTP, respuestas JSON y autenticación.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Endpoints, URLs de consumo de recursos.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Fronted web, módulos administrador, cajera y garzón.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h61ffbbd66c0d0bd0_0_248"/>
          <p:cNvSpPr txBox="1"/>
          <p:nvPr/>
        </p:nvSpPr>
        <p:spPr>
          <a:xfrm>
            <a:off x="6638925" y="2533650"/>
            <a:ext cx="46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del administrador, cajero y garzón.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h61ffbbd66c0d0bd0_0_248"/>
          <p:cNvSpPr txBox="1"/>
          <p:nvPr/>
        </p:nvSpPr>
        <p:spPr>
          <a:xfrm>
            <a:off x="6638925" y="2743200"/>
            <a:ext cx="23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Todo el equipo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h61ffbbd66c0d0bd0_0_248"/>
          <p:cNvSpPr txBox="1"/>
          <p:nvPr/>
        </p:nvSpPr>
        <p:spPr>
          <a:xfrm>
            <a:off x="6638925" y="3514725"/>
            <a:ext cx="27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Inicio, Menú, Carrito y Perfil.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61ffbbd66c0d0bd0_0_248"/>
          <p:cNvSpPr txBox="1"/>
          <p:nvPr/>
        </p:nvSpPr>
        <p:spPr>
          <a:xfrm>
            <a:off x="6638925" y="3724275"/>
            <a:ext cx="140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h61ffbbd66c0d0bd0_0_248"/>
          <p:cNvSpPr txBox="1"/>
          <p:nvPr/>
        </p:nvSpPr>
        <p:spPr>
          <a:xfrm>
            <a:off x="6638925" y="4495800"/>
            <a:ext cx="386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Seguimiento actividades y status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61ffbbd66c0d0bd0_0_248"/>
          <p:cNvSpPr txBox="1"/>
          <p:nvPr/>
        </p:nvSpPr>
        <p:spPr>
          <a:xfrm>
            <a:off x="6638925" y="4705350"/>
            <a:ext cx="165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61ffbbd66c0d0bd0_0_248"/>
          <p:cNvSpPr txBox="1"/>
          <p:nvPr/>
        </p:nvSpPr>
        <p:spPr>
          <a:xfrm>
            <a:off x="6638925" y="2251372"/>
            <a:ext cx="37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Presentación Módulo Web Admin, Caja &amp; Salón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h61ffbbd66c0d0bd0_0_248"/>
          <p:cNvSpPr txBox="1"/>
          <p:nvPr/>
        </p:nvSpPr>
        <p:spPr>
          <a:xfrm>
            <a:off x="6638925" y="3295650"/>
            <a:ext cx="334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desarrollo App Móvil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h61ffbbd66c0d0bd0_0_248"/>
          <p:cNvSpPr txBox="1"/>
          <p:nvPr/>
        </p:nvSpPr>
        <p:spPr>
          <a:xfrm>
            <a:off x="6638925" y="4276725"/>
            <a:ext cx="204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Semanal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h61ffbbd66c0d0bd0_0_248"/>
          <p:cNvSpPr/>
          <p:nvPr/>
        </p:nvSpPr>
        <p:spPr>
          <a:xfrm>
            <a:off x="942975" y="2071562"/>
            <a:ext cx="4896000" cy="833700"/>
          </a:xfrm>
          <a:prstGeom prst="roundRect">
            <a:avLst>
              <a:gd fmla="val 18604" name="adj"/>
            </a:avLst>
          </a:prstGeom>
          <a:solidFill>
            <a:srgbClr val="002060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h61ffbbd66c0d0bd0_0_248"/>
          <p:cNvSpPr txBox="1"/>
          <p:nvPr/>
        </p:nvSpPr>
        <p:spPr>
          <a:xfrm>
            <a:off x="1038225" y="2478823"/>
            <a:ext cx="158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68% Completado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h61ffbbd66c0d0bd0_0_248"/>
          <p:cNvSpPr txBox="1"/>
          <p:nvPr/>
        </p:nvSpPr>
        <p:spPr>
          <a:xfrm>
            <a:off x="1038225" y="2288323"/>
            <a:ext cx="209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61ffbbd66c0d0bd0_0_248"/>
          <p:cNvSpPr/>
          <p:nvPr/>
        </p:nvSpPr>
        <p:spPr>
          <a:xfrm>
            <a:off x="3695677" y="2362359"/>
            <a:ext cx="1953900" cy="2310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h61ffbbd66c0d0bd0_0_248"/>
          <p:cNvSpPr txBox="1"/>
          <p:nvPr/>
        </p:nvSpPr>
        <p:spPr>
          <a:xfrm>
            <a:off x="3772772" y="2393252"/>
            <a:ext cx="1799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Semana 10 de 16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/>
          <p:nvPr/>
        </p:nvSpPr>
        <p:spPr>
          <a:xfrm>
            <a:off x="772380" y="2302317"/>
            <a:ext cx="1049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34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gracias por su atención!</a:t>
            </a:r>
            <a:endParaRPr b="1" i="0" sz="3400" u="none" cap="none" strike="noStrik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Octubre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3812814" y="445437"/>
            <a:ext cx="4746171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 txBox="1"/>
          <p:nvPr/>
        </p:nvSpPr>
        <p:spPr>
          <a:xfrm>
            <a:off x="4205723" y="501439"/>
            <a:ext cx="408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794650" y="3197975"/>
            <a:ext cx="8908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 — Transformación digital inteligente e integral para el Restaurante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Shaolin Sushi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