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Plus Jakarta Sans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jXiRbsmJp8bkGjYLg1pT87L+Ho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23FDD1-A914-4AB2-BA3F-D83CB9EDFF4B}">
  <a:tblStyle styleId="{6523FDD1-A914-4AB2-BA3F-D83CB9EDFF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PoppinsSemiBold-boldItalic.fntdata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PlusJakartaSans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11" Type="http://schemas.openxmlformats.org/officeDocument/2006/relationships/image" Target="../media/image27.png"/><Relationship Id="rId10" Type="http://schemas.openxmlformats.org/officeDocument/2006/relationships/image" Target="../media/image10.png"/><Relationship Id="rId9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24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Relationship Id="rId10" Type="http://schemas.openxmlformats.org/officeDocument/2006/relationships/image" Target="../media/image34.png"/><Relationship Id="rId9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Relationship Id="rId7" Type="http://schemas.openxmlformats.org/officeDocument/2006/relationships/image" Target="../media/image14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112" y="4384940"/>
            <a:ext cx="6400801" cy="64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942114" y="2237333"/>
            <a:ext cx="6553200" cy="666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GastroConnect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942114" y="2989808"/>
            <a:ext cx="65532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Sistema Integral de Gestión Operativa y Pedidos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942113" y="3580358"/>
            <a:ext cx="64008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Plataforma omnicanal para optimización del flujo en salón, punto de venta (POS) y canal de pedidos cliente para </a:t>
            </a:r>
            <a:r>
              <a:rPr b="1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4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942114" y="4530626"/>
            <a:ext cx="144780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CLIENTE OBJETIVO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4942114" y="4748212"/>
            <a:ext cx="1733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045890" y="4530626"/>
            <a:ext cx="173355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FECHA DE REVISIÓN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045890" y="4748212"/>
            <a:ext cx="1733550" cy="20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11-09-2026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694964" y="4530626"/>
            <a:ext cx="2447925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AUTORES</a:t>
            </a:r>
            <a:endParaRPr b="1" i="0" sz="975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694964" y="4748212"/>
            <a:ext cx="2447925" cy="20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Equipo GastroConnect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772084" y="6604907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100" name="Google Shape;100;p1" title="Gemini_Generated_Image_ki6mm4ki6mm4ki6m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01" y="0"/>
            <a:ext cx="45464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534572" y="112443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Agenda de la Presentación</a:t>
            </a:r>
            <a:endParaRPr b="1" i="0" sz="255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34572" y="1724513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477375" y="796230"/>
            <a:ext cx="2105025" cy="3429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300" y="8914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867900" y="881955"/>
            <a:ext cx="19407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de Ruta de la Sesión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534572" y="5633357"/>
            <a:ext cx="10972800" cy="4191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34572" y="206871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34572" y="3087885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34572" y="410706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116222" y="206871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116222" y="3087885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116222" y="410706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734597" y="5757182"/>
            <a:ext cx="1899559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Duración estimada: 10 minutos</a:t>
            </a:r>
            <a:endParaRPr b="0" i="0" sz="105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145047" y="5757182"/>
            <a:ext cx="3952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para preguntas al finalizar la exposición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1344197" y="2287785"/>
            <a:ext cx="1103059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Trabajo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1344197" y="2544960"/>
            <a:ext cx="2644955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Avance del cronograma general de 18 semanas.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344197" y="3306960"/>
            <a:ext cx="1820435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Porcentaje Cumplimiento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344197" y="3564135"/>
            <a:ext cx="2521524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Comparativa de avance actual vs planificado.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344197" y="4326135"/>
            <a:ext cx="1986057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Seguimiento de Actividades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344197" y="4583310"/>
            <a:ext cx="3823162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entregables finalizados, en proceso y pendientes.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925847" y="2287785"/>
            <a:ext cx="2268121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Riesgos y Mitigación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925847" y="2544960"/>
            <a:ext cx="3507370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de matriz 3x3, estrategias y cumplimiento de plazos.</a:t>
            </a:r>
            <a:r>
              <a:rPr b="0" i="0" lang="es-CL" sz="1050" u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925847" y="3306960"/>
            <a:ext cx="2083391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y Compromisos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6925847" y="3564135"/>
            <a:ext cx="3571491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 de avance actual y compromisos para la próxima semana.</a:t>
            </a:r>
            <a:endParaRPr b="0" i="0" sz="1050" u="non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925847" y="4326135"/>
            <a:ext cx="753027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Preguntas </a:t>
            </a:r>
            <a:endParaRPr b="1" i="0" sz="1350" u="non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6925847" y="4583310"/>
            <a:ext cx="2205732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abierto de consultas y feedback.</a:t>
            </a:r>
            <a:endParaRPr b="0" i="0" sz="1050" u="non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762874" y="231291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63025" y="330696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763025" y="4370102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368634" y="231291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380541" y="3295074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372528" y="432613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619999" y="229731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619999" y="3277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619999" y="4347226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225759" y="2285424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6237666" y="32712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6220997" y="4326135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/>
          </a:p>
        </p:txBody>
      </p:sp>
      <p:pic>
        <p:nvPicPr>
          <p:cNvPr descr="image.png" id="143" name="Google Shape;1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57" y="5733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5047" y="5785757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523875" y="841831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Plan de Trabajo</a:t>
            </a:r>
            <a:endParaRPr b="1" i="0" sz="2800" u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523875" y="1441906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925" y="5348400"/>
            <a:ext cx="11451825" cy="7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466435" y="5624068"/>
            <a:ext cx="1112241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40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Plan de 1</a:t>
            </a:r>
            <a:r>
              <a:rPr b="1" lang="es-CL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lang="es-CL" sz="140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 semanas </a:t>
            </a:r>
            <a:r>
              <a:rPr lang="es-CL" sz="140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calendario para diseñar, desarrollar, integrar, validar y entregar la plataforma tecnológica propuesta.</a:t>
            </a:r>
            <a:endParaRPr b="0" i="0" sz="1400" u="none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156" name="Google Shape;15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925" y="1797887"/>
            <a:ext cx="11451827" cy="3327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/>
        </p:nvSpPr>
        <p:spPr>
          <a:xfrm>
            <a:off x="523875" y="428625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Porcentaje Cumplimiento</a:t>
            </a:r>
            <a:endParaRPr b="1" i="0" sz="2550" u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23875" y="1028700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5621975"/>
            <a:ext cx="11058526" cy="113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825" y="581146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 txBox="1"/>
          <p:nvPr/>
        </p:nvSpPr>
        <p:spPr>
          <a:xfrm>
            <a:off x="709650" y="5811292"/>
            <a:ext cx="107727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Estado Global del Cronograma:</a:t>
            </a:r>
            <a:r>
              <a:rPr b="0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Nos encontramos en la semana 5 con un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r>
              <a:rPr b="0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% de avance general completado.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Mantenemos una diferencia del 3% de avance sobre el plazo planificado. </a:t>
            </a:r>
            <a:r>
              <a:rPr b="0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Las tareas de levantamiento, análisis y diseño están concluidas. Actualmente nos encontramos en la etapa de desarrollo de </a:t>
            </a:r>
            <a:r>
              <a:rPr lang="es-CL" sz="140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base de datos y backend </a:t>
            </a:r>
            <a:r>
              <a:rPr b="0" i="0" lang="es-CL" sz="140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66" name="Google Shape;16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4584" y="1298980"/>
            <a:ext cx="1587146" cy="11346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4585" y="2784597"/>
            <a:ext cx="1587146" cy="1134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14586" y="4270215"/>
            <a:ext cx="1587145" cy="113126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 txBox="1"/>
          <p:nvPr/>
        </p:nvSpPr>
        <p:spPr>
          <a:xfrm>
            <a:off x="10273682" y="1609436"/>
            <a:ext cx="108777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SEMANA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5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9967147" y="3125396"/>
            <a:ext cx="17009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CUMPLIMIENTO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20%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10118851" y="4542094"/>
            <a:ext cx="13974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DESVIACION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0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3875" y="1209675"/>
            <a:ext cx="9267575" cy="425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5"/>
          <p:cNvGraphicFramePr/>
          <p:nvPr/>
        </p:nvGraphicFramePr>
        <p:xfrm>
          <a:off x="523870" y="1166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{6523FDD1-A914-4AB2-BA3F-D83CB9EDFF4B}</a:tableStyleId>
              </a:tblPr>
              <a:tblGrid>
                <a:gridCol w="2786050"/>
                <a:gridCol w="1671625"/>
                <a:gridCol w="2228850"/>
                <a:gridCol w="445770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6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Actividad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Estado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Responsable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Evidencia</a:t>
                      </a:r>
                      <a:r>
                        <a:rPr b="1" i="0" lang="es-CL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/ </a:t>
                      </a:r>
                      <a:r>
                        <a:rPr b="1" i="0" lang="es-CL" sz="14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Producto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Especificación de Requisitos 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b="1" i="0" sz="1200" u="none" cap="none" strike="noStrike">
                        <a:solidFill>
                          <a:srgbClr val="16A34A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Documento ERS y KICK OFF firmado por cliente.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Documentación Arquitectura DAS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b="1" i="0" sz="1200" u="none" cap="none" strike="noStrike">
                        <a:solidFill>
                          <a:srgbClr val="16A34A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casos de uso, diagramas de flujo, modelo de datos y mockup.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de Datos y API REST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200"/>
                        <a:buFont typeface="Lato"/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En Proceso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Huaman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Script BD PostgreSQL, API Rest y endpoints para la página web y la app móvil.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Web POS Caja, Salón &amp; Admin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Pendiente</a:t>
                      </a:r>
                      <a:endParaRPr b="1" i="0" sz="1200" u="none" cap="none" strike="noStrik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Angular: estructura, rutas, servicios, sesión, guards y roles.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App Movil Carta &amp; Pedidos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Pendiente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Setup Ionic + Angular + Capacitor, almacenamiento local y navegación.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5"/>
          <p:cNvSpPr/>
          <p:nvPr/>
        </p:nvSpPr>
        <p:spPr>
          <a:xfrm>
            <a:off x="523870" y="1597989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309932" y="1597989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981570" y="1597989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210420" y="1597989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23870" y="2043283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309932" y="2043283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981570" y="2043283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210420" y="2043283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23870" y="2488577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309932" y="2488577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981570" y="2488577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7210420" y="2488577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23870" y="2933870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309932" y="2933870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981570" y="2933870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7210420" y="2933870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23870" y="3379164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309932" y="3379164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981570" y="3379164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7210420" y="3379164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23870" y="3824458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309932" y="3824458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981570" y="3824458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7210420" y="3824458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3" name="Google Shape;2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4969" y="354763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3171" y="175515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2303" y="2200445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 txBox="1"/>
          <p:nvPr/>
        </p:nvSpPr>
        <p:spPr>
          <a:xfrm>
            <a:off x="523874" y="283796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Seguimiento de Actividades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523874" y="883871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5"/>
          <p:cNvGraphicFramePr/>
          <p:nvPr/>
        </p:nvGraphicFramePr>
        <p:xfrm>
          <a:off x="523870" y="38494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{6523FDD1-A914-4AB2-BA3F-D83CB9EDFF4B}</a:tableStyleId>
              </a:tblPr>
              <a:tblGrid>
                <a:gridCol w="2786050"/>
                <a:gridCol w="1671625"/>
                <a:gridCol w="2228850"/>
                <a:gridCol w="445770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 Impresora Térmica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Pendiente</a:t>
                      </a:r>
                      <a:endParaRPr b="1" i="0" sz="1200" u="none" cap="none" strike="noStrik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/ Alexia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de impresión de comanda en formato ESC/POS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de Carga &amp; Marcha Blanca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Pendiente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Informe de QA y Acta de Aceptación Cliente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09" name="Google Shape;20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1384" y="401233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1384" y="445056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90794" y="4814818"/>
            <a:ext cx="2520000" cy="1838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40412" y="4790213"/>
            <a:ext cx="2520000" cy="1869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50422" y="4790212"/>
            <a:ext cx="2520000" cy="17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 txBox="1"/>
          <p:nvPr/>
        </p:nvSpPr>
        <p:spPr>
          <a:xfrm>
            <a:off x="3773973" y="5126896"/>
            <a:ext cx="192576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67484" y="5157584"/>
            <a:ext cx="16658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ACTIVIDADES PENDIENTES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9543547" y="5126896"/>
            <a:ext cx="173374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ATRASADAS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1264" y="4827122"/>
            <a:ext cx="2520000" cy="180152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 txBox="1"/>
          <p:nvPr/>
        </p:nvSpPr>
        <p:spPr>
          <a:xfrm>
            <a:off x="763870" y="5157584"/>
            <a:ext cx="186437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ACTIVIDADES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FINALIZAS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descr="image.png" id="220" name="Google Shape;22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79984" y="264676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8368" y="3109405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08410"/>
            <a:ext cx="12192000" cy="7084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0701" y="1200177"/>
            <a:ext cx="3555950" cy="4747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4776" y="1200177"/>
            <a:ext cx="3555950" cy="474750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6"/>
          <p:cNvSpPr txBox="1"/>
          <p:nvPr/>
        </p:nvSpPr>
        <p:spPr>
          <a:xfrm>
            <a:off x="4409776" y="1981226"/>
            <a:ext cx="327369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>
                <a:solidFill>
                  <a:srgbClr val="92400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Riesgo 2: Resistencia al Cambio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4409776" y="2608187"/>
            <a:ext cx="3059011" cy="6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Lenta adopción del personal:</a:t>
            </a:r>
            <a:r>
              <a:rPr b="0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Garzones o cajera habituados al papel muestran dificultades en las primeras jornadas.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8203851" y="1981226"/>
            <a:ext cx="327369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Riesgo 3: Caída de Red Local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8203851" y="2608187"/>
            <a:ext cx="2968674" cy="6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Pérdida de conectividad Wi-Fi:</a:t>
            </a:r>
            <a:r>
              <a:rPr b="0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Interrupción en el envío de pedidos durante horas de alta demanda.</a:t>
            </a:r>
            <a:endParaRPr/>
          </a:p>
        </p:txBody>
      </p:sp>
      <p:pic>
        <p:nvPicPr>
          <p:cNvPr descr="image.png" id="233" name="Google Shape;23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9776" y="1495451"/>
            <a:ext cx="428625" cy="32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03851" y="1495451"/>
            <a:ext cx="428625" cy="32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 txBox="1"/>
          <p:nvPr/>
        </p:nvSpPr>
        <p:spPr>
          <a:xfrm>
            <a:off x="449843" y="255678"/>
            <a:ext cx="11668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Gestión de Riesgos y Mitigación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70508" y="874993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8595224" y="511222"/>
            <a:ext cx="2895023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Próxima revisión de riesgos: 18-09-2026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4376288" y="4284646"/>
            <a:ext cx="3092499" cy="628650"/>
          </a:xfrm>
          <a:prstGeom prst="roundRect">
            <a:avLst>
              <a:gd fmla="val 13043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Mitigación: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Talleres prácticos guiados y manual visual en estación de caja.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8203850" y="4303872"/>
            <a:ext cx="2968675" cy="662582"/>
          </a:xfrm>
          <a:prstGeom prst="roundRect">
            <a:avLst>
              <a:gd fmla="val 13043" name="adj"/>
            </a:avLst>
          </a:prstGeom>
          <a:solidFill>
            <a:srgbClr val="DAE5F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Mitigación: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Modo offline temporal con cola de sincronización local.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358876" y="3576244"/>
            <a:ext cx="3092499" cy="43815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8203851" y="3576244"/>
            <a:ext cx="2968674" cy="43815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464798" y="1533127"/>
            <a:ext cx="1000125" cy="228600"/>
          </a:xfrm>
          <a:prstGeom prst="roundRect">
            <a:avLst>
              <a:gd fmla="val 25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0300247" y="1533127"/>
            <a:ext cx="885825" cy="228600"/>
          </a:xfrm>
          <a:prstGeom prst="roundRect">
            <a:avLst>
              <a:gd fmla="val 25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6560048" y="1571227"/>
            <a:ext cx="9048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NIVEL MEDIO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10395497" y="1571227"/>
            <a:ext cx="7905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NIVEL ALTO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4482701" y="3700069"/>
            <a:ext cx="1415452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Probabilidad: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Media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6397756" y="3700069"/>
            <a:ext cx="956993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Alto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8328491" y="3700069"/>
            <a:ext cx="1264770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Probabilidad: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Alta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9961462" y="3700069"/>
            <a:ext cx="110767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Medio</a:t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4376287" y="5321319"/>
            <a:ext cx="3092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8217398" y="5311794"/>
            <a:ext cx="3092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6917976" y="5409120"/>
            <a:ext cx="657225" cy="228600"/>
          </a:xfrm>
          <a:prstGeom prst="roundRect">
            <a:avLst>
              <a:gd fmla="val 16666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10639125" y="5409120"/>
            <a:ext cx="657225" cy="228600"/>
          </a:xfrm>
          <a:prstGeom prst="roundRect">
            <a:avLst>
              <a:gd fmla="val 16666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4482701" y="5447220"/>
            <a:ext cx="130003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Límite: 25-11-2026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6994176" y="5437695"/>
            <a:ext cx="6000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En Plazo</a:t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8203851" y="5447220"/>
            <a:ext cx="1234312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Límite: 11-11-2026</a:t>
            </a:r>
            <a:endParaRPr/>
          </a:p>
        </p:txBody>
      </p:sp>
      <p:sp>
        <p:nvSpPr>
          <p:cNvPr id="258" name="Google Shape;258;p6"/>
          <p:cNvSpPr txBox="1"/>
          <p:nvPr/>
        </p:nvSpPr>
        <p:spPr>
          <a:xfrm>
            <a:off x="10715325" y="5437695"/>
            <a:ext cx="6000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En Plazo</a:t>
            </a:r>
            <a:endParaRPr/>
          </a:p>
        </p:txBody>
      </p:sp>
      <p:pic>
        <p:nvPicPr>
          <p:cNvPr descr="image.png" id="259" name="Google Shape;25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0651" y="1200177"/>
            <a:ext cx="3555950" cy="474750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6"/>
          <p:cNvSpPr txBox="1"/>
          <p:nvPr/>
        </p:nvSpPr>
        <p:spPr>
          <a:xfrm>
            <a:off x="615701" y="1981226"/>
            <a:ext cx="32736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>
                <a:solidFill>
                  <a:srgbClr val="991B1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Riesgo 1: Impresión Térmica</a:t>
            </a:r>
            <a:endParaRPr b="1" i="0" sz="1650" u="none">
              <a:solidFill>
                <a:srgbClr val="991B1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632979" y="2588158"/>
            <a:ext cx="3092499" cy="86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Incompatibilidad de driver ESC/POS:</a:t>
            </a:r>
            <a:r>
              <a:rPr b="0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Fallo en la comunicación entre el navegador web y la impresora en cocina.</a:t>
            </a:r>
            <a:endParaRPr/>
          </a:p>
        </p:txBody>
      </p:sp>
      <p:pic>
        <p:nvPicPr>
          <p:cNvPr descr="image.png" id="262" name="Google Shape;26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5701" y="1495451"/>
            <a:ext cx="342900" cy="32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/>
          <p:nvPr/>
        </p:nvSpPr>
        <p:spPr>
          <a:xfrm>
            <a:off x="602154" y="4303264"/>
            <a:ext cx="3128072" cy="663190"/>
          </a:xfrm>
          <a:prstGeom prst="roundRect">
            <a:avLst>
              <a:gd fmla="val 13043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Mitigación: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Driver puente local en Python/Node y emulador térmico de respaldo.</a:t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605361" y="3556158"/>
            <a:ext cx="3092499" cy="438150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2857948" y="1533127"/>
            <a:ext cx="885825" cy="228600"/>
          </a:xfrm>
          <a:prstGeom prst="roundRect">
            <a:avLst>
              <a:gd fmla="val 25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2953198" y="1571227"/>
            <a:ext cx="7905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NIVEL ALTO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761552" y="3700069"/>
            <a:ext cx="1264770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Probabilidad: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Alta</a:t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2519163" y="3700069"/>
            <a:ext cx="110767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Impacto: </a:t>
            </a:r>
            <a:r>
              <a:rPr b="1" i="0" lang="es-CL" sz="11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Medio</a:t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651274" y="5321319"/>
            <a:ext cx="3092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3196826" y="5409120"/>
            <a:ext cx="657225" cy="228600"/>
          </a:xfrm>
          <a:prstGeom prst="roundRect">
            <a:avLst>
              <a:gd fmla="val 16666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761552" y="5447220"/>
            <a:ext cx="127278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Límite: 11-10-2026</a:t>
            </a:r>
            <a:endParaRPr/>
          </a:p>
        </p:txBody>
      </p:sp>
      <p:sp>
        <p:nvSpPr>
          <p:cNvPr id="272" name="Google Shape;272;p6"/>
          <p:cNvSpPr txBox="1"/>
          <p:nvPr/>
        </p:nvSpPr>
        <p:spPr>
          <a:xfrm>
            <a:off x="3273026" y="5437695"/>
            <a:ext cx="60007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En Plazo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"/>
          <p:cNvSpPr/>
          <p:nvPr/>
        </p:nvSpPr>
        <p:spPr>
          <a:xfrm>
            <a:off x="412653" y="557064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Conclusiones y Compromisos</a:t>
            </a:r>
            <a:endParaRPr b="1" sz="26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12653" y="1197167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09600" y="1447800"/>
            <a:ext cx="5372100" cy="4324350"/>
          </a:xfrm>
          <a:prstGeom prst="roundRect">
            <a:avLst>
              <a:gd fmla="val 30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847725" y="5244164"/>
            <a:ext cx="4895850" cy="443329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448425" y="2181225"/>
            <a:ext cx="38100" cy="866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448425" y="3162300"/>
            <a:ext cx="38100" cy="8667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448425" y="4143375"/>
            <a:ext cx="38100" cy="8667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4" name="Google Shape;2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5369379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" y="17811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31908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7"/>
          <p:cNvSpPr txBox="1"/>
          <p:nvPr/>
        </p:nvSpPr>
        <p:spPr>
          <a:xfrm>
            <a:off x="838200" y="6115050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990600" y="5348940"/>
            <a:ext cx="461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Proyecto avanzando según cronograma sin retrasos en el calendario.</a:t>
            </a:r>
            <a:endParaRPr b="0" i="0" sz="1100" u="non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1285875" y="1738312"/>
            <a:ext cx="205825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del Avance</a:t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1095375" y="3171825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Entregables Cumplidos: 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Requerimientos, diseño y Mockups UI/UX validados con cliente.</a:t>
            </a:r>
            <a:endParaRPr i="0" sz="120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1095375" y="3808011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Hito Técnico Concluido: </a:t>
            </a:r>
            <a:r>
              <a:rPr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Definición de arquitectura lista para desarrollo de backend.</a:t>
            </a:r>
            <a:endParaRPr i="0" sz="120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1095375" y="4435298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Siguiente Fase: 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Inicio formal del desarrollo de </a:t>
            </a:r>
            <a:r>
              <a:rPr lang="es-CL"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BD PostgreSQL, API Rest y endpoints para la página web y la app móvil.</a:t>
            </a:r>
            <a:endParaRPr i="0" sz="120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942975" y="2071562"/>
            <a:ext cx="4895850" cy="833563"/>
          </a:xfrm>
          <a:prstGeom prst="roundRect">
            <a:avLst>
              <a:gd fmla="val 18604" name="adj"/>
            </a:avLst>
          </a:prstGeom>
          <a:solidFill>
            <a:srgbClr val="002060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1038225" y="2478823"/>
            <a:ext cx="157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r>
              <a:rPr b="1" i="0" lang="es-CL" sz="1400" u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% Completado</a:t>
            </a:r>
            <a:endParaRPr b="1" i="0" sz="1400" u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4434178" y="2588315"/>
            <a:ext cx="1118897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Semana 5 de 1</a:t>
            </a:r>
            <a:r>
              <a:rPr b="1" lang="es-CL" sz="110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/>
          </a:p>
        </p:txBody>
      </p:sp>
      <p:sp>
        <p:nvSpPr>
          <p:cNvPr id="297" name="Google Shape;297;p7"/>
          <p:cNvSpPr txBox="1"/>
          <p:nvPr/>
        </p:nvSpPr>
        <p:spPr>
          <a:xfrm>
            <a:off x="1038225" y="2288323"/>
            <a:ext cx="209672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Estado Global del Proyecto</a:t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3646714" y="2252559"/>
            <a:ext cx="1953986" cy="230981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3781085" y="2280586"/>
            <a:ext cx="1725385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 Semanas Desviación</a:t>
            </a:r>
            <a:endParaRPr b="1" i="0" sz="1100" u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0" name="Google Shape;30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381954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863" y="4473979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7"/>
          <p:cNvSpPr/>
          <p:nvPr/>
        </p:nvSpPr>
        <p:spPr>
          <a:xfrm>
            <a:off x="6210300" y="1447800"/>
            <a:ext cx="5372100" cy="4324350"/>
          </a:xfrm>
          <a:prstGeom prst="roundRect">
            <a:avLst>
              <a:gd fmla="val 30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6448425" y="5233988"/>
            <a:ext cx="4895850" cy="409575"/>
          </a:xfrm>
          <a:prstGeom prst="roundRect">
            <a:avLst>
              <a:gd fmla="val 18604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6448425" y="2181225"/>
            <a:ext cx="4895850" cy="866775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6448425" y="3162300"/>
            <a:ext cx="4895850" cy="866775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6448425" y="4143375"/>
            <a:ext cx="4895850" cy="866775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7" name="Google Shape;30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7524" y="538734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178117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7"/>
          <p:cNvSpPr txBox="1"/>
          <p:nvPr/>
        </p:nvSpPr>
        <p:spPr>
          <a:xfrm>
            <a:off x="6715125" y="5369379"/>
            <a:ext cx="424610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Próxima reunión de seguimiento: </a:t>
            </a:r>
            <a:r>
              <a:rPr b="1" lang="es-CL" sz="11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VIERNES</a:t>
            </a: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s-CL" sz="11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r>
              <a:rPr b="1" i="0" lang="es-CL" sz="110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-09-2026 </a:t>
            </a:r>
            <a:endParaRPr/>
          </a:p>
        </p:txBody>
      </p:sp>
      <p:sp>
        <p:nvSpPr>
          <p:cNvPr id="310" name="Google Shape;310;p7"/>
          <p:cNvSpPr txBox="1"/>
          <p:nvPr/>
        </p:nvSpPr>
        <p:spPr>
          <a:xfrm>
            <a:off x="6886575" y="1738312"/>
            <a:ext cx="466794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Compromisos Próxima Semana (Semana 6)</a:t>
            </a:r>
            <a:endParaRPr/>
          </a:p>
        </p:txBody>
      </p:sp>
      <p:sp>
        <p:nvSpPr>
          <p:cNvPr id="311" name="Google Shape;311;p7"/>
          <p:cNvSpPr txBox="1"/>
          <p:nvPr/>
        </p:nvSpPr>
        <p:spPr>
          <a:xfrm>
            <a:off x="6638925" y="2533650"/>
            <a:ext cx="470481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Carga inicial del catálogo de productos y modelo relacional.</a:t>
            </a:r>
            <a:endParaRPr b="0" i="0" sz="1200" u="non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" name="Google Shape;312;p7"/>
          <p:cNvSpPr txBox="1"/>
          <p:nvPr/>
        </p:nvSpPr>
        <p:spPr>
          <a:xfrm>
            <a:off x="6638925" y="2743200"/>
            <a:ext cx="165910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Karina Escobar</a:t>
            </a:r>
            <a:endParaRPr b="1" i="0" sz="120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p7"/>
          <p:cNvSpPr txBox="1"/>
          <p:nvPr/>
        </p:nvSpPr>
        <p:spPr>
          <a:xfrm>
            <a:off x="6638925" y="3514725"/>
            <a:ext cx="475611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Métodos HTTP, formato de respuestas (JSON) y autenticación.</a:t>
            </a:r>
            <a:endParaRPr b="0" i="0" sz="1200" u="non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p7"/>
          <p:cNvSpPr txBox="1"/>
          <p:nvPr/>
        </p:nvSpPr>
        <p:spPr>
          <a:xfrm>
            <a:off x="6638925" y="3724275"/>
            <a:ext cx="172322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Jerson Huaman</a:t>
            </a:r>
            <a:endParaRPr/>
          </a:p>
        </p:txBody>
      </p:sp>
      <p:sp>
        <p:nvSpPr>
          <p:cNvPr id="315" name="Google Shape;315;p7"/>
          <p:cNvSpPr txBox="1"/>
          <p:nvPr/>
        </p:nvSpPr>
        <p:spPr>
          <a:xfrm>
            <a:off x="6638925" y="4495800"/>
            <a:ext cx="397705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URLs específicas donde se consumiran los recursos.</a:t>
            </a:r>
            <a:endParaRPr b="0" i="0" sz="1200" u="non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" name="Google Shape;316;p7"/>
          <p:cNvSpPr txBox="1"/>
          <p:nvPr/>
        </p:nvSpPr>
        <p:spPr>
          <a:xfrm>
            <a:off x="6638925" y="4705350"/>
            <a:ext cx="172322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</a:t>
            </a: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Jerson Huaman</a:t>
            </a:r>
            <a:endParaRPr b="1" i="0" sz="120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6638925" y="2314575"/>
            <a:ext cx="274915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Término </a:t>
            </a:r>
            <a:r>
              <a:rPr b="1" i="0" lang="es-CL" sz="12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Script BD PostgreSQL Final</a:t>
            </a:r>
            <a:endParaRPr/>
          </a:p>
        </p:txBody>
      </p:sp>
      <p:sp>
        <p:nvSpPr>
          <p:cNvPr id="318" name="Google Shape;318;p7"/>
          <p:cNvSpPr txBox="1"/>
          <p:nvPr/>
        </p:nvSpPr>
        <p:spPr>
          <a:xfrm>
            <a:off x="6638925" y="3295650"/>
            <a:ext cx="223779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Término </a:t>
            </a:r>
            <a:r>
              <a:rPr b="1" i="0" lang="es-CL" sz="12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Web/Movil</a:t>
            </a:r>
            <a:endParaRPr b="1" i="0" sz="1200" u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6638925" y="4276725"/>
            <a:ext cx="240450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Término Endpoints Web/Movil</a:t>
            </a:r>
            <a:r>
              <a:rPr b="1" i="0" lang="es-CL" sz="12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i="0" sz="1200" u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6493074" y="2262477"/>
            <a:ext cx="38100" cy="866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6493074" y="3243552"/>
            <a:ext cx="38100" cy="8667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6493074" y="4224627"/>
            <a:ext cx="38100" cy="8667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"/>
          <p:cNvSpPr txBox="1"/>
          <p:nvPr/>
        </p:nvSpPr>
        <p:spPr>
          <a:xfrm>
            <a:off x="772355" y="2026792"/>
            <a:ext cx="1049436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600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¡Muchas g</a:t>
            </a:r>
            <a:r>
              <a:rPr b="1" i="0" lang="es-CL" sz="60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racias </a:t>
            </a:r>
            <a:r>
              <a:rPr b="1" lang="es-CL" sz="600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b="1" i="0" lang="es-CL" sz="60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or </a:t>
            </a:r>
            <a:r>
              <a:rPr b="1" lang="es-CL" sz="600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="1" i="0" lang="es-CL" sz="60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u </a:t>
            </a:r>
            <a:r>
              <a:rPr b="1" lang="es-CL" sz="600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b="1" i="0" lang="es-CL" sz="60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tención y confianza!</a:t>
            </a:r>
            <a:endParaRPr b="1" i="0" sz="6000" u="none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1923785" y="4377630"/>
            <a:ext cx="8191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785078" y="6035976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7840436" y="602476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1" name="Google Shape;3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61" y="6005441"/>
            <a:ext cx="1905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011" y="6005441"/>
            <a:ext cx="1524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4486" y="6005441"/>
            <a:ext cx="133350" cy="1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8"/>
          <p:cNvSpPr txBox="1"/>
          <p:nvPr/>
        </p:nvSpPr>
        <p:spPr>
          <a:xfrm>
            <a:off x="2515209" y="5973399"/>
            <a:ext cx="187551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Equipo de Desarrollo &amp; QA</a:t>
            </a:r>
            <a:endParaRPr/>
          </a:p>
        </p:txBody>
      </p:sp>
      <p:sp>
        <p:nvSpPr>
          <p:cNvPr id="335" name="Google Shape;335;p8"/>
          <p:cNvSpPr txBox="1"/>
          <p:nvPr/>
        </p:nvSpPr>
        <p:spPr>
          <a:xfrm>
            <a:off x="5185128" y="5979390"/>
            <a:ext cx="224420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contacto@gastroconnect.com</a:t>
            </a:r>
            <a:endParaRPr/>
          </a:p>
        </p:txBody>
      </p:sp>
      <p:sp>
        <p:nvSpPr>
          <p:cNvPr id="336" name="Google Shape;336;p8"/>
          <p:cNvSpPr txBox="1"/>
          <p:nvPr/>
        </p:nvSpPr>
        <p:spPr>
          <a:xfrm>
            <a:off x="8220355" y="5987342"/>
            <a:ext cx="121988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Septiembre 2026</a:t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2096861" y="602069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362647" y="5449128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9" name="Google Shape;33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0267" y="568187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8"/>
          <p:cNvSpPr/>
          <p:nvPr/>
        </p:nvSpPr>
        <p:spPr>
          <a:xfrm>
            <a:off x="3812826" y="445425"/>
            <a:ext cx="5301900" cy="304800"/>
          </a:xfrm>
          <a:prstGeom prst="roundRect">
            <a:avLst>
              <a:gd fmla="val 50000" name="adj"/>
            </a:avLst>
          </a:prstGeom>
          <a:solidFill>
            <a:srgbClr val="142B43"/>
          </a:solidFill>
          <a:ln cap="flat" cmpd="sng" w="9525">
            <a:solidFill>
              <a:srgbClr val="1B4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1" name="Google Shape;34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73041" y="52638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8"/>
          <p:cNvSpPr txBox="1"/>
          <p:nvPr/>
        </p:nvSpPr>
        <p:spPr>
          <a:xfrm>
            <a:off x="4205725" y="501450"/>
            <a:ext cx="469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GASTROCONNECT — RESTAURANTE </a:t>
            </a:r>
            <a:r>
              <a:rPr b="1" lang="es-CL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