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Inter" panose="020B0604020202020204" charset="0"/>
      <p:regular r:id="rId17"/>
      <p:bold r:id="rId18"/>
      <p:italic r:id="rId19"/>
      <p:boldItalic r:id="rId20"/>
    </p:embeddedFont>
    <p:embeddedFont>
      <p:font typeface="Lato" panose="020F0502020204030203" pitchFamily="34" charset="0"/>
      <p:regular r:id="rId21"/>
      <p:bold r:id="rId22"/>
      <p:italic r:id="rId23"/>
      <p:boldItalic r:id="rId24"/>
    </p:embeddedFont>
    <p:embeddedFont>
      <p:font typeface="Plus Jakarta Sans" panose="020B0604020202020204" charset="0"/>
      <p:regular r:id="rId25"/>
      <p:bold r:id="rId26"/>
      <p:italic r:id="rId27"/>
      <p:boldItalic r:id="rId28"/>
    </p:embeddedFont>
    <p:embeddedFont>
      <p:font typeface="Poppins" panose="00000500000000000000" pitchFamily="2" charset="0"/>
      <p:regular r:id="rId29"/>
      <p:bold r:id="rId30"/>
      <p:italic r:id="rId31"/>
      <p:boldItalic r:id="rId32"/>
    </p:embeddedFont>
    <p:embeddedFont>
      <p:font typeface="Poppins SemiBold" panose="00000700000000000000" pitchFamily="2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hc2EyazMl6Mr2QbFwYGVXVx7ZC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9091136-EE10-4E75-9FA9-5A00E9070E0E}">
  <a:tblStyle styleId="{A9091136-EE10-4E75-9FA9-5A00E9070E0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8F35838-A98F-4DEA-8A30-530A3DBC684E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font" Target="fonts/font18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40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font" Target="fonts/font20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font" Target="fonts/font19.fntdata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CL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h1a26b3ade1f5064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8" name="Google Shape;148;h1a26b3ade1f5064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5" name="Google Shape;17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>
          <a:extLst>
            <a:ext uri="{FF2B5EF4-FFF2-40B4-BE49-F238E27FC236}">
              <a16:creationId xmlns:a16="http://schemas.microsoft.com/office/drawing/2014/main" id="{4AABBAA1-8E4C-088F-4CB9-31D89106A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>
            <a:extLst>
              <a:ext uri="{FF2B5EF4-FFF2-40B4-BE49-F238E27FC236}">
                <a16:creationId xmlns:a16="http://schemas.microsoft.com/office/drawing/2014/main" id="{BB6A16DB-AE22-6B78-81A7-16845B462E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5" name="Google Shape;175;p3:notes">
            <a:extLst>
              <a:ext uri="{FF2B5EF4-FFF2-40B4-BE49-F238E27FC236}">
                <a16:creationId xmlns:a16="http://schemas.microsoft.com/office/drawing/2014/main" id="{10B51D58-E38E-203C-4A2E-D04794CC3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7440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1a26b3ade1f5064_0_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3" name="Google Shape;183;h1a26b3ade1f506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h1a26b3ade1f5064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2" name="Google Shape;192;h1a26b3ade1f5064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1a26b3ade1f5064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1" name="Google Shape;201;h1a26b3ade1f5064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h1a26b3ade1f5064_0_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0" name="Google Shape;210;h1a26b3ade1f5064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h1a26b3ade1f5064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9" name="Google Shape;219;h1a26b3ade1f5064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4" name="Google Shape;2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3" name="Google Shape;28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1" name="Google Shape;3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3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3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5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5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15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5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9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28.png"/><Relationship Id="rId4" Type="http://schemas.openxmlformats.org/officeDocument/2006/relationships/image" Target="../media/image25.png"/><Relationship Id="rId9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42112" y="4384940"/>
            <a:ext cx="6400801" cy="647997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4942114" y="2237333"/>
            <a:ext cx="6553200" cy="666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s-CL" sz="45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GastroConnect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942114" y="2989808"/>
            <a:ext cx="65532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s-CL" sz="2100" b="0" i="0" u="none" strike="noStrike" cap="none">
                <a:solidFill>
                  <a:srgbClr val="2563E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Sistema Integral de Gestión Operativa y Pedidos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4942113" y="3580358"/>
            <a:ext cx="6400801" cy="502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78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-CL" sz="1400" b="0" i="0" u="none" strike="noStrike" cap="non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Plataforma omnicanal para optimización del flujo en salón, punto de venta (POS) y canal de pedidos cliente para </a:t>
            </a:r>
            <a:r>
              <a:rPr lang="es-CL" sz="1400" b="1" i="0" u="none" strike="noStrike" cap="non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Restaurante Mirellita</a:t>
            </a:r>
            <a:r>
              <a:rPr lang="es-CL" sz="1400" b="0" i="0" u="none" strike="noStrike" cap="non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sz="1400" b="0" i="0" u="none" strike="noStrike" cap="none">
              <a:solidFill>
                <a:srgbClr val="47556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942114" y="4530626"/>
            <a:ext cx="1447800" cy="16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s-CL" sz="975" b="1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CLIENTE 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4942114" y="4748212"/>
            <a:ext cx="1733550" cy="20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Restaurante Mirellita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045890" y="4530626"/>
            <a:ext cx="1733550" cy="16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s-CL" sz="975" b="1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FECHA DE REVISIÓN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7045890" y="4748212"/>
            <a:ext cx="17337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r>
              <a:rPr lang="es-CL" sz="12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-10-2026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8694964" y="4530626"/>
            <a:ext cx="2447925" cy="16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s-CL" sz="975" b="1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AUTORES</a:t>
            </a:r>
            <a:endParaRPr sz="975" b="1" i="0" u="none" strike="noStrike" cap="non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8694964" y="4748212"/>
            <a:ext cx="2447925" cy="20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Equipo GastroConnect</a:t>
            </a:r>
            <a:endParaRPr sz="1200" b="1" i="0" u="none" strike="noStrike" cap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6772084" y="6604907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" y="0"/>
            <a:ext cx="4547616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534572" y="1124438"/>
            <a:ext cx="11668125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lang="es-CL" sz="255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Agenda de la Presentación</a:t>
            </a:r>
            <a:endParaRPr sz="255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534572" y="1724513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477375" y="796230"/>
            <a:ext cx="2105025" cy="3429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 cap="flat" cmpd="sng">
            <a:solidFill>
              <a:srgbClr val="BFDBF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39300" y="89148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9867900" y="881955"/>
            <a:ext cx="194071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Hoja de Ruta de la Sesión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534572" y="5633357"/>
            <a:ext cx="10972800" cy="41910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9525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534572" y="2068710"/>
            <a:ext cx="5391300" cy="8667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534572" y="3087885"/>
            <a:ext cx="5391150" cy="86677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534572" y="4107060"/>
            <a:ext cx="5391150" cy="86677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6116222" y="2068710"/>
            <a:ext cx="5391300" cy="8667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6116222" y="3087885"/>
            <a:ext cx="5391150" cy="86677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6116222" y="4107060"/>
            <a:ext cx="5391150" cy="86677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00947" y="5719432"/>
            <a:ext cx="18996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Duración estimada: 10 minutos</a:t>
            </a:r>
            <a:endParaRPr sz="1050" b="0" i="0" u="none" strike="noStrike" cap="none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8145047" y="5757182"/>
            <a:ext cx="3952875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2860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0" i="0" u="none" strike="noStrike" cap="non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Espacio para preguntas al finalizar la exposición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1344200" y="2287775"/>
            <a:ext cx="2426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Roadmap Plan de Trabajo</a:t>
            </a:r>
            <a:endParaRPr sz="1350" b="1" i="0" u="none" strike="noStrike" cap="non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1344197" y="2544960"/>
            <a:ext cx="2644955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0" i="0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del cronograma general de 18 semanas.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1344201" y="3306950"/>
            <a:ext cx="28344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Porcentaje Cumplimiento</a:t>
            </a:r>
            <a:endParaRPr sz="1350" b="1" i="0" u="none" strike="noStrike" cap="non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1344201" y="3564127"/>
            <a:ext cx="36333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0" i="0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Comparativa de avance actual v/s planificado.</a:t>
            </a:r>
            <a:endParaRPr sz="1050" b="0" i="0" u="none" strike="noStrike" cap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1344201" y="4326124"/>
            <a:ext cx="3842549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Diagramas Modelo de Datos y Casos de Uso</a:t>
            </a:r>
            <a:endParaRPr sz="1350" b="1" i="0" u="none" strike="noStrike" cap="none" dirty="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344200" y="4583288"/>
            <a:ext cx="38232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dirty="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Revisión de principales diagramas de arquitectura</a:t>
            </a:r>
            <a:r>
              <a:rPr lang="es-CL" sz="1050" b="0" i="0" u="none" strike="noStrike" cap="none" dirty="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 sz="1050" b="0" i="0" u="none" strike="noStrike" cap="none" dirty="0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6925853" y="2287775"/>
            <a:ext cx="44595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</a:pPr>
            <a:r>
              <a:rPr lang="es-CL" sz="135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Seguimiento de Actividades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6925850" y="2544938"/>
            <a:ext cx="3507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Revisión de entregables finalizados, en proceso y pendientes.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6925852" y="3306950"/>
            <a:ext cx="36333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Conclusiones y Compromisos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25847" y="3564135"/>
            <a:ext cx="3571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0" i="0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Balance del avance actual y compromisos para la próxima semana.</a:t>
            </a:r>
            <a:endParaRPr sz="1050" b="0" i="0" u="none" strike="noStrike" cap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25857" y="4326125"/>
            <a:ext cx="23022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Preguntas</a:t>
            </a:r>
            <a:endParaRPr sz="1350" b="1" i="0" u="none" strike="noStrike" cap="non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25847" y="4583310"/>
            <a:ext cx="2205732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0" i="0" u="none" strike="noStrike" cap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Espacio abierto de consultas y feedback.</a:t>
            </a:r>
            <a:endParaRPr sz="1050" b="0" i="0" u="none" strike="noStrike" cap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762874" y="231291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763025" y="330696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763025" y="4370102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6368634" y="231291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6380541" y="3295074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6372528" y="432613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619999" y="2297310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 txBox="1"/>
          <p:nvPr/>
        </p:nvSpPr>
        <p:spPr>
          <a:xfrm>
            <a:off x="619999" y="3277237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 txBox="1"/>
          <p:nvPr/>
        </p:nvSpPr>
        <p:spPr>
          <a:xfrm>
            <a:off x="619999" y="4347226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6225759" y="2285424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2"/>
          <p:cNvSpPr txBox="1"/>
          <p:nvPr/>
        </p:nvSpPr>
        <p:spPr>
          <a:xfrm>
            <a:off x="6237666" y="3271262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"/>
          <p:cNvSpPr txBox="1"/>
          <p:nvPr/>
        </p:nvSpPr>
        <p:spPr>
          <a:xfrm>
            <a:off x="6220997" y="4326135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s-CL" sz="135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0957" y="5733562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45047" y="5785757"/>
            <a:ext cx="1714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h1a26b3ade1f5064_0_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h1a26b3ade1f5064_0_4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Roadmap Plan de Trabajo</a:t>
            </a:r>
            <a:endParaRPr sz="28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" name="Google Shape;152;h1a26b3ade1f5064_0_4"/>
          <p:cNvSpPr/>
          <p:nvPr/>
        </p:nvSpPr>
        <p:spPr>
          <a:xfrm>
            <a:off x="523875" y="1441906"/>
            <a:ext cx="11144400" cy="28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h1a26b3ade1f5064_0_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3875" y="5348409"/>
            <a:ext cx="11144249" cy="76676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h1a26b3ade1f5064_0_4"/>
          <p:cNvSpPr txBox="1"/>
          <p:nvPr/>
        </p:nvSpPr>
        <p:spPr>
          <a:xfrm>
            <a:off x="466435" y="5624068"/>
            <a:ext cx="11122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-CL" sz="1400" b="1" i="0" u="none" strike="noStrike" cap="none">
                <a:solidFill>
                  <a:srgbClr val="00B050"/>
                </a:solidFill>
                <a:latin typeface="Poppins"/>
                <a:ea typeface="Poppins"/>
                <a:cs typeface="Poppins"/>
                <a:sym typeface="Poppins"/>
              </a:rPr>
              <a:t>Plan de 18 semanas </a:t>
            </a:r>
            <a:r>
              <a:rPr lang="es-CL" sz="1400" b="0" i="0" u="none" strike="noStrike" cap="none">
                <a:solidFill>
                  <a:srgbClr val="00B050"/>
                </a:solidFill>
                <a:latin typeface="Poppins"/>
                <a:ea typeface="Poppins"/>
                <a:cs typeface="Poppins"/>
                <a:sym typeface="Poppins"/>
              </a:rPr>
              <a:t>calendario para diseñar, desarrollar, integrar, validar y entregar la plataforma tecnológica propuesta.</a:t>
            </a:r>
            <a:endParaRPr sz="1400" b="0" i="0" u="none" strike="noStrike" cap="none">
              <a:solidFill>
                <a:srgbClr val="00B05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" name="Google Shape;155;h1a26b3ade1f5064_0_4"/>
          <p:cNvSpPr txBox="1"/>
          <p:nvPr/>
        </p:nvSpPr>
        <p:spPr>
          <a:xfrm>
            <a:off x="534570" y="6519182"/>
            <a:ext cx="3512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00176A-DC7F-D5FD-4D66-B9E3008E6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58" y="1639381"/>
            <a:ext cx="11341683" cy="35319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"/>
          <p:cNvSpPr txBox="1"/>
          <p:nvPr/>
        </p:nvSpPr>
        <p:spPr>
          <a:xfrm>
            <a:off x="523875" y="428625"/>
            <a:ext cx="11668125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lang="es-CL" sz="255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Porcentaje Cumplimiento</a:t>
            </a:r>
            <a:endParaRPr sz="255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523875" y="1028700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3" name="Google Shape;163;p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6750" y="5646550"/>
            <a:ext cx="11058526" cy="102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1900" y="5811464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784775" y="5811467"/>
            <a:ext cx="10772700" cy="75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just" rtl="0">
              <a:lnSpc>
                <a:spcPct val="124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-CL" sz="1400" b="1" i="0" u="none" strike="noStrike" cap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Estado Global del Cronograma:</a:t>
            </a:r>
            <a:r>
              <a:rPr lang="es-CL" sz="1400" b="0" i="0" u="none" strike="noStrike" cap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 Nos encontramos en la semana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r>
              <a:rPr lang="es-CL" sz="1400" b="0" i="0" u="none" strike="noStrike" cap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 con un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45</a:t>
            </a:r>
            <a:r>
              <a:rPr lang="es-CL" sz="1400" b="0" i="0" u="none" strike="noStrike" cap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% de avance general completado. Mantenemos un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r>
              <a:rPr lang="es-CL" sz="1400" b="0" i="0" u="none" strike="noStrike" cap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% de desviación en las actividades en relación del plazo planificado. Las tareas de levantamiento, análisis, diseño, base de datos y backend están concluidas. Actualmente nos encontramos en la etapa de desarrollo de fronted web. </a:t>
            </a:r>
            <a:endParaRPr sz="1400" b="0" i="0" u="none" strike="noStrike" cap="none">
              <a:solidFill>
                <a:srgbClr val="00206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66" name="Google Shape;166;p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14534" y="1235505"/>
            <a:ext cx="1587146" cy="1134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14585" y="2784597"/>
            <a:ext cx="1587146" cy="11346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14586" y="4299715"/>
            <a:ext cx="1587145" cy="1131266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"/>
          <p:cNvSpPr txBox="1"/>
          <p:nvPr/>
        </p:nvSpPr>
        <p:spPr>
          <a:xfrm>
            <a:off x="10255487" y="1546171"/>
            <a:ext cx="1124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SEMANA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</a:t>
            </a: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8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 txBox="1"/>
          <p:nvPr/>
        </p:nvSpPr>
        <p:spPr>
          <a:xfrm>
            <a:off x="9957596" y="3086808"/>
            <a:ext cx="170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CUMPLIMIENTO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45</a:t>
            </a: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sz="18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10118851" y="4571594"/>
            <a:ext cx="1397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DESVIACIÓN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es-CL" sz="1800" b="0" i="0" u="none" strike="noStrike" cap="none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%</a:t>
            </a:r>
            <a:endParaRPr sz="1800" b="0" i="0" u="none" strike="noStrike" cap="none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6750" y="1209675"/>
            <a:ext cx="9210250" cy="4284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"/>
          <p:cNvSpPr/>
          <p:nvPr/>
        </p:nvSpPr>
        <p:spPr>
          <a:xfrm>
            <a:off x="523875" y="1441906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875" y="0"/>
            <a:ext cx="11479199" cy="6440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>
          <a:extLst>
            <a:ext uri="{FF2B5EF4-FFF2-40B4-BE49-F238E27FC236}">
              <a16:creationId xmlns:a16="http://schemas.microsoft.com/office/drawing/2014/main" id="{94C326E7-D95C-FB2F-E9BE-36377CD3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3" descr="image.png">
            <a:extLst>
              <a:ext uri="{FF2B5EF4-FFF2-40B4-BE49-F238E27FC236}">
                <a16:creationId xmlns:a16="http://schemas.microsoft.com/office/drawing/2014/main" id="{749EFFB9-D092-1D5B-4E2F-D83266567A7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1B5A118-E07D-F39E-229F-7B24FF5A8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3971" y="167368"/>
            <a:ext cx="7424057" cy="653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827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h1a26b3ade1f5064_0_5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h1a26b3ade1f5064_0_50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Diagrama Caso de Uso Cliente</a:t>
            </a:r>
            <a:endParaRPr sz="28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87" name="Google Shape;187;h1a26b3ade1f5064_0_50"/>
          <p:cNvSpPr/>
          <p:nvPr/>
        </p:nvSpPr>
        <p:spPr>
          <a:xfrm>
            <a:off x="523875" y="1441906"/>
            <a:ext cx="11144400" cy="28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h1a26b3ade1f5064_0_50"/>
          <p:cNvSpPr txBox="1"/>
          <p:nvPr/>
        </p:nvSpPr>
        <p:spPr>
          <a:xfrm>
            <a:off x="534570" y="6519182"/>
            <a:ext cx="3512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9" name="Google Shape;189;h1a26b3ade1f5064_0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5050" y="1567401"/>
            <a:ext cx="11745998" cy="487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h1a26b3ade1f5064_0_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h1a26b3ade1f5064_0_14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Diagrama Caso de Uso Garzón</a:t>
            </a:r>
            <a:endParaRPr sz="28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6" name="Google Shape;196;h1a26b3ade1f5064_0_14"/>
          <p:cNvSpPr/>
          <p:nvPr/>
        </p:nvSpPr>
        <p:spPr>
          <a:xfrm>
            <a:off x="523875" y="1441906"/>
            <a:ext cx="11144400" cy="28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h1a26b3ade1f5064_0_14"/>
          <p:cNvSpPr txBox="1"/>
          <p:nvPr/>
        </p:nvSpPr>
        <p:spPr>
          <a:xfrm>
            <a:off x="534570" y="6519182"/>
            <a:ext cx="3512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h1a26b3ade1f5064_0_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375" y="1890800"/>
            <a:ext cx="11839074" cy="349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h1a26b3ade1f5064_0_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h1a26b3ade1f5064_0_23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Diagrama Caso de Uso Cajero</a:t>
            </a:r>
            <a:endParaRPr sz="28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05" name="Google Shape;205;h1a26b3ade1f5064_0_23"/>
          <p:cNvSpPr/>
          <p:nvPr/>
        </p:nvSpPr>
        <p:spPr>
          <a:xfrm>
            <a:off x="523875" y="1441906"/>
            <a:ext cx="11144400" cy="28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h1a26b3ade1f5064_0_23"/>
          <p:cNvSpPr txBox="1"/>
          <p:nvPr/>
        </p:nvSpPr>
        <p:spPr>
          <a:xfrm>
            <a:off x="534570" y="6519182"/>
            <a:ext cx="3512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" name="Google Shape;207;h1a26b3ade1f5064_0_23"/>
          <p:cNvPicPr preferRelativeResize="0"/>
          <p:nvPr/>
        </p:nvPicPr>
        <p:blipFill>
          <a:blip r:embed="rId4">
            <a:alphaModFix/>
          </a:blip>
          <a:srcRect t="3458"/>
          <a:stretch>
            <a:fillRect/>
          </a:stretch>
        </p:blipFill>
        <p:spPr>
          <a:xfrm>
            <a:off x="-75" y="1495911"/>
            <a:ext cx="12191999" cy="4941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h1a26b3ade1f5064_0_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h1a26b3ade1f5064_0_32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Diagrama Caso de Uso Administrador</a:t>
            </a:r>
            <a:endParaRPr sz="28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14" name="Google Shape;214;h1a26b3ade1f5064_0_32"/>
          <p:cNvSpPr/>
          <p:nvPr/>
        </p:nvSpPr>
        <p:spPr>
          <a:xfrm>
            <a:off x="523875" y="1441906"/>
            <a:ext cx="11144400" cy="28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h1a26b3ade1f5064_0_32"/>
          <p:cNvSpPr txBox="1"/>
          <p:nvPr/>
        </p:nvSpPr>
        <p:spPr>
          <a:xfrm>
            <a:off x="534570" y="6519182"/>
            <a:ext cx="3512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6" name="Google Shape;216;h1a26b3ade1f5064_0_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850" y="0"/>
            <a:ext cx="11430726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h1a26b3ade1f5064_0_4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h1a26b3ade1f5064_0_41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Casos de Prueba</a:t>
            </a:r>
            <a:endParaRPr sz="28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23" name="Google Shape;223;h1a26b3ade1f5064_0_41"/>
          <p:cNvSpPr/>
          <p:nvPr/>
        </p:nvSpPr>
        <p:spPr>
          <a:xfrm>
            <a:off x="523875" y="1441906"/>
            <a:ext cx="11144400" cy="285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h1a26b3ade1f5064_0_41"/>
          <p:cNvSpPr txBox="1"/>
          <p:nvPr/>
        </p:nvSpPr>
        <p:spPr>
          <a:xfrm>
            <a:off x="534570" y="6519182"/>
            <a:ext cx="35124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25" name="Google Shape;225;h1a26b3ade1f5064_0_41"/>
          <p:cNvGraphicFramePr/>
          <p:nvPr>
            <p:extLst>
              <p:ext uri="{D42A27DB-BD31-4B8C-83A1-F6EECF244321}">
                <p14:modId xmlns:p14="http://schemas.microsoft.com/office/powerpoint/2010/main" val="3177596885"/>
              </p:ext>
            </p:extLst>
          </p:nvPr>
        </p:nvGraphicFramePr>
        <p:xfrm>
          <a:off x="534575" y="1640325"/>
          <a:ext cx="11047850" cy="4709635"/>
        </p:xfrm>
        <a:graphic>
          <a:graphicData uri="http://schemas.openxmlformats.org/drawingml/2006/table">
            <a:tbl>
              <a:tblPr>
                <a:noFill/>
                <a:tableStyleId>{A9091136-EE10-4E75-9FA9-5A00E9070E0E}</a:tableStyleId>
              </a:tblPr>
              <a:tblGrid>
                <a:gridCol w="106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>
                          <a:solidFill>
                            <a:schemeClr val="lt1"/>
                          </a:solidFill>
                        </a:rPr>
                        <a:t>ID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>
                          <a:solidFill>
                            <a:schemeClr val="lt1"/>
                          </a:solidFill>
                        </a:rPr>
                        <a:t>NOMBRE PRUEBA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L" b="1">
                          <a:solidFill>
                            <a:schemeClr val="lt1"/>
                          </a:solidFill>
                        </a:rPr>
                        <a:t>TIPO DE PRUEBA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b="1">
                          <a:solidFill>
                            <a:schemeClr val="lt1"/>
                          </a:solidFill>
                        </a:rPr>
                        <a:t>MÓDULO A PROBAR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1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CP-001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inicio de sesión del personal y página inicial según rol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CL">
                          <a:solidFill>
                            <a:schemeClr val="dk1"/>
                          </a:solidFill>
                        </a:rPr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>
                          <a:solidFill>
                            <a:schemeClr val="dk1"/>
                          </a:solidFill>
                        </a:rPr>
                        <a:t>Autenticación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CP-002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rechazo de credenciales inválidas del personal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Autenticación 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CP-003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que el garzón no pueda ejecutar operaciones de caja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Seguridad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CP-004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que cajera y garzón no accedan a funciones del administrador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Seguridad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CP-005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cierre de sesión del personal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Autenticación 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CP-006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creación de un usuario del personal con rol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dirty="0"/>
                        <a:t>Personal</a:t>
                      </a:r>
                      <a:endParaRPr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CP-007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baja de una persona sin eliminar su registro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dirty="0"/>
                        <a:t>Personal</a:t>
                      </a:r>
                      <a:endParaRPr dirty="0"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CP-008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alta de categoría y producto en el catálogo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dirty="0"/>
                        <a:t>Catálogo</a:t>
                      </a:r>
                      <a:endParaRPr dirty="0"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CP-009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cambio de precio de un producto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Catálogo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CP-010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Validar carga o reemplazo de la foto de un producto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Funcional</a:t>
                      </a:r>
                      <a:endParaRPr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dirty="0"/>
                        <a:t>Catálogo</a:t>
                      </a:r>
                      <a:endParaRPr dirty="0"/>
                    </a:p>
                  </a:txBody>
                  <a:tcPr marL="91425" marR="91425" marT="91425" marB="91425">
                    <a:lnL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9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226" name="Google Shape;226;h1a26b3ade1f5064_0_4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28900" y="168975"/>
            <a:ext cx="1780593" cy="127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h1a26b3ade1f5064_0_41"/>
          <p:cNvSpPr txBox="1"/>
          <p:nvPr/>
        </p:nvSpPr>
        <p:spPr>
          <a:xfrm>
            <a:off x="5890649" y="478125"/>
            <a:ext cx="14571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600" tIns="32300" rIns="64600" bIns="323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None/>
            </a:pPr>
            <a:r>
              <a:rPr lang="es-CL" sz="1272" b="1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s-CL" b="1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antidad Pruebas Funcionales</a:t>
            </a:r>
            <a:endParaRPr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None/>
            </a:pPr>
            <a:r>
              <a:rPr lang="es-CL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 76</a:t>
            </a:r>
            <a:endParaRPr b="1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h1a26b3ade1f5064_0_4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758475" y="168975"/>
            <a:ext cx="1780593" cy="127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h1a26b3ade1f5064_0_41"/>
          <p:cNvSpPr txBox="1"/>
          <p:nvPr/>
        </p:nvSpPr>
        <p:spPr>
          <a:xfrm>
            <a:off x="7758525" y="478125"/>
            <a:ext cx="17805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600" tIns="32300" rIns="64600" bIns="323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None/>
            </a:pPr>
            <a:r>
              <a:rPr lang="es-CL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Cantidad Pruebas No Funcionales</a:t>
            </a:r>
            <a:endParaRPr b="0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None/>
            </a:pPr>
            <a:r>
              <a:rPr lang="es-CL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L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1" i="0" u="none" strike="noStrike" cap="non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h1a26b3ade1f5064_0_4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88050" y="168976"/>
            <a:ext cx="1780600" cy="127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h1a26b3ade1f5064_0_41"/>
          <p:cNvSpPr txBox="1"/>
          <p:nvPr/>
        </p:nvSpPr>
        <p:spPr>
          <a:xfrm>
            <a:off x="10019557" y="507687"/>
            <a:ext cx="13176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600" tIns="32300" rIns="64600" bIns="323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None/>
            </a:pPr>
            <a:r>
              <a:rPr lang="es-CL" b="1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Total Casos de Pruebas </a:t>
            </a:r>
            <a:endParaRPr b="1">
              <a:solidFill>
                <a:srgbClr val="991B1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2"/>
              <a:buFont typeface="Arial"/>
              <a:buNone/>
            </a:pPr>
            <a:r>
              <a:rPr lang="es-CL" b="1" i="0" u="none" strike="noStrike" cap="none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L" b="1">
                <a:solidFill>
                  <a:srgbClr val="991B1B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1" i="0" u="none" strike="noStrike" cap="none">
              <a:solidFill>
                <a:srgbClr val="991B1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7" name="Google Shape;237;p5"/>
          <p:cNvGraphicFramePr/>
          <p:nvPr/>
        </p:nvGraphicFramePr>
        <p:xfrm>
          <a:off x="523870" y="1166983"/>
          <a:ext cx="11144225" cy="2671800"/>
        </p:xfrm>
        <a:graphic>
          <a:graphicData uri="http://schemas.openxmlformats.org/drawingml/2006/table">
            <a:tbl>
              <a:tblPr firstRow="1" bandRow="1">
                <a:noFill/>
                <a:tableStyleId>{A8F35838-A98F-4DEA-8A30-530A3DBC684E}</a:tableStyleId>
              </a:tblPr>
              <a:tblGrid>
                <a:gridCol w="2786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s-CL" sz="1600" b="0" i="0" u="none" strike="noStrike" cap="non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Actividad</a:t>
                      </a:r>
                      <a:endParaRPr sz="1200" b="0" i="0" u="none" strike="noStrike" cap="non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0" i="0" u="none" strike="noStrike" cap="non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Estado</a:t>
                      </a:r>
                      <a:endParaRPr sz="1200" b="0" i="0" u="none" strike="noStrike" cap="non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0" i="0" u="none" strike="noStrike" cap="non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Responsable</a:t>
                      </a:r>
                      <a:endParaRPr sz="1200" b="0" i="0" u="none" strike="noStrike" cap="non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s-CL" sz="1400" b="0" i="0" u="none" strike="noStrike" cap="non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Evidencia</a:t>
                      </a:r>
                      <a:r>
                        <a:rPr lang="es-CL" sz="1200" b="0" i="0" u="none" strike="noStrike" cap="non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 / </a:t>
                      </a:r>
                      <a:r>
                        <a:rPr lang="es-CL" sz="1400" b="0" i="0" u="none" strike="noStrike" cap="non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Producto</a:t>
                      </a:r>
                      <a:endParaRPr sz="1200" b="0" i="0" u="none" strike="noStrike" cap="non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Especificación de Requisitos ERS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Finalizada</a:t>
                      </a:r>
                      <a:endParaRPr sz="1200" b="1" i="0" u="none" strike="noStrike" cap="none">
                        <a:solidFill>
                          <a:srgbClr val="16A34A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23812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Documento ERS y KICK OFF firmado por cliente.</a:t>
                      </a:r>
                      <a:endParaRPr sz="1200" b="0" i="0" u="none" strike="noStrike" cap="non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Documentación Arquitectura DAS</a:t>
                      </a:r>
                      <a:endParaRPr sz="1200" b="0" i="0" u="none" strike="noStrike" cap="non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Finalizada</a:t>
                      </a:r>
                      <a:endParaRPr sz="1200" b="1" i="0" u="none" strike="noStrike" cap="none">
                        <a:solidFill>
                          <a:srgbClr val="16A34A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23812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Diseño casos de uso, diagramas de flujo, modelo de datos y mockup.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Modelo de Datos y API REST</a:t>
                      </a:r>
                      <a:endParaRPr sz="1200" b="0" i="0" u="none" strike="noStrike" cap="non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lang="es-CL" sz="1200" b="1" i="0" u="none" strike="noStrike" cap="non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Finalizada</a:t>
                      </a:r>
                      <a:endParaRPr sz="1200" b="1" i="0" u="none" strike="noStrike" cap="non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25717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Jerson Huaman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Script BD PostgreSQL, API Rest y endpoints para la página web y la app móvil.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Módulo Web POS Caja, Salón &amp; Admin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 Proceso</a:t>
                      </a:r>
                      <a:endParaRPr sz="1200" b="1" i="0" u="none" strike="noStrike" cap="non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25717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Alexia Cano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Pantallas Angular: estructura, rutas, servicios, sesión, guards y roles.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Módulo App Movil Carta &amp; Pedidos</a:t>
                      </a:r>
                      <a:endParaRPr sz="1200" b="0" i="0" u="none" strike="noStrike" cap="non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Pendiente</a:t>
                      </a:r>
                      <a:endParaRPr sz="1400" u="none" strike="noStrike" cap="none"/>
                    </a:p>
                  </a:txBody>
                  <a:tcPr marL="25717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Alexia Cano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Pantallas Setup Ionic + Angular + Capacitor, almacenamiento local y navegación.</a:t>
                      </a:r>
                      <a:endParaRPr sz="1200" b="0" i="0" u="none" strike="noStrike" cap="non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8" name="Google Shape;238;p5"/>
          <p:cNvSpPr/>
          <p:nvPr/>
        </p:nvSpPr>
        <p:spPr>
          <a:xfrm>
            <a:off x="523870" y="1597989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5"/>
          <p:cNvSpPr/>
          <p:nvPr/>
        </p:nvSpPr>
        <p:spPr>
          <a:xfrm>
            <a:off x="3309932" y="1597989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5"/>
          <p:cNvSpPr/>
          <p:nvPr/>
        </p:nvSpPr>
        <p:spPr>
          <a:xfrm>
            <a:off x="4981570" y="1597989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5"/>
          <p:cNvSpPr/>
          <p:nvPr/>
        </p:nvSpPr>
        <p:spPr>
          <a:xfrm>
            <a:off x="7210420" y="1597989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5"/>
          <p:cNvSpPr/>
          <p:nvPr/>
        </p:nvSpPr>
        <p:spPr>
          <a:xfrm>
            <a:off x="523870" y="2043283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5"/>
          <p:cNvSpPr/>
          <p:nvPr/>
        </p:nvSpPr>
        <p:spPr>
          <a:xfrm>
            <a:off x="3309932" y="2043283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4981570" y="2043283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7210420" y="2043283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523870" y="2488577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"/>
          <p:cNvSpPr/>
          <p:nvPr/>
        </p:nvSpPr>
        <p:spPr>
          <a:xfrm>
            <a:off x="3309932" y="2488577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4981570" y="2488577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7210420" y="2488577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523870" y="2933870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5"/>
          <p:cNvSpPr/>
          <p:nvPr/>
        </p:nvSpPr>
        <p:spPr>
          <a:xfrm>
            <a:off x="3309932" y="2933870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4981570" y="2933870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7210420" y="2933870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523870" y="3379164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5"/>
          <p:cNvSpPr/>
          <p:nvPr/>
        </p:nvSpPr>
        <p:spPr>
          <a:xfrm>
            <a:off x="3309932" y="3379164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4981570" y="3379164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5"/>
          <p:cNvSpPr/>
          <p:nvPr/>
        </p:nvSpPr>
        <p:spPr>
          <a:xfrm>
            <a:off x="7210420" y="3379164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5"/>
          <p:cNvSpPr/>
          <p:nvPr/>
        </p:nvSpPr>
        <p:spPr>
          <a:xfrm>
            <a:off x="523870" y="3824458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3309932" y="3824458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4981570" y="3824458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7210420" y="3824458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87483" y="354763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61616" y="3071219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373171" y="1755152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5"/>
          <p:cNvSpPr txBox="1"/>
          <p:nvPr/>
        </p:nvSpPr>
        <p:spPr>
          <a:xfrm>
            <a:off x="523874" y="283796"/>
            <a:ext cx="1166812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s-CL" sz="28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Seguimiento de Actividades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523874" y="883871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67" name="Google Shape;267;p5"/>
          <p:cNvGraphicFramePr/>
          <p:nvPr/>
        </p:nvGraphicFramePr>
        <p:xfrm>
          <a:off x="523870" y="3849458"/>
          <a:ext cx="11144225" cy="890600"/>
        </p:xfrm>
        <a:graphic>
          <a:graphicData uri="http://schemas.openxmlformats.org/drawingml/2006/table">
            <a:tbl>
              <a:tblPr firstRow="1" bandRow="1">
                <a:noFill/>
                <a:tableStyleId>{A8F35838-A98F-4DEA-8A30-530A3DBC684E}</a:tableStyleId>
              </a:tblPr>
              <a:tblGrid>
                <a:gridCol w="2786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Integración Impresora Térmica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Pendiente</a:t>
                      </a:r>
                      <a:endParaRPr sz="1200" b="1" i="0" u="none" strike="noStrike" cap="non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25717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Jerson / Alexia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Pruebas de impresión de comanda en formato ESC/POS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3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Pruebas de Carga &amp; Marcha Blanca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1" i="0" u="none" strike="noStrike" cap="non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Pendiente</a:t>
                      </a:r>
                      <a:endParaRPr sz="1400" u="none" strike="noStrike" cap="none"/>
                    </a:p>
                  </a:txBody>
                  <a:tcPr marL="257175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s-CL" sz="1200" b="0" i="0" u="none" strike="noStrike" cap="non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Informe de QA y Acta de Aceptación Cliente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68" name="Google Shape;268;p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62303" y="3967930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61617" y="441262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490794" y="4814818"/>
            <a:ext cx="2520000" cy="1838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40412" y="4790213"/>
            <a:ext cx="2520000" cy="18695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150422" y="4790212"/>
            <a:ext cx="2520000" cy="179617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"/>
          <p:cNvSpPr txBox="1"/>
          <p:nvPr/>
        </p:nvSpPr>
        <p:spPr>
          <a:xfrm>
            <a:off x="3773973" y="5126896"/>
            <a:ext cx="1925767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ACTIVIDADES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 PROCESO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800" b="1" i="0" u="none" strike="noStrike" cap="none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 txBox="1"/>
          <p:nvPr/>
        </p:nvSpPr>
        <p:spPr>
          <a:xfrm>
            <a:off x="6767484" y="5157584"/>
            <a:ext cx="1665856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ACTIVIDADES PENDIENTES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 b="1" i="0" u="none" strike="noStrike" cap="none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5"/>
          <p:cNvSpPr txBox="1"/>
          <p:nvPr/>
        </p:nvSpPr>
        <p:spPr>
          <a:xfrm>
            <a:off x="9543547" y="5126896"/>
            <a:ext cx="1733749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ACTIVIDADES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ATRASADAS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sz="1800" b="1" i="0" u="none" strike="noStrike" cap="none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p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31264" y="4827122"/>
            <a:ext cx="2520000" cy="1801524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5"/>
          <p:cNvSpPr txBox="1"/>
          <p:nvPr/>
        </p:nvSpPr>
        <p:spPr>
          <a:xfrm>
            <a:off x="763870" y="5157584"/>
            <a:ext cx="18645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ACTIVIDADES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FINALIZAS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L" sz="1800" b="1" i="0" u="none" strike="noStrike" cap="none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800" b="1" i="0" u="none" strike="noStrike" cap="none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5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362303" y="220044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362296" y="2644552"/>
            <a:ext cx="1238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7"/>
          <p:cNvSpPr/>
          <p:nvPr/>
        </p:nvSpPr>
        <p:spPr>
          <a:xfrm>
            <a:off x="412653" y="557064"/>
            <a:ext cx="6296860" cy="590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Poppins"/>
              <a:buNone/>
            </a:pPr>
            <a:r>
              <a:rPr lang="es-CL" sz="2800" b="1" i="0" u="none" strike="noStrike" cap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Conclusiones y Compromisos</a:t>
            </a:r>
            <a:endParaRPr sz="2600" b="1" i="0" u="none" strike="noStrike" cap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412653" y="1197167"/>
            <a:ext cx="11466706" cy="4571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9600" y="1447800"/>
            <a:ext cx="5372100" cy="4324350"/>
          </a:xfrm>
          <a:prstGeom prst="roundRect">
            <a:avLst>
              <a:gd name="adj" fmla="val 3083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7"/>
          <p:cNvSpPr/>
          <p:nvPr/>
        </p:nvSpPr>
        <p:spPr>
          <a:xfrm>
            <a:off x="6210300" y="1447800"/>
            <a:ext cx="5372100" cy="4324350"/>
          </a:xfrm>
          <a:prstGeom prst="roundRect">
            <a:avLst>
              <a:gd name="adj" fmla="val 3083"/>
            </a:avLst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7"/>
          <p:cNvSpPr/>
          <p:nvPr/>
        </p:nvSpPr>
        <p:spPr>
          <a:xfrm>
            <a:off x="847725" y="5244164"/>
            <a:ext cx="4895850" cy="443329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0" name="Google Shape;290;p7"/>
          <p:cNvSpPr/>
          <p:nvPr/>
        </p:nvSpPr>
        <p:spPr>
          <a:xfrm>
            <a:off x="6448425" y="5233988"/>
            <a:ext cx="4895850" cy="409575"/>
          </a:xfrm>
          <a:prstGeom prst="roundRect">
            <a:avLst>
              <a:gd name="adj" fmla="val 18604"/>
            </a:avLst>
          </a:prstGeom>
          <a:solidFill>
            <a:srgbClr val="F0FDF4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7"/>
          <p:cNvSpPr/>
          <p:nvPr/>
        </p:nvSpPr>
        <p:spPr>
          <a:xfrm>
            <a:off x="6448425" y="2181225"/>
            <a:ext cx="4895850" cy="866775"/>
          </a:xfrm>
          <a:prstGeom prst="roundRect">
            <a:avLst>
              <a:gd name="adj" fmla="val 10989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"/>
          <p:cNvSpPr/>
          <p:nvPr/>
        </p:nvSpPr>
        <p:spPr>
          <a:xfrm>
            <a:off x="6448425" y="3162300"/>
            <a:ext cx="4895850" cy="866775"/>
          </a:xfrm>
          <a:prstGeom prst="roundRect">
            <a:avLst>
              <a:gd name="adj" fmla="val 10989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7"/>
          <p:cNvSpPr/>
          <p:nvPr/>
        </p:nvSpPr>
        <p:spPr>
          <a:xfrm>
            <a:off x="6448425" y="4143375"/>
            <a:ext cx="4895850" cy="866775"/>
          </a:xfrm>
          <a:prstGeom prst="roundRect">
            <a:avLst>
              <a:gd name="adj" fmla="val 10989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7"/>
          <p:cNvSpPr/>
          <p:nvPr/>
        </p:nvSpPr>
        <p:spPr>
          <a:xfrm>
            <a:off x="6448425" y="2181225"/>
            <a:ext cx="38100" cy="8667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7"/>
          <p:cNvSpPr/>
          <p:nvPr/>
        </p:nvSpPr>
        <p:spPr>
          <a:xfrm>
            <a:off x="6448425" y="3162300"/>
            <a:ext cx="38100" cy="86677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7"/>
          <p:cNvSpPr/>
          <p:nvPr/>
        </p:nvSpPr>
        <p:spPr>
          <a:xfrm>
            <a:off x="6448425" y="4143375"/>
            <a:ext cx="38100" cy="8667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7725" y="1685925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0600" y="5369379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48425" y="1685925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577524" y="5387342"/>
            <a:ext cx="1143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42975" y="17811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47725" y="31908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24625" y="1781175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7"/>
          <p:cNvSpPr txBox="1"/>
          <p:nvPr/>
        </p:nvSpPr>
        <p:spPr>
          <a:xfrm>
            <a:off x="838200" y="6115050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s-CL" sz="1050" b="1" i="0" u="none" strike="noStrike" cap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7"/>
          <p:cNvSpPr txBox="1"/>
          <p:nvPr/>
        </p:nvSpPr>
        <p:spPr>
          <a:xfrm>
            <a:off x="6715125" y="5369379"/>
            <a:ext cx="4246108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1" i="0" u="none" strike="noStrike" cap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 Próxima reunión de seguimiento: VIERNES 0</a:t>
            </a:r>
            <a:r>
              <a:rPr lang="es-CL" sz="1100" b="1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9</a:t>
            </a:r>
            <a:r>
              <a:rPr lang="es-CL" sz="1100" b="1" i="0" u="none" strike="noStrike" cap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-10-2026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7"/>
          <p:cNvSpPr txBox="1"/>
          <p:nvPr/>
        </p:nvSpPr>
        <p:spPr>
          <a:xfrm>
            <a:off x="990600" y="5348940"/>
            <a:ext cx="46101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0" i="0" u="none" strike="noStrike" cap="non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Proyecto avanzando según cronograma sin retrasos en el calendario.</a:t>
            </a:r>
            <a:endParaRPr sz="1100" b="0" i="0" u="none" strike="noStrike" cap="none">
              <a:solidFill>
                <a:srgbClr val="47556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7" name="Google Shape;307;p7"/>
          <p:cNvSpPr txBox="1"/>
          <p:nvPr/>
        </p:nvSpPr>
        <p:spPr>
          <a:xfrm>
            <a:off x="1285875" y="1738312"/>
            <a:ext cx="20582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CL" sz="1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Análisis del Avance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7"/>
          <p:cNvSpPr txBox="1"/>
          <p:nvPr/>
        </p:nvSpPr>
        <p:spPr>
          <a:xfrm>
            <a:off x="6886575" y="1738312"/>
            <a:ext cx="466794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-CL" sz="1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Compromisos Próxima Semana (Semana </a:t>
            </a:r>
            <a:r>
              <a:rPr lang="es-CL" sz="1600" b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9</a:t>
            </a:r>
            <a:r>
              <a:rPr lang="es-CL" sz="1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7"/>
          <p:cNvSpPr txBox="1"/>
          <p:nvPr/>
        </p:nvSpPr>
        <p:spPr>
          <a:xfrm>
            <a:off x="1095375" y="3171825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Entregables Cumplidos: </a:t>
            </a:r>
            <a:r>
              <a:rPr lang="es-CL" sz="1200" b="0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Script BD PostgreSQL, Endpoints API REST base completados al 100%.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7"/>
          <p:cNvSpPr txBox="1"/>
          <p:nvPr/>
        </p:nvSpPr>
        <p:spPr>
          <a:xfrm>
            <a:off x="1095375" y="3808011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Hito Técnico Concluido: </a:t>
            </a:r>
            <a:r>
              <a:rPr lang="es-CL" sz="1200" b="0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Base de datos y arquitectura de backend listas para integración con interfaces de usuario.</a:t>
            </a:r>
            <a:endParaRPr sz="1200" b="0" i="0" u="none" strike="noStrike" cap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1" name="Google Shape;311;p7"/>
          <p:cNvSpPr txBox="1"/>
          <p:nvPr/>
        </p:nvSpPr>
        <p:spPr>
          <a:xfrm>
            <a:off x="1095375" y="4435298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Siguiente Fase: </a:t>
            </a:r>
            <a:r>
              <a:rPr lang="es-CL" sz="1200" b="0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Inicio formal del desarrollo interactivo de pantallas 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Móvil</a:t>
            </a:r>
            <a:r>
              <a:rPr lang="es-CL" sz="1200" b="0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sz="1200" b="0" i="0" u="none" strike="noStrike" cap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7"/>
          <p:cNvSpPr txBox="1"/>
          <p:nvPr/>
        </p:nvSpPr>
        <p:spPr>
          <a:xfrm>
            <a:off x="6638925" y="2533650"/>
            <a:ext cx="2773195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0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Vistas principales de administrador.</a:t>
            </a:r>
            <a:endParaRPr sz="1200" b="0" i="0" u="none" strike="noStrike" cap="non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3" name="Google Shape;313;p7"/>
          <p:cNvSpPr txBox="1"/>
          <p:nvPr/>
        </p:nvSpPr>
        <p:spPr>
          <a:xfrm>
            <a:off x="6638925" y="2743200"/>
            <a:ext cx="140904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Alexia Cano</a:t>
            </a:r>
            <a:endParaRPr sz="1200" b="1" i="0" u="none" strike="noStrike" cap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4" name="Google Shape;314;p7"/>
          <p:cNvSpPr txBox="1"/>
          <p:nvPr/>
        </p:nvSpPr>
        <p:spPr>
          <a:xfrm>
            <a:off x="6638925" y="3514725"/>
            <a:ext cx="2771593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0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Vistas principales de cajera, garzón.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7"/>
          <p:cNvSpPr txBox="1"/>
          <p:nvPr/>
        </p:nvSpPr>
        <p:spPr>
          <a:xfrm>
            <a:off x="6638925" y="3724275"/>
            <a:ext cx="140904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Alexia Cano</a:t>
            </a:r>
            <a:endParaRPr sz="1200" b="1" i="0" u="none" strike="noStrike" cap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6" name="Google Shape;316;p7"/>
          <p:cNvSpPr txBox="1"/>
          <p:nvPr/>
        </p:nvSpPr>
        <p:spPr>
          <a:xfrm>
            <a:off x="6638925" y="4495800"/>
            <a:ext cx="3860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0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Seguimiento actividades</a:t>
            </a:r>
            <a:r>
              <a:rPr lang="es-CL" sz="1200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 y</a:t>
            </a:r>
            <a:r>
              <a:rPr lang="es-CL" sz="1200" b="0" i="0" u="none" strike="noStrike" cap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 status proyecto.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7"/>
          <p:cNvSpPr txBox="1"/>
          <p:nvPr/>
        </p:nvSpPr>
        <p:spPr>
          <a:xfrm>
            <a:off x="6638925" y="4705350"/>
            <a:ext cx="165910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Karina Escobar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7"/>
          <p:cNvSpPr txBox="1"/>
          <p:nvPr/>
        </p:nvSpPr>
        <p:spPr>
          <a:xfrm>
            <a:off x="6638925" y="2314575"/>
            <a:ext cx="26616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Término </a:t>
            </a:r>
            <a:r>
              <a:rPr lang="es-CL" sz="12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Módulo Web Admin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7"/>
          <p:cNvSpPr txBox="1"/>
          <p:nvPr/>
        </p:nvSpPr>
        <p:spPr>
          <a:xfrm>
            <a:off x="6638925" y="3295650"/>
            <a:ext cx="3340658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Avance Módulo Web Caja &amp; Salón</a:t>
            </a:r>
            <a:endParaRPr sz="1200" b="1" i="0" u="none" strike="noStrike" cap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0" name="Google Shape;320;p7"/>
          <p:cNvSpPr txBox="1"/>
          <p:nvPr/>
        </p:nvSpPr>
        <p:spPr>
          <a:xfrm>
            <a:off x="6638925" y="4276725"/>
            <a:ext cx="204382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Mostrar Avance Semanal</a:t>
            </a:r>
            <a:endParaRPr sz="1200" b="1" i="0" u="none" strike="noStrike" cap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942975" y="2071562"/>
            <a:ext cx="4895850" cy="833563"/>
          </a:xfrm>
          <a:prstGeom prst="roundRect">
            <a:avLst>
              <a:gd name="adj" fmla="val 18604"/>
            </a:avLst>
          </a:prstGeom>
          <a:solidFill>
            <a:srgbClr val="002060"/>
          </a:solidFill>
          <a:ln w="9525" cap="flat" cmpd="sng">
            <a:solidFill>
              <a:srgbClr val="BBF7D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 txBox="1"/>
          <p:nvPr/>
        </p:nvSpPr>
        <p:spPr>
          <a:xfrm>
            <a:off x="1038225" y="2478823"/>
            <a:ext cx="1588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-CL" b="1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45</a:t>
            </a:r>
            <a:r>
              <a:rPr lang="es-CL" sz="1400" b="1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% Completado</a:t>
            </a:r>
            <a:endParaRPr sz="1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3" name="Google Shape;323;p7"/>
          <p:cNvSpPr txBox="1"/>
          <p:nvPr/>
        </p:nvSpPr>
        <p:spPr>
          <a:xfrm>
            <a:off x="4203973" y="2588325"/>
            <a:ext cx="13491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1" i="0" u="none" strike="noStrike" cap="none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Semana </a:t>
            </a:r>
            <a:r>
              <a:rPr lang="es-CL" sz="1100" b="1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r>
              <a:rPr lang="es-CL" sz="1100" b="1" i="0" u="none" strike="noStrike" cap="none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 de 18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7"/>
          <p:cNvSpPr txBox="1"/>
          <p:nvPr/>
        </p:nvSpPr>
        <p:spPr>
          <a:xfrm>
            <a:off x="1038225" y="2288323"/>
            <a:ext cx="2096728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CL" sz="1200" b="1" i="0" u="none" strike="noStrike" cap="non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Estado Global del Proyecto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7"/>
          <p:cNvSpPr/>
          <p:nvPr/>
        </p:nvSpPr>
        <p:spPr>
          <a:xfrm>
            <a:off x="3646714" y="2252559"/>
            <a:ext cx="1953986" cy="230981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7"/>
          <p:cNvSpPr txBox="1"/>
          <p:nvPr/>
        </p:nvSpPr>
        <p:spPr>
          <a:xfrm>
            <a:off x="3781085" y="2280586"/>
            <a:ext cx="1725385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1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 Semanas Desviación</a:t>
            </a:r>
            <a:endParaRPr sz="1100" b="1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7" name="Google Shape;327;p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38200" y="3819546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7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04863" y="4473979"/>
            <a:ext cx="1714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8"/>
          <p:cNvSpPr txBox="1"/>
          <p:nvPr/>
        </p:nvSpPr>
        <p:spPr>
          <a:xfrm>
            <a:off x="772380" y="2302317"/>
            <a:ext cx="104943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s-CL" sz="3400" b="1" i="0" u="none" strike="noStrike" cap="none" dirty="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¡Muchas gracias por su atención!</a:t>
            </a:r>
            <a:endParaRPr sz="3400" b="1" i="0" u="none" strike="noStrike" cap="none" dirty="0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1923785" y="4377630"/>
            <a:ext cx="819150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8"/>
          <p:cNvSpPr/>
          <p:nvPr/>
        </p:nvSpPr>
        <p:spPr>
          <a:xfrm>
            <a:off x="4785078" y="6035976"/>
            <a:ext cx="38100" cy="4571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8"/>
          <p:cNvSpPr/>
          <p:nvPr/>
        </p:nvSpPr>
        <p:spPr>
          <a:xfrm>
            <a:off x="7840436" y="6024768"/>
            <a:ext cx="38100" cy="4571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7" name="Google Shape;337;p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1861" y="6005441"/>
            <a:ext cx="190500" cy="14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06011" y="6005441"/>
            <a:ext cx="152400" cy="14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44486" y="6005441"/>
            <a:ext cx="133350" cy="1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8"/>
          <p:cNvSpPr txBox="1"/>
          <p:nvPr/>
        </p:nvSpPr>
        <p:spPr>
          <a:xfrm>
            <a:off x="2515209" y="5973399"/>
            <a:ext cx="187551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1" i="0" u="none" strike="noStrike" cap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Equipo de Desarrollo &amp; QA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8"/>
          <p:cNvSpPr txBox="1"/>
          <p:nvPr/>
        </p:nvSpPr>
        <p:spPr>
          <a:xfrm>
            <a:off x="5185128" y="5979390"/>
            <a:ext cx="2244204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1" i="0" u="none" strike="noStrike" cap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contacto@gastroconnect.com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8"/>
          <p:cNvSpPr txBox="1"/>
          <p:nvPr/>
        </p:nvSpPr>
        <p:spPr>
          <a:xfrm>
            <a:off x="8220355" y="5987342"/>
            <a:ext cx="121988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s-CL" sz="1100" b="1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Octubre </a:t>
            </a:r>
            <a:r>
              <a:rPr lang="es-CL" sz="1100" b="1" i="0" u="none" strike="noStrike" cap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8"/>
          <p:cNvSpPr/>
          <p:nvPr/>
        </p:nvSpPr>
        <p:spPr>
          <a:xfrm>
            <a:off x="2096861" y="6020698"/>
            <a:ext cx="38100" cy="4571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8"/>
          <p:cNvSpPr/>
          <p:nvPr/>
        </p:nvSpPr>
        <p:spPr>
          <a:xfrm>
            <a:off x="362647" y="5449128"/>
            <a:ext cx="11466706" cy="4571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5" name="Google Shape;345;p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70267" y="568187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8"/>
          <p:cNvSpPr/>
          <p:nvPr/>
        </p:nvSpPr>
        <p:spPr>
          <a:xfrm>
            <a:off x="3812814" y="445437"/>
            <a:ext cx="4746171" cy="304800"/>
          </a:xfrm>
          <a:prstGeom prst="roundRect">
            <a:avLst>
              <a:gd name="adj" fmla="val 50000"/>
            </a:avLst>
          </a:prstGeom>
          <a:solidFill>
            <a:srgbClr val="142B43"/>
          </a:solidFill>
          <a:ln w="9525" cap="flat" cmpd="sng">
            <a:solidFill>
              <a:srgbClr val="1B49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7" name="Google Shape;347;p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973041" y="526383"/>
            <a:ext cx="1143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8"/>
          <p:cNvSpPr txBox="1"/>
          <p:nvPr/>
        </p:nvSpPr>
        <p:spPr>
          <a:xfrm>
            <a:off x="4205723" y="501439"/>
            <a:ext cx="408605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s-CL" sz="1400" b="1" i="0" u="none" strike="noStrike" cap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GASTROCONNECT — RESTAURANTE MIRELLITA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8"/>
          <p:cNvSpPr txBox="1"/>
          <p:nvPr/>
        </p:nvSpPr>
        <p:spPr>
          <a:xfrm>
            <a:off x="1794650" y="3197975"/>
            <a:ext cx="89082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GastroConnect</a:t>
            </a:r>
            <a:r>
              <a:rPr lang="es-CL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Transformación digital inteligente e integral para el Restaurante </a:t>
            </a:r>
            <a:r>
              <a:rPr lang="es-CL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Mirellita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830</Words>
  <Application>Microsoft Office PowerPoint</Application>
  <PresentationFormat>Panorámica</PresentationFormat>
  <Paragraphs>182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2" baseType="lpstr">
      <vt:lpstr>Lato</vt:lpstr>
      <vt:lpstr>Poppins</vt:lpstr>
      <vt:lpstr>Poppins SemiBold</vt:lpstr>
      <vt:lpstr>Plus Jakarta Sans</vt:lpstr>
      <vt:lpstr>Calibri</vt:lpstr>
      <vt:lpstr>Arial</vt:lpstr>
      <vt:lpstr>Inter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Karina Escobar Navarro</cp:lastModifiedBy>
  <cp:revision>3</cp:revision>
  <dcterms:created xsi:type="dcterms:W3CDTF">2013-01-27T09:14:16Z</dcterms:created>
  <dcterms:modified xsi:type="dcterms:W3CDTF">2026-10-02T23:27:35Z</dcterms:modified>
</cp:coreProperties>
</file>