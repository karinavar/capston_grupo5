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dxa1TwlmJ040mZaKw76760FwD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FFD55D-5267-4BF4-99C4-03BB49CCF358}">
  <a:tblStyle styleId="{32FFD55D-5267-4BF4-99C4-03BB49CCF3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4D7E6A2-328E-4F0E-BDEB-F07164F917B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a26b3ade1f506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h1a26b3ade1f506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a26b3ade1f5064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h1a26b3ade1f5064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a26b3ade1f506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h1a26b3ade1f506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1a26b3ade1f506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h1a26b3ade1f506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1a26b3ade1f506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h1a26b3ade1f506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a26b3ade1f506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h1a26b3ade1f506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1a26b3ade1f5064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h1a26b3ade1f5064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11" Type="http://schemas.openxmlformats.org/officeDocument/2006/relationships/image" Target="../media/image28.png"/><Relationship Id="rId10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(POS)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-10-2026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1622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00947" y="5719432"/>
            <a:ext cx="18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145047" y="575718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344200" y="2287775"/>
            <a:ext cx="242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Plan de Trabajo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344197" y="2544960"/>
            <a:ext cx="2644955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del cronograma general de 18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344201" y="3306950"/>
            <a:ext cx="283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Porcentaje Cumplimiento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344201" y="3564127"/>
            <a:ext cx="363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 de avance actual v/s planificado.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344202" y="4326125"/>
            <a:ext cx="350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Diagramas Vista 4+1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344200" y="4583288"/>
            <a:ext cx="3823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principales diagramas de arquitectura.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25853" y="2287775"/>
            <a:ext cx="44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925850" y="2544938"/>
            <a:ext cx="35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25852" y="3306950"/>
            <a:ext cx="36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25847" y="3564135"/>
            <a:ext cx="357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del avance actual y compromisos para la próxima semana.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25857" y="4326125"/>
            <a:ext cx="230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25847" y="4583310"/>
            <a:ext cx="2205732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abierto de consultas y feedback.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72528" y="432613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19999" y="229731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225759" y="228542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6237666" y="32712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6220997" y="432613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h1a26b3ade1f5064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h1a26b3ade1f5064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 Plan de Trabajo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h1a26b3ade1f5064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h1a26b3ade1f5064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00" y="5348400"/>
            <a:ext cx="11437350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1a26b3ade1f5064_0_4"/>
          <p:cNvSpPr txBox="1"/>
          <p:nvPr/>
        </p:nvSpPr>
        <p:spPr>
          <a:xfrm>
            <a:off x="466435" y="5624068"/>
            <a:ext cx="1112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</a:t>
            </a:r>
            <a:r>
              <a:rPr b="1" lang="es-CL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semanas </a:t>
            </a:r>
            <a:r>
              <a:rPr b="0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b="0" i="0" sz="14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h1a26b3ade1f5064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h1a26b3ade1f506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400" y="1778151"/>
            <a:ext cx="11437350" cy="3285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50" y="5646550"/>
            <a:ext cx="11058526" cy="102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0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784775" y="5811467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avance general completado. Mantenemos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desviación en las actividades en relación del plazo planificado. Las tareas de levantamiento, análisis, diseño, base de datos y backend están concluidas. Actualmente nos encontramos en la etapa de desarrollo de fronted web. </a:t>
            </a:r>
            <a:endParaRPr b="0" i="0" sz="1400" u="none" cap="none" strike="noStrik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4534" y="1235505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4586" y="42997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10255487" y="1546171"/>
            <a:ext cx="112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9957596" y="3086808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0118851" y="45715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900" y="1091575"/>
            <a:ext cx="9135098" cy="448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h1a26b3ade1f5064_6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h1a26b3ade1f5064_6_0" title="Captura de pantalla 2026-10-02 1946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308" y="0"/>
            <a:ext cx="779138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/>
          <p:nvPr/>
        </p:nvSpPr>
        <p:spPr>
          <a:xfrm>
            <a:off x="523875" y="1441906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75" y="0"/>
            <a:ext cx="11479199" cy="6440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h1a26b3ade1f5064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h1a26b3ade1f5064_0_50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Diagrama Caso de Uso Cliente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h1a26b3ade1f5064_0_50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h1a26b3ade1f5064_0_5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h1a26b3ade1f5064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50" y="1567401"/>
            <a:ext cx="11745998" cy="48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h1a26b3ade1f5064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h1a26b3ade1f5064_0_1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Diagrama Caso de Uso Garzón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h1a26b3ade1f5064_0_1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1a26b3ade1f5064_0_1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h1a26b3ade1f5064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75" y="1890800"/>
            <a:ext cx="11839074" cy="34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h1a26b3ade1f506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h1a26b3ade1f5064_0_23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Diagrama Caso de Uso Cajero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h1a26b3ade1f5064_0_23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h1a26b3ade1f5064_0_23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h1a26b3ade1f5064_0_23"/>
          <p:cNvPicPr preferRelativeResize="0"/>
          <p:nvPr/>
        </p:nvPicPr>
        <p:blipFill rotWithShape="1">
          <a:blip r:embed="rId4">
            <a:alphaModFix/>
          </a:blip>
          <a:srcRect b="0" l="0" r="0" t="2676"/>
          <a:stretch/>
        </p:blipFill>
        <p:spPr>
          <a:xfrm>
            <a:off x="0" y="1569087"/>
            <a:ext cx="12191999" cy="4817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h1a26b3ade1f5064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h1a26b3ade1f5064_0_3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Diagrama Caso de Uso Administrador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h1a26b3ade1f5064_0_3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h1a26b3ade1f5064_0_3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h1a26b3ade1f5064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850" y="0"/>
            <a:ext cx="1143072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h1a26b3ade1f5064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h1a26b3ade1f5064_0_41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Casos de Prueba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h1a26b3ade1f5064_0_41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1a26b3ade1f5064_0_4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h1a26b3ade1f5064_0_41"/>
          <p:cNvGraphicFramePr/>
          <p:nvPr/>
        </p:nvGraphicFramePr>
        <p:xfrm>
          <a:off x="534575" y="16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{32FFD55D-5267-4BF4-99C4-03BB49CCF358}</a:tableStyleId>
              </a:tblPr>
              <a:tblGrid>
                <a:gridCol w="1060575"/>
                <a:gridCol w="6951200"/>
                <a:gridCol w="1630200"/>
                <a:gridCol w="1405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ID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NOMBRE PRUEBA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TIPO DE PRUEBA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MÓDULO A PROBAR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inicio de sesión del personal y página inicial según rol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Autenticación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CP-002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rechazo de credenciales inválidas del personal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Autenticación 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CP-003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que el garzón no pueda ejecutar operaciones de caja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Seguridad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CP-004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que cajera y garzón no accedan a funciones del administrador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Seguridad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CP-005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cierre de sesión del personal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Autenticación 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creación de un usuario del personal con rol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Personal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CP-007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baja de una persona sin eliminar su registro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Personal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CP-008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alta de categoría y producto en el catálogo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CP-009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cambio de precio de un producto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CP-010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Validar carga o reemplazo de la foto de un producto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Funcional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Catálogo</a:t>
                      </a:r>
                      <a:endParaRPr/>
                    </a:p>
                  </a:txBody>
                  <a:tcPr marT="91425" marB="91425" marR="91425" marL="91425">
                    <a:lnL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32" name="Google Shape;232;h1a26b3ade1f5064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8900" y="168975"/>
            <a:ext cx="1780593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h1a26b3ade1f5064_0_41"/>
          <p:cNvSpPr txBox="1"/>
          <p:nvPr/>
        </p:nvSpPr>
        <p:spPr>
          <a:xfrm>
            <a:off x="5890649" y="478125"/>
            <a:ext cx="14571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00" lIns="64600" spcFirstLastPara="1" rIns="64600" wrap="square" tIns="32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lang="es-CL" sz="1272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s-CL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antidad Pruebas Funcionales</a:t>
            </a:r>
            <a:endParaRPr b="0" i="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i="0" lang="es-CL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76</a:t>
            </a:r>
            <a:endParaRPr b="1" i="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h1a26b3ade1f5064_0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8475" y="168975"/>
            <a:ext cx="1780593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h1a26b3ade1f5064_0_41"/>
          <p:cNvSpPr txBox="1"/>
          <p:nvPr/>
        </p:nvSpPr>
        <p:spPr>
          <a:xfrm>
            <a:off x="7758525" y="478125"/>
            <a:ext cx="17805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00" lIns="64600" spcFirstLastPara="1" rIns="64600" wrap="square" tIns="32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lang="es-CL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Cantidad Pruebas No Funcionales</a:t>
            </a:r>
            <a:endParaRPr b="0" i="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i="0" lang="es-CL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i="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h1a26b3ade1f5064_0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8050" y="168976"/>
            <a:ext cx="1780600" cy="1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h1a26b3ade1f5064_0_41"/>
          <p:cNvSpPr txBox="1"/>
          <p:nvPr/>
        </p:nvSpPr>
        <p:spPr>
          <a:xfrm>
            <a:off x="10019557" y="507687"/>
            <a:ext cx="13176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00" lIns="64600" spcFirstLastPara="1" rIns="64600" wrap="square" tIns="32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lang="es-CL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Total Casos de </a:t>
            </a:r>
            <a:r>
              <a:rPr b="1" lang="es-CL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Pruebas </a:t>
            </a:r>
            <a:endParaRPr b="1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2"/>
              <a:buFont typeface="Arial"/>
              <a:buNone/>
            </a:pPr>
            <a:r>
              <a:rPr b="1" i="0" lang="es-CL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1" i="0" u="none" cap="none" strike="noStrike">
              <a:solidFill>
                <a:srgbClr val="99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5"/>
          <p:cNvGraphicFramePr/>
          <p:nvPr/>
        </p:nvGraphicFramePr>
        <p:xfrm>
          <a:off x="523870" y="1166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{14D7E6A2-328E-4F0E-BDEB-F07164F917B8}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s-CL" sz="16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b="0" i="0" lang="es-CL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b="0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b="0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Movil Carta &amp; Pedidos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5"/>
          <p:cNvSpPr/>
          <p:nvPr/>
        </p:nvSpPr>
        <p:spPr>
          <a:xfrm>
            <a:off x="523870" y="1597989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3309932" y="1597989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981570" y="1597989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7210420" y="1597989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523870" y="2043283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309932" y="2043283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981570" y="2043283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7210420" y="2043283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23870" y="2488577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3309932" y="2488577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4981570" y="2488577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210420" y="2488577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23870" y="2933870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3309932" y="2933870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4981570" y="2933870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7210420" y="2933870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23870" y="3379164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309932" y="3379164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981570" y="3379164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7210420" y="3379164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523870" y="3824458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3309932" y="3824458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981570" y="3824458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7210420" y="3824458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483" y="354763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1616" y="307121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3171" y="1755152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 txBox="1"/>
          <p:nvPr/>
        </p:nvSpPr>
        <p:spPr>
          <a:xfrm>
            <a:off x="523874" y="283796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523874" y="883871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5"/>
          <p:cNvGraphicFramePr/>
          <p:nvPr/>
        </p:nvGraphicFramePr>
        <p:xfrm>
          <a:off x="523870" y="38494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{14D7E6A2-328E-4F0E-BDEB-F07164F917B8}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Impresora Térmica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/ Alexia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impresión de comanda en formato ESC/POS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Carga &amp; Marcha Blanca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74" name="Google Shape;2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03" y="396793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1617" y="441262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0794" y="4814818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0412" y="4790213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50422" y="4790212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"/>
          <p:cNvSpPr txBox="1"/>
          <p:nvPr/>
        </p:nvSpPr>
        <p:spPr>
          <a:xfrm>
            <a:off x="3773973" y="5126896"/>
            <a:ext cx="19257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6767484" y="5157584"/>
            <a:ext cx="1665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9543547" y="5126896"/>
            <a:ext cx="17337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1264" y="4827122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"/>
          <p:cNvSpPr txBox="1"/>
          <p:nvPr/>
        </p:nvSpPr>
        <p:spPr>
          <a:xfrm>
            <a:off x="763870" y="5157584"/>
            <a:ext cx="1864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62303" y="220044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2296" y="2644552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/>
          <p:nvPr/>
        </p:nvSpPr>
        <p:spPr>
          <a:xfrm>
            <a:off x="412653" y="557064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12653" y="1197167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096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2103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47725" y="5244164"/>
            <a:ext cx="4895850" cy="443329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448425" y="5233988"/>
            <a:ext cx="4895850" cy="409575"/>
          </a:xfrm>
          <a:prstGeom prst="roundRect">
            <a:avLst>
              <a:gd fmla="val 1860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448425" y="218122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448425" y="3162300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448425" y="414337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448425" y="2181225"/>
            <a:ext cx="38100" cy="866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448425" y="3162300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448425" y="4143375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5369379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"/>
          <p:cNvSpPr txBox="1"/>
          <p:nvPr/>
        </p:nvSpPr>
        <p:spPr>
          <a:xfrm>
            <a:off x="838200" y="6115050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6715125" y="5369379"/>
            <a:ext cx="424610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VIERNES 0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-10-2026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990600" y="5348940"/>
            <a:ext cx="461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Proyecto avanzando según cronograma sin retrasos en el calendario.</a:t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1285875" y="1738312"/>
            <a:ext cx="20582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6886575" y="1738312"/>
            <a:ext cx="46679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</a:t>
            </a:r>
            <a:r>
              <a:rPr b="1" lang="es-CL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1095375" y="3171825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Script BD PostgreSQL, Endpoints API REST base completados al 100%.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1095375" y="3808011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Hito Técnico Concluido: 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Base de datos y arquitectura de backend listas para integración con interfaces de usuario.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1095375" y="4435298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Siguiente Fase: 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Inicio formal del desarrollo interactivo de pantallas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Móvil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6638925" y="2533650"/>
            <a:ext cx="277319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 administrador.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6638925" y="2743200"/>
            <a:ext cx="140904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6638925" y="3514725"/>
            <a:ext cx="277159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 cajera, garzón.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6638925" y="3724275"/>
            <a:ext cx="140904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6638925" y="4495800"/>
            <a:ext cx="386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Seguimiento actividades</a:t>
            </a: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 status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6638925" y="4705350"/>
            <a:ext cx="16591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6638925" y="2314575"/>
            <a:ext cx="266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Término </a:t>
            </a: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Módulo Web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6638925" y="3295650"/>
            <a:ext cx="334065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Módulo Web Caja &amp; Salón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6638925" y="4276725"/>
            <a:ext cx="204382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Mostrar Avance Semanal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942975" y="2071562"/>
            <a:ext cx="4895850" cy="833563"/>
          </a:xfrm>
          <a:prstGeom prst="roundRect">
            <a:avLst>
              <a:gd fmla="val 18604" name="adj"/>
            </a:avLst>
          </a:prstGeom>
          <a:solidFill>
            <a:srgbClr val="002060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1038225" y="2478823"/>
            <a:ext cx="158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CL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45</a:t>
            </a:r>
            <a:r>
              <a:rPr b="1" i="0" lang="es-CL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 Completado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4203973" y="2588325"/>
            <a:ext cx="134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Semana </a:t>
            </a:r>
            <a:r>
              <a:rPr b="1" lang="es-CL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b="1" i="0" lang="es-CL" sz="11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 de 1</a:t>
            </a:r>
            <a:r>
              <a:rPr b="1" lang="es-CL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1038225" y="2288323"/>
            <a:ext cx="209672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3646714" y="2252559"/>
            <a:ext cx="1953986" cy="230981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3781085" y="2280586"/>
            <a:ext cx="172538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 Semanas Desviación</a:t>
            </a:r>
            <a:endParaRPr b="1" i="0" sz="1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3" name="Google Shape;33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3819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4863" y="4473979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 txBox="1"/>
          <p:nvPr/>
        </p:nvSpPr>
        <p:spPr>
          <a:xfrm>
            <a:off x="772380" y="2302317"/>
            <a:ext cx="1049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34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gracias por su atención!</a:t>
            </a:r>
            <a:endParaRPr b="1" i="0" sz="3400" u="none" cap="none" strike="noStrik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3" name="Google Shape;3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Octubre </a:t>
            </a: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8"/>
          <p:cNvSpPr/>
          <p:nvPr/>
        </p:nvSpPr>
        <p:spPr>
          <a:xfrm>
            <a:off x="3812814" y="445437"/>
            <a:ext cx="4746171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8"/>
          <p:cNvSpPr txBox="1"/>
          <p:nvPr/>
        </p:nvSpPr>
        <p:spPr>
          <a:xfrm>
            <a:off x="4205723" y="501439"/>
            <a:ext cx="408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1794650" y="3197975"/>
            <a:ext cx="8908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 — Transformación digital inteligente e integral para el Restaurante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Shaolin Sushi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