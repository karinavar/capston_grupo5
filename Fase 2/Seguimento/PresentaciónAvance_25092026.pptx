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2000"/>
  <p:notesSz cx="6858000" cy="9144000"/>
  <p:embeddedFontLst>
    <p:embeddedFont>
      <p:font typeface="Poppins"/>
      <p:regular r:id="rId15"/>
      <p:bold r:id="rId16"/>
      <p:italic r:id="rId17"/>
      <p:boldItalic r:id="rId18"/>
    </p:embeddedFont>
    <p:embeddedFont>
      <p:font typeface="Plus Jakarta Sans"/>
      <p:regular r:id="rId19"/>
      <p:bold r:id="rId20"/>
      <p:italic r:id="rId21"/>
      <p:boldItalic r:id="rId22"/>
    </p:embeddedFont>
    <p:embeddedFont>
      <p:font typeface="Inter"/>
      <p:regular r:id="rId23"/>
      <p:bold r:id="rId24"/>
      <p:italic r:id="rId25"/>
      <p:boldItalic r:id="rId26"/>
    </p:embeddedFont>
    <p:embeddedFont>
      <p:font typeface="Lato"/>
      <p:regular r:id="rId27"/>
      <p:bold r:id="rId28"/>
      <p:italic r:id="rId29"/>
      <p:boldItalic r:id="rId30"/>
    </p:embeddedFont>
    <p:embeddedFont>
      <p:font typeface="Poppins SemiBold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35" roundtripDataSignature="AMtx7mhMX3eCgtQ3Piiz5uHEfzVi06EW1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7DA556-D211-4F93-8EE0-637CD176BB05}">
  <a:tblStyle styleId="{987DA556-D211-4F93-8EE0-637CD176BB0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usJakartaSans-bold.fntdata"/><Relationship Id="rId22" Type="http://schemas.openxmlformats.org/officeDocument/2006/relationships/font" Target="fonts/PlusJakartaSans-boldItalic.fntdata"/><Relationship Id="rId21" Type="http://schemas.openxmlformats.org/officeDocument/2006/relationships/font" Target="fonts/PlusJakartaSans-italic.fntdata"/><Relationship Id="rId24" Type="http://schemas.openxmlformats.org/officeDocument/2006/relationships/font" Target="fonts/Inter-bold.fntdata"/><Relationship Id="rId23" Type="http://schemas.openxmlformats.org/officeDocument/2006/relationships/font" Target="fonts/Inter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boldItalic.fntdata"/><Relationship Id="rId25" Type="http://schemas.openxmlformats.org/officeDocument/2006/relationships/font" Target="fonts/Inter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PoppinsSemiBold-regular.fntdata"/><Relationship Id="rId30" Type="http://schemas.openxmlformats.org/officeDocument/2006/relationships/font" Target="fonts/Lato-boldItalic.fntdata"/><Relationship Id="rId11" Type="http://schemas.openxmlformats.org/officeDocument/2006/relationships/slide" Target="slides/slide5.xml"/><Relationship Id="rId33" Type="http://schemas.openxmlformats.org/officeDocument/2006/relationships/font" Target="fonts/PoppinsSemiBold-italic.fntdata"/><Relationship Id="rId10" Type="http://schemas.openxmlformats.org/officeDocument/2006/relationships/slide" Target="slides/slide4.xml"/><Relationship Id="rId32" Type="http://schemas.openxmlformats.org/officeDocument/2006/relationships/font" Target="fonts/PoppinsSemiBold-bold.fntdata"/><Relationship Id="rId13" Type="http://schemas.openxmlformats.org/officeDocument/2006/relationships/slide" Target="slides/slide7.xml"/><Relationship Id="rId35" Type="http://customschemas.google.com/relationships/presentationmetadata" Target="metadata"/><Relationship Id="rId12" Type="http://schemas.openxmlformats.org/officeDocument/2006/relationships/slide" Target="slides/slide6.xml"/><Relationship Id="rId34" Type="http://schemas.openxmlformats.org/officeDocument/2006/relationships/font" Target="fonts/PoppinsSemiBold-boldItalic.fntdata"/><Relationship Id="rId15" Type="http://schemas.openxmlformats.org/officeDocument/2006/relationships/font" Target="fonts/Poppins-regular.fntdata"/><Relationship Id="rId14" Type="http://schemas.openxmlformats.org/officeDocument/2006/relationships/slide" Target="slides/slide8.xml"/><Relationship Id="rId17" Type="http://schemas.openxmlformats.org/officeDocument/2006/relationships/font" Target="fonts/Poppins-italic.fntdata"/><Relationship Id="rId16" Type="http://schemas.openxmlformats.org/officeDocument/2006/relationships/font" Target="fonts/Poppins-bold.fntdata"/><Relationship Id="rId19" Type="http://schemas.openxmlformats.org/officeDocument/2006/relationships/font" Target="fonts/PlusJakartaSans-regular.fntdata"/><Relationship Id="rId18" Type="http://schemas.openxmlformats.org/officeDocument/2006/relationships/font" Target="fonts/Poppins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L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7.png"/><Relationship Id="rId6" Type="http://schemas.openxmlformats.org/officeDocument/2006/relationships/image" Target="../media/image5.png"/><Relationship Id="rId7" Type="http://schemas.openxmlformats.org/officeDocument/2006/relationships/image" Target="../media/image37.png"/><Relationship Id="rId8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6.png"/><Relationship Id="rId11" Type="http://schemas.openxmlformats.org/officeDocument/2006/relationships/image" Target="../media/image18.png"/><Relationship Id="rId10" Type="http://schemas.openxmlformats.org/officeDocument/2006/relationships/image" Target="../media/image19.png"/><Relationship Id="rId9" Type="http://schemas.openxmlformats.org/officeDocument/2006/relationships/image" Target="../media/image37.png"/><Relationship Id="rId5" Type="http://schemas.openxmlformats.org/officeDocument/2006/relationships/image" Target="../media/image12.png"/><Relationship Id="rId6" Type="http://schemas.openxmlformats.org/officeDocument/2006/relationships/image" Target="../media/image14.png"/><Relationship Id="rId7" Type="http://schemas.openxmlformats.org/officeDocument/2006/relationships/image" Target="../media/image7.png"/><Relationship Id="rId8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9" Type="http://schemas.openxmlformats.org/officeDocument/2006/relationships/image" Target="../media/image20.png"/><Relationship Id="rId5" Type="http://schemas.openxmlformats.org/officeDocument/2006/relationships/image" Target="../media/image7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Relationship Id="rId8" Type="http://schemas.openxmlformats.org/officeDocument/2006/relationships/image" Target="../media/image3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11" Type="http://schemas.openxmlformats.org/officeDocument/2006/relationships/image" Target="../media/image33.png"/><Relationship Id="rId10" Type="http://schemas.openxmlformats.org/officeDocument/2006/relationships/image" Target="../media/image25.png"/><Relationship Id="rId9" Type="http://schemas.openxmlformats.org/officeDocument/2006/relationships/image" Target="../media/image32.png"/><Relationship Id="rId5" Type="http://schemas.openxmlformats.org/officeDocument/2006/relationships/image" Target="../media/image26.png"/><Relationship Id="rId6" Type="http://schemas.openxmlformats.org/officeDocument/2006/relationships/image" Target="../media/image30.png"/><Relationship Id="rId7" Type="http://schemas.openxmlformats.org/officeDocument/2006/relationships/image" Target="../media/image36.png"/><Relationship Id="rId8" Type="http://schemas.openxmlformats.org/officeDocument/2006/relationships/image" Target="../media/image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1.png"/><Relationship Id="rId4" Type="http://schemas.openxmlformats.org/officeDocument/2006/relationships/image" Target="../media/image27.png"/><Relationship Id="rId5" Type="http://schemas.openxmlformats.org/officeDocument/2006/relationships/image" Target="../media/image29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9" name="Google Shape;8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42112" y="4384940"/>
            <a:ext cx="6400801" cy="647997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4942114" y="2237333"/>
            <a:ext cx="6553200" cy="6668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45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GastroConnect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4942114" y="2989808"/>
            <a:ext cx="6553200" cy="323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100" u="none" cap="none" strike="noStrike">
                <a:solidFill>
                  <a:srgbClr val="2563E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Sistema Integral de Gestión Operativa y Pedidos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4942113" y="3580358"/>
            <a:ext cx="6400801" cy="5027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78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400" u="none" cap="none" strike="noStrik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Plataforma omnicanal para optimización del flujo en salón, punto de venta (POS) y canal de pedidos cliente para </a:t>
            </a:r>
            <a:r>
              <a:rPr b="1" i="0" lang="es-CL" sz="1400" u="none" cap="none" strike="noStrik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Restaurante Mirellita</a:t>
            </a:r>
            <a:r>
              <a:rPr b="0" i="0" lang="es-CL" sz="1400" u="none" cap="none" strike="noStrik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b="0" i="0" sz="1400" u="none" cap="none" strike="noStrike">
              <a:solidFill>
                <a:srgbClr val="47556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942114" y="4530626"/>
            <a:ext cx="1447800" cy="169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975" u="none" cap="none" strike="noStrik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CLIENTE OBJETIVO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4942114" y="4748212"/>
            <a:ext cx="1733550" cy="20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Restaurante Mirellita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7045890" y="4530626"/>
            <a:ext cx="1733550" cy="169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975" u="none" cap="none" strike="noStrik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FECHA DE REVISIÓN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7045890" y="4748212"/>
            <a:ext cx="1733550" cy="20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25-09-2026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8694964" y="4530626"/>
            <a:ext cx="2447925" cy="1696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975" u="none" cap="none" strike="noStrik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AUTORES</a:t>
            </a:r>
            <a:endParaRPr b="1" i="0" sz="975" u="none" cap="none" strike="noStrik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8694964" y="4748212"/>
            <a:ext cx="2447925" cy="2065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Equipo GastroConnect</a:t>
            </a:r>
            <a:endParaRPr b="1" i="0" sz="1200" u="none" cap="none" strike="noStrik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6772084" y="6604907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 cap="none" strike="noStrik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pic>
        <p:nvPicPr>
          <p:cNvPr id="100" name="Google Shape;100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-8" y="0"/>
            <a:ext cx="4547616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/>
        </p:nvSpPr>
        <p:spPr>
          <a:xfrm>
            <a:off x="534572" y="1124438"/>
            <a:ext cx="11668125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550" u="none" cap="none" strike="noStrik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Agenda de la Presentación</a:t>
            </a:r>
            <a:endParaRPr b="1" i="0" sz="2550" u="none" cap="none" strike="noStrik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534572" y="1724513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9477375" y="796230"/>
            <a:ext cx="2105025" cy="342900"/>
          </a:xfrm>
          <a:prstGeom prst="roundRect">
            <a:avLst>
              <a:gd fmla="val 50000" name="adj"/>
            </a:avLst>
          </a:prstGeom>
          <a:solidFill>
            <a:srgbClr val="EFF6FF"/>
          </a:solidFill>
          <a:ln cap="flat" cmpd="sng" w="9525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39300" y="89148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9867900" y="881955"/>
            <a:ext cx="194071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 cap="none" strike="noStrike">
                <a:solidFill>
                  <a:srgbClr val="1E40A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Hoja de Ruta de la Sesión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534572" y="5633357"/>
            <a:ext cx="10972800" cy="419100"/>
          </a:xfrm>
          <a:prstGeom prst="roundRect">
            <a:avLst>
              <a:gd fmla="val 22727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534572" y="2068710"/>
            <a:ext cx="5391300" cy="866700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534572" y="3087885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/>
          <p:nvPr/>
        </p:nvSpPr>
        <p:spPr>
          <a:xfrm>
            <a:off x="534572" y="410706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6116222" y="206871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6116222" y="3087885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6116222" y="4107060"/>
            <a:ext cx="5391150" cy="866775"/>
          </a:xfrm>
          <a:prstGeom prst="roundRect">
            <a:avLst>
              <a:gd fmla="val 1538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00947" y="5719432"/>
            <a:ext cx="189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Duración estimada: 10 minutos</a:t>
            </a:r>
            <a:endParaRPr b="0" i="0" sz="1050" u="none" cap="none" strike="noStrike">
              <a:solidFill>
                <a:srgbClr val="475569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8145047" y="5757182"/>
            <a:ext cx="395287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286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475569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Espacio para preguntas al finalizar la exposición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1344200" y="2287775"/>
            <a:ext cx="2426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Roadmap </a:t>
            </a: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de Trabajo</a:t>
            </a:r>
            <a:endParaRPr b="1" i="0" sz="13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1344197" y="2544960"/>
            <a:ext cx="2644955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del cronograma general de 18 semanas.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1344201" y="3306950"/>
            <a:ext cx="2834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Porcentaje Cumplimiento</a:t>
            </a:r>
            <a:endParaRPr b="1" i="0" sz="13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1344201" y="3564127"/>
            <a:ext cx="3633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Comparativa de avance actual vs planificado.</a:t>
            </a:r>
            <a:endParaRPr b="0" i="0" sz="1050" u="none" cap="none" strike="noStrik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1344202" y="4326125"/>
            <a:ext cx="3507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Seguimiento de Actividades</a:t>
            </a:r>
            <a:endParaRPr b="1" i="0" sz="1350" u="none" cap="none" strike="noStrik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1344197" y="4583310"/>
            <a:ext cx="3823162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 cap="none" strike="noStrik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Revisión de entregables finalizados, en proceso y pendientes.</a:t>
            </a:r>
            <a:endParaRPr b="0" i="0" sz="1050" u="none" cap="none" strike="noStrik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6925853" y="2287775"/>
            <a:ext cx="4459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 cap="none" strike="noStrike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de Riesgos y Mitigación</a:t>
            </a:r>
            <a:endParaRPr/>
          </a:p>
        </p:txBody>
      </p:sp>
      <p:sp>
        <p:nvSpPr>
          <p:cNvPr id="126" name="Google Shape;126;p2"/>
          <p:cNvSpPr txBox="1"/>
          <p:nvPr/>
        </p:nvSpPr>
        <p:spPr>
          <a:xfrm>
            <a:off x="6925847" y="2544960"/>
            <a:ext cx="3507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5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de riesgos, estrategias y cumplimiento de plazos</a:t>
            </a:r>
            <a:r>
              <a:rPr b="0" i="0" lang="es-CL" sz="1050" u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.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6925852" y="3306950"/>
            <a:ext cx="3633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Conclusiones y Compromisos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6925847" y="3564135"/>
            <a:ext cx="3571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05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Balance del avance actual y compromisos para la próxima semana.</a:t>
            </a:r>
            <a:endParaRPr b="0" i="0" sz="1050" u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25857" y="4326125"/>
            <a:ext cx="2302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3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Preguntas</a:t>
            </a:r>
            <a:endParaRPr b="1" i="0" sz="1350" u="none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25847" y="4583310"/>
            <a:ext cx="2205732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050" u="none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Espacio abierto de consultas y feedback.</a:t>
            </a:r>
            <a:endParaRPr b="0" i="0" sz="1050" u="none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31" name="Google Shape;131;p2"/>
          <p:cNvSpPr/>
          <p:nvPr/>
        </p:nvSpPr>
        <p:spPr>
          <a:xfrm>
            <a:off x="762874" y="2312915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763025" y="3306960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763025" y="4370102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6368634" y="2312915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/>
          <p:nvPr/>
        </p:nvSpPr>
        <p:spPr>
          <a:xfrm>
            <a:off x="6380541" y="3295074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"/>
          <p:cNvSpPr/>
          <p:nvPr/>
        </p:nvSpPr>
        <p:spPr>
          <a:xfrm>
            <a:off x="6372528" y="4326135"/>
            <a:ext cx="419100" cy="419100"/>
          </a:xfrm>
          <a:prstGeom prst="roundRect">
            <a:avLst>
              <a:gd fmla="val 2272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619999" y="2297310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01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619999" y="3277237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02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619999" y="4347226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03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25759" y="2285424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04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237666" y="3271262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05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6220997" y="4326135"/>
            <a:ext cx="7048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350" u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06</a:t>
            </a:r>
            <a:endParaRPr/>
          </a:p>
        </p:txBody>
      </p:sp>
      <p:pic>
        <p:nvPicPr>
          <p:cNvPr descr="image.png" id="143" name="Google Shape;14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957" y="5733562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4" name="Google Shape;14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45047" y="5785757"/>
            <a:ext cx="17145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0" name="Google Shape;15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3"/>
          <p:cNvSpPr txBox="1"/>
          <p:nvPr/>
        </p:nvSpPr>
        <p:spPr>
          <a:xfrm>
            <a:off x="523875" y="841831"/>
            <a:ext cx="11668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8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Roadmap </a:t>
            </a:r>
            <a:r>
              <a:rPr b="1" i="0" lang="es-CL" sz="280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Plan de Trabajo</a:t>
            </a:r>
            <a:endParaRPr b="1" i="0" sz="2800" u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523875" y="1441906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53" name="Google Shape;15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5348409"/>
            <a:ext cx="11144250" cy="76676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"/>
          <p:cNvSpPr txBox="1"/>
          <p:nvPr/>
        </p:nvSpPr>
        <p:spPr>
          <a:xfrm>
            <a:off x="466435" y="5624068"/>
            <a:ext cx="11122414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400">
                <a:solidFill>
                  <a:srgbClr val="00B050"/>
                </a:solidFill>
                <a:latin typeface="Poppins"/>
                <a:ea typeface="Poppins"/>
                <a:cs typeface="Poppins"/>
                <a:sym typeface="Poppins"/>
              </a:rPr>
              <a:t>Plan de 18 semanas </a:t>
            </a:r>
            <a:r>
              <a:rPr lang="es-CL" sz="1400">
                <a:solidFill>
                  <a:srgbClr val="00B050"/>
                </a:solidFill>
                <a:latin typeface="Poppins"/>
                <a:ea typeface="Poppins"/>
                <a:cs typeface="Poppins"/>
                <a:sym typeface="Poppins"/>
              </a:rPr>
              <a:t>calendario para diseñar, desarrollar, integrar, validar y entregar la plataforma tecnológica propuesta.</a:t>
            </a:r>
            <a:endParaRPr b="0" i="0" sz="1400" u="none">
              <a:solidFill>
                <a:srgbClr val="00B05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pic>
        <p:nvPicPr>
          <p:cNvPr id="156" name="Google Shape;156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874" y="1874492"/>
            <a:ext cx="11144251" cy="29084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4"/>
          <p:cNvSpPr txBox="1"/>
          <p:nvPr/>
        </p:nvSpPr>
        <p:spPr>
          <a:xfrm>
            <a:off x="523875" y="428625"/>
            <a:ext cx="11668125" cy="3924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55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Porcentaje Cumplimiento</a:t>
            </a:r>
            <a:endParaRPr b="1" i="0" sz="2550" u="none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523875" y="1028700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63" name="Google Shape;16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6750" y="5646550"/>
            <a:ext cx="11058526" cy="1024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1900" y="5811464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"/>
          <p:cNvSpPr txBox="1"/>
          <p:nvPr/>
        </p:nvSpPr>
        <p:spPr>
          <a:xfrm>
            <a:off x="784775" y="5811467"/>
            <a:ext cx="10772700" cy="7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42875" spcFirstLastPara="1" rIns="0" wrap="square" tIns="0">
            <a:spAutoFit/>
          </a:bodyPr>
          <a:lstStyle/>
          <a:p>
            <a:pPr indent="0" lvl="0" marL="0" marR="0" rtl="0" algn="just">
              <a:lnSpc>
                <a:spcPct val="124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Estado Global del Cronograma: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 Nos encontramos en la semana 7 con un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8% de avance general completado. 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Mantenemos un 2% de desviación en las actividades en relación del plazo planificado. 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Las tareas de levantamiento, análisis</a:t>
            </a:r>
            <a:r>
              <a:rPr lang="es-CL" sz="1400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,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 diseño, base de datos y backend están concluidas</a:t>
            </a:r>
            <a:r>
              <a:rPr lang="es-CL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b="0" i="0" lang="es-CL" sz="1400" u="none">
                <a:solidFill>
                  <a:srgbClr val="002060"/>
                </a:solidFill>
                <a:latin typeface="Inter"/>
                <a:ea typeface="Inter"/>
                <a:cs typeface="Inter"/>
                <a:sym typeface="Inter"/>
              </a:rPr>
              <a:t> Actualmente nos encontramos en la etapa de desarrollo de fronted web. </a:t>
            </a:r>
            <a:endParaRPr b="0" i="0" sz="1400" u="none">
              <a:solidFill>
                <a:srgbClr val="00206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166" name="Google Shape;16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4584" y="1298980"/>
            <a:ext cx="1587146" cy="113463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014585" y="2784597"/>
            <a:ext cx="1587146" cy="11346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014586" y="4270215"/>
            <a:ext cx="1587145" cy="1131266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"/>
          <p:cNvSpPr txBox="1"/>
          <p:nvPr/>
        </p:nvSpPr>
        <p:spPr>
          <a:xfrm>
            <a:off x="10255537" y="1609646"/>
            <a:ext cx="112406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SEMANA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7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 txBox="1"/>
          <p:nvPr/>
        </p:nvSpPr>
        <p:spPr>
          <a:xfrm>
            <a:off x="9957596" y="3086808"/>
            <a:ext cx="1701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CUMPLIMIENTO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   38%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 txBox="1"/>
          <p:nvPr/>
        </p:nvSpPr>
        <p:spPr>
          <a:xfrm>
            <a:off x="10118851" y="4542094"/>
            <a:ext cx="1397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DESVIACIÓN</a:t>
            </a: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002060"/>
                </a:solidFill>
                <a:latin typeface="Calibri"/>
                <a:ea typeface="Calibri"/>
                <a:cs typeface="Calibri"/>
                <a:sym typeface="Calibri"/>
              </a:rPr>
              <a:t>          2%</a:t>
            </a:r>
            <a:endParaRPr sz="1800">
              <a:solidFill>
                <a:srgbClr val="00206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2" name="Google Shape;172;p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3875" y="1298975"/>
            <a:ext cx="9301001" cy="4102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7" name="Google Shape;17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8" name="Google Shape;178;p5"/>
          <p:cNvGraphicFramePr/>
          <p:nvPr/>
        </p:nvGraphicFramePr>
        <p:xfrm>
          <a:off x="523870" y="116698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{987DA556-D211-4F93-8EE0-637CD176BB05}</a:tableStyleId>
              </a:tblPr>
              <a:tblGrid>
                <a:gridCol w="2786050"/>
                <a:gridCol w="1671625"/>
                <a:gridCol w="2228850"/>
                <a:gridCol w="4457700"/>
              </a:tblGrid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6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Actividad</a:t>
                      </a:r>
                      <a:endParaRPr b="0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Estado</a:t>
                      </a:r>
                      <a:endParaRPr b="0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Responsable</a:t>
                      </a:r>
                      <a:endParaRPr b="0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Evidencia</a:t>
                      </a:r>
                      <a:r>
                        <a:rPr b="0" i="0" lang="es-CL" sz="12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 / </a:t>
                      </a:r>
                      <a:r>
                        <a:rPr b="0" i="0" lang="es-CL" sz="1400" u="none" cap="none" strike="noStrike">
                          <a:solidFill>
                            <a:srgbClr val="FFFFFF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Producto</a:t>
                      </a:r>
                      <a:endParaRPr b="0" i="0" sz="1200" u="none" cap="none" strike="noStrike">
                        <a:solidFill>
                          <a:srgbClr val="FFFFFF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Especificación de Requisitos ERS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Finalizada</a:t>
                      </a:r>
                      <a:endParaRPr b="1" i="0" sz="1200" u="none" cap="none" strike="noStrike">
                        <a:solidFill>
                          <a:srgbClr val="16A34A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Documento ERS y KICK OFF firmado por cliente.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Documentación Arquitectura DAS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Finalizada</a:t>
                      </a:r>
                      <a:endParaRPr b="1" i="0" sz="1200" u="none" cap="none" strike="noStrike">
                        <a:solidFill>
                          <a:srgbClr val="16A34A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3812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Diseño casos de uso, diagramas de flujo, modelo de datos y mockup.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Modelo de Datos y API REST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r>
                        <a:rPr b="1" i="0" lang="es-CL" sz="1200" u="none" cap="none" strike="noStrike">
                          <a:solidFill>
                            <a:srgbClr val="16A34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Finalizada</a:t>
                      </a:r>
                      <a:endParaRPr b="1" i="0" sz="1200" u="none" cap="none" strike="noStrik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Jerson Huaman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Script BD PostgreSQL, API Rest y endpoints para la página web y la app móvil.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Módulo Web POS Caja, Salón &amp; Admin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2563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 Proceso</a:t>
                      </a:r>
                      <a:endParaRPr b="1" i="0" sz="1200" u="none" cap="none" strike="noStrik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Alexia Cano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Pantallas Angular: estructura, rutas, servicios, sesión, guards y roles.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Módulo App Movil Carta &amp; Pedidos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Pendiente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Alexia Cano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Pantallas Setup Ionic + Angular + Capacitor, almacenamiento local y navegación.</a:t>
                      </a:r>
                      <a:endParaRPr b="0" i="0" sz="1200" u="none" cap="none" strike="noStrike">
                        <a:solidFill>
                          <a:srgbClr val="334155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9" name="Google Shape;179;p5"/>
          <p:cNvSpPr/>
          <p:nvPr/>
        </p:nvSpPr>
        <p:spPr>
          <a:xfrm>
            <a:off x="523870" y="1597989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5"/>
          <p:cNvSpPr/>
          <p:nvPr/>
        </p:nvSpPr>
        <p:spPr>
          <a:xfrm>
            <a:off x="3309932" y="1597989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4981570" y="1597989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7210420" y="1597989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523870" y="2043283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3309932" y="2043283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4981570" y="2043283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7210420" y="2043283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523870" y="2488577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/>
          <p:nvPr/>
        </p:nvSpPr>
        <p:spPr>
          <a:xfrm>
            <a:off x="3309932" y="2488577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4981570" y="2488577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7210420" y="2488577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523870" y="2933870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3309932" y="2933870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4981570" y="2933870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7210420" y="2933870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523870" y="3379164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3309932" y="3379164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4981570" y="3379164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7210420" y="3379164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523870" y="3824458"/>
            <a:ext cx="27860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309932" y="3824458"/>
            <a:ext cx="167163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4981570" y="3824458"/>
            <a:ext cx="2228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7210420" y="3824458"/>
            <a:ext cx="44577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3" name="Google Shape;203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87483" y="354763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61616" y="3071219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73171" y="1755152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5"/>
          <p:cNvSpPr txBox="1"/>
          <p:nvPr/>
        </p:nvSpPr>
        <p:spPr>
          <a:xfrm>
            <a:off x="523874" y="283796"/>
            <a:ext cx="1166812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80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Seguimiento de Actividades</a:t>
            </a:r>
            <a:endParaRPr/>
          </a:p>
        </p:txBody>
      </p:sp>
      <p:sp>
        <p:nvSpPr>
          <p:cNvPr id="207" name="Google Shape;207;p5"/>
          <p:cNvSpPr/>
          <p:nvPr/>
        </p:nvSpPr>
        <p:spPr>
          <a:xfrm>
            <a:off x="523874" y="883871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8" name="Google Shape;208;p5"/>
          <p:cNvGraphicFramePr/>
          <p:nvPr/>
        </p:nvGraphicFramePr>
        <p:xfrm>
          <a:off x="523870" y="38494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{987DA556-D211-4F93-8EE0-637CD176BB05}</a:tableStyleId>
              </a:tblPr>
              <a:tblGrid>
                <a:gridCol w="2786050"/>
                <a:gridCol w="1671625"/>
                <a:gridCol w="2228850"/>
                <a:gridCol w="4457700"/>
              </a:tblGrid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Integración Impresora Térmica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Pendiente</a:t>
                      </a:r>
                      <a:endParaRPr b="1" i="0" sz="1200" u="none" cap="none" strike="noStrike">
                        <a:solidFill>
                          <a:srgbClr val="2563EB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Jerson / Alexia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Pruebas de impresión de comanda en formato ESC/POS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4453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Pruebas de Carga &amp; Marcha Blanca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-CL" sz="1200" u="none" cap="none" strike="noStrike">
                          <a:solidFill>
                            <a:srgbClr val="D97706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Pendiente</a:t>
                      </a:r>
                      <a:endParaRPr/>
                    </a:p>
                  </a:txBody>
                  <a:tcPr marT="25400" marB="25400" marR="63500" marL="2571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Karina Escobar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-CL" sz="1200" u="none" cap="none" strike="noStrike">
                          <a:solidFill>
                            <a:srgbClr val="33415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Informe de QA y Acta de Aceptación Cliente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age.png" id="209" name="Google Shape;20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2303" y="3967930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1617" y="4412626"/>
            <a:ext cx="1428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0794" y="4814818"/>
            <a:ext cx="2520000" cy="18384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40412" y="4790213"/>
            <a:ext cx="2520000" cy="186958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50422" y="4790212"/>
            <a:ext cx="2520000" cy="1796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"/>
          <p:cNvSpPr txBox="1"/>
          <p:nvPr/>
        </p:nvSpPr>
        <p:spPr>
          <a:xfrm>
            <a:off x="3773973" y="5126896"/>
            <a:ext cx="1925767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ACTIVIDADES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EN PROCESO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sz="18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6767484" y="5157584"/>
            <a:ext cx="1665856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ACTIVIDADES PENDIENTES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800">
              <a:solidFill>
                <a:schemeClr val="accent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9543547" y="5126896"/>
            <a:ext cx="1733749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ACTIVIDADES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ATRASADAS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1" sz="1800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7" name="Google Shape;217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1264" y="4827122"/>
            <a:ext cx="2520000" cy="1801524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"/>
          <p:cNvSpPr txBox="1"/>
          <p:nvPr/>
        </p:nvSpPr>
        <p:spPr>
          <a:xfrm>
            <a:off x="763870" y="5157584"/>
            <a:ext cx="1864378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ACTIVIDADES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FINALIZAS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80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80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pic>
        <p:nvPicPr>
          <p:cNvPr descr="image.png" id="220" name="Google Shape;220;p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62303" y="220044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62296" y="2644552"/>
            <a:ext cx="12382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6" name="Google Shape;22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3317" y="-208410"/>
            <a:ext cx="12192000" cy="70849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7" name="Google Shape;22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90701" y="1200177"/>
            <a:ext cx="3555950" cy="47475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984776" y="1200177"/>
            <a:ext cx="3555950" cy="4747504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"/>
          <p:cNvSpPr txBox="1"/>
          <p:nvPr/>
        </p:nvSpPr>
        <p:spPr>
          <a:xfrm>
            <a:off x="4409776" y="1981226"/>
            <a:ext cx="327369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650" u="none">
                <a:solidFill>
                  <a:srgbClr val="92400E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Riesgo 2: Resistencia al Cambio</a:t>
            </a:r>
            <a:endParaRPr/>
          </a:p>
        </p:txBody>
      </p:sp>
      <p:sp>
        <p:nvSpPr>
          <p:cNvPr id="230" name="Google Shape;230;p6"/>
          <p:cNvSpPr txBox="1"/>
          <p:nvPr/>
        </p:nvSpPr>
        <p:spPr>
          <a:xfrm>
            <a:off x="4409776" y="2608187"/>
            <a:ext cx="3059011" cy="662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Lenta adopción del personal:</a:t>
            </a:r>
            <a:r>
              <a:rPr b="0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Garzones o cajera habituados al papel muestran dificultades en las primeras jornadas.</a:t>
            </a:r>
            <a:endParaRPr/>
          </a:p>
        </p:txBody>
      </p:sp>
      <p:sp>
        <p:nvSpPr>
          <p:cNvPr id="231" name="Google Shape;231;p6"/>
          <p:cNvSpPr txBox="1"/>
          <p:nvPr/>
        </p:nvSpPr>
        <p:spPr>
          <a:xfrm>
            <a:off x="8203851" y="1981226"/>
            <a:ext cx="3273690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650" u="non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Riesgo 3: Caída de Red Local</a:t>
            </a:r>
            <a:endParaRPr/>
          </a:p>
        </p:txBody>
      </p:sp>
      <p:sp>
        <p:nvSpPr>
          <p:cNvPr id="232" name="Google Shape;232;p6"/>
          <p:cNvSpPr txBox="1"/>
          <p:nvPr/>
        </p:nvSpPr>
        <p:spPr>
          <a:xfrm>
            <a:off x="8203851" y="2608187"/>
            <a:ext cx="2968674" cy="662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Pérdida de conectividad Wi-Fi:</a:t>
            </a:r>
            <a:r>
              <a:rPr b="0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Interrupción en el envío de pedidos durante horas de alta demanda.</a:t>
            </a:r>
            <a:endParaRPr/>
          </a:p>
        </p:txBody>
      </p:sp>
      <p:pic>
        <p:nvPicPr>
          <p:cNvPr descr="image.png" id="233" name="Google Shape;23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09776" y="1495451"/>
            <a:ext cx="428625" cy="3246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03851" y="1495451"/>
            <a:ext cx="428625" cy="32464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6"/>
          <p:cNvSpPr txBox="1"/>
          <p:nvPr/>
        </p:nvSpPr>
        <p:spPr>
          <a:xfrm>
            <a:off x="449843" y="255678"/>
            <a:ext cx="11668125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550" u="none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Gestión de Riesgos y Mitigación</a:t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470508" y="874993"/>
            <a:ext cx="11144250" cy="285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 txBox="1"/>
          <p:nvPr/>
        </p:nvSpPr>
        <p:spPr>
          <a:xfrm>
            <a:off x="534570" y="6519182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8595224" y="511222"/>
            <a:ext cx="29222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Próxima revisión de riesgos: 02-10-2026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4376300" y="4284651"/>
            <a:ext cx="3092400" cy="766500"/>
          </a:xfrm>
          <a:prstGeom prst="roundRect">
            <a:avLst>
              <a:gd fmla="val 13043" name="adj"/>
            </a:avLst>
          </a:prstGeom>
          <a:solidFill>
            <a:srgbClr val="FFFBEB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Mitigación: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Talleres prácticos guiados y manual visual en estación de caja.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8203850" y="4303872"/>
            <a:ext cx="2968675" cy="662582"/>
          </a:xfrm>
          <a:prstGeom prst="roundRect">
            <a:avLst>
              <a:gd fmla="val 13043" name="adj"/>
            </a:avLst>
          </a:prstGeom>
          <a:solidFill>
            <a:srgbClr val="DAE5F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Mitigación: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Modo offline temporal con cola de sincronización local.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4358876" y="3576244"/>
            <a:ext cx="3092499" cy="438150"/>
          </a:xfrm>
          <a:prstGeom prst="roundRect">
            <a:avLst>
              <a:gd fmla="val 17391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2" name="Google Shape;242;p6"/>
          <p:cNvSpPr/>
          <p:nvPr/>
        </p:nvSpPr>
        <p:spPr>
          <a:xfrm>
            <a:off x="8203851" y="3576244"/>
            <a:ext cx="2968674" cy="438150"/>
          </a:xfrm>
          <a:prstGeom prst="roundRect">
            <a:avLst>
              <a:gd fmla="val 17391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6464798" y="1533127"/>
            <a:ext cx="1000125" cy="228600"/>
          </a:xfrm>
          <a:prstGeom prst="roundRect">
            <a:avLst>
              <a:gd fmla="val 25000" name="adj"/>
            </a:avLst>
          </a:prstGeom>
          <a:solidFill>
            <a:srgbClr val="FEF3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10300247" y="1533127"/>
            <a:ext cx="885825" cy="228600"/>
          </a:xfrm>
          <a:prstGeom prst="roundRect">
            <a:avLst>
              <a:gd fmla="val 25000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45" name="Google Shape;245;p6"/>
          <p:cNvSpPr txBox="1"/>
          <p:nvPr/>
        </p:nvSpPr>
        <p:spPr>
          <a:xfrm>
            <a:off x="6560048" y="1571227"/>
            <a:ext cx="9048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92400E"/>
                </a:solidFill>
                <a:latin typeface="Poppins"/>
                <a:ea typeface="Poppins"/>
                <a:cs typeface="Poppins"/>
                <a:sym typeface="Poppins"/>
              </a:rPr>
              <a:t>NIVEL MEDIO</a:t>
            </a:r>
            <a:endParaRPr/>
          </a:p>
        </p:txBody>
      </p:sp>
      <p:sp>
        <p:nvSpPr>
          <p:cNvPr id="246" name="Google Shape;246;p6"/>
          <p:cNvSpPr txBox="1"/>
          <p:nvPr/>
        </p:nvSpPr>
        <p:spPr>
          <a:xfrm>
            <a:off x="10395497" y="1571227"/>
            <a:ext cx="7905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991B1B"/>
                </a:solidFill>
                <a:latin typeface="Poppins"/>
                <a:ea typeface="Poppins"/>
                <a:cs typeface="Poppins"/>
                <a:sym typeface="Poppins"/>
              </a:rPr>
              <a:t>NIVEL ALTO</a:t>
            </a:r>
            <a:endParaRPr/>
          </a:p>
        </p:txBody>
      </p:sp>
      <p:sp>
        <p:nvSpPr>
          <p:cNvPr id="247" name="Google Shape;247;p6"/>
          <p:cNvSpPr txBox="1"/>
          <p:nvPr/>
        </p:nvSpPr>
        <p:spPr>
          <a:xfrm>
            <a:off x="4482701" y="3700069"/>
            <a:ext cx="1415452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Probabilidad: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Media</a:t>
            </a:r>
            <a:endParaRPr/>
          </a:p>
        </p:txBody>
      </p:sp>
      <p:sp>
        <p:nvSpPr>
          <p:cNvPr id="248" name="Google Shape;248;p6"/>
          <p:cNvSpPr txBox="1"/>
          <p:nvPr/>
        </p:nvSpPr>
        <p:spPr>
          <a:xfrm>
            <a:off x="6397756" y="3700069"/>
            <a:ext cx="956993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Impacto: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Alto</a:t>
            </a:r>
            <a:endParaRPr/>
          </a:p>
        </p:txBody>
      </p:sp>
      <p:sp>
        <p:nvSpPr>
          <p:cNvPr id="249" name="Google Shape;249;p6"/>
          <p:cNvSpPr txBox="1"/>
          <p:nvPr/>
        </p:nvSpPr>
        <p:spPr>
          <a:xfrm>
            <a:off x="8328491" y="3700069"/>
            <a:ext cx="1264770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Probabilidad: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Alta</a:t>
            </a:r>
            <a:endParaRPr/>
          </a:p>
        </p:txBody>
      </p:sp>
      <p:sp>
        <p:nvSpPr>
          <p:cNvPr id="250" name="Google Shape;250;p6"/>
          <p:cNvSpPr txBox="1"/>
          <p:nvPr/>
        </p:nvSpPr>
        <p:spPr>
          <a:xfrm>
            <a:off x="9961462" y="3700069"/>
            <a:ext cx="110767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Impacto: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Medio</a:t>
            </a:r>
            <a:endParaRPr/>
          </a:p>
        </p:txBody>
      </p:sp>
      <p:sp>
        <p:nvSpPr>
          <p:cNvPr id="251" name="Google Shape;251;p6"/>
          <p:cNvSpPr/>
          <p:nvPr/>
        </p:nvSpPr>
        <p:spPr>
          <a:xfrm>
            <a:off x="4376287" y="5321319"/>
            <a:ext cx="309249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8217398" y="5311794"/>
            <a:ext cx="309249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6917976" y="5409120"/>
            <a:ext cx="657225" cy="228600"/>
          </a:xfrm>
          <a:prstGeom prst="roundRect">
            <a:avLst>
              <a:gd fmla="val 16666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4" name="Google Shape;254;p6"/>
          <p:cNvSpPr/>
          <p:nvPr/>
        </p:nvSpPr>
        <p:spPr>
          <a:xfrm>
            <a:off x="10639125" y="5409120"/>
            <a:ext cx="657225" cy="228600"/>
          </a:xfrm>
          <a:prstGeom prst="roundRect">
            <a:avLst>
              <a:gd fmla="val 16666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55" name="Google Shape;255;p6"/>
          <p:cNvSpPr txBox="1"/>
          <p:nvPr/>
        </p:nvSpPr>
        <p:spPr>
          <a:xfrm>
            <a:off x="4482701" y="5447220"/>
            <a:ext cx="130003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Límite: 25-11-2026</a:t>
            </a:r>
            <a:endParaRPr/>
          </a:p>
        </p:txBody>
      </p:sp>
      <p:sp>
        <p:nvSpPr>
          <p:cNvPr id="256" name="Google Shape;256;p6"/>
          <p:cNvSpPr txBox="1"/>
          <p:nvPr/>
        </p:nvSpPr>
        <p:spPr>
          <a:xfrm>
            <a:off x="6994176" y="5437695"/>
            <a:ext cx="6000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En Plazo</a:t>
            </a:r>
            <a:endParaRPr/>
          </a:p>
        </p:txBody>
      </p:sp>
      <p:sp>
        <p:nvSpPr>
          <p:cNvPr id="257" name="Google Shape;257;p6"/>
          <p:cNvSpPr txBox="1"/>
          <p:nvPr/>
        </p:nvSpPr>
        <p:spPr>
          <a:xfrm>
            <a:off x="8203851" y="5447220"/>
            <a:ext cx="1234312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Límite: 11-11-2026</a:t>
            </a:r>
            <a:endParaRPr/>
          </a:p>
        </p:txBody>
      </p:sp>
      <p:sp>
        <p:nvSpPr>
          <p:cNvPr id="258" name="Google Shape;258;p6"/>
          <p:cNvSpPr txBox="1"/>
          <p:nvPr/>
        </p:nvSpPr>
        <p:spPr>
          <a:xfrm>
            <a:off x="10715325" y="5437695"/>
            <a:ext cx="6000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En Plazo</a:t>
            </a:r>
            <a:endParaRPr/>
          </a:p>
        </p:txBody>
      </p:sp>
      <p:pic>
        <p:nvPicPr>
          <p:cNvPr descr="image.png" id="259" name="Google Shape;259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0651" y="1200177"/>
            <a:ext cx="3555950" cy="4747505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6"/>
          <p:cNvSpPr txBox="1"/>
          <p:nvPr/>
        </p:nvSpPr>
        <p:spPr>
          <a:xfrm>
            <a:off x="615701" y="1981226"/>
            <a:ext cx="3273690" cy="314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650" u="none">
                <a:solidFill>
                  <a:srgbClr val="991B1B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Riesgo 1: Impresión Térmica</a:t>
            </a:r>
            <a:endParaRPr b="0" i="0" sz="1650" u="none">
              <a:solidFill>
                <a:srgbClr val="991B1B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61" name="Google Shape;261;p6"/>
          <p:cNvSpPr txBox="1"/>
          <p:nvPr/>
        </p:nvSpPr>
        <p:spPr>
          <a:xfrm>
            <a:off x="632979" y="2588158"/>
            <a:ext cx="3092499" cy="860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4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Incompatibilidad de driver ESC/POS:</a:t>
            </a:r>
            <a:r>
              <a:rPr b="0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Fallo en la comunicación entre el navegador web y la impresora en cocina.</a:t>
            </a:r>
            <a:endParaRPr/>
          </a:p>
        </p:txBody>
      </p:sp>
      <p:pic>
        <p:nvPicPr>
          <p:cNvPr descr="image.png" id="262" name="Google Shape;262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15701" y="1495451"/>
            <a:ext cx="342900" cy="3246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6"/>
          <p:cNvSpPr/>
          <p:nvPr/>
        </p:nvSpPr>
        <p:spPr>
          <a:xfrm>
            <a:off x="602154" y="4303264"/>
            <a:ext cx="3128072" cy="663190"/>
          </a:xfrm>
          <a:prstGeom prst="roundRect">
            <a:avLst>
              <a:gd fmla="val 13043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Mitigación: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 Driver puente local en Python/Node y emulador térmico de respaldo.</a:t>
            </a:r>
            <a:endParaRPr/>
          </a:p>
        </p:txBody>
      </p:sp>
      <p:sp>
        <p:nvSpPr>
          <p:cNvPr id="264" name="Google Shape;264;p6"/>
          <p:cNvSpPr/>
          <p:nvPr/>
        </p:nvSpPr>
        <p:spPr>
          <a:xfrm>
            <a:off x="605361" y="3556158"/>
            <a:ext cx="3092499" cy="438150"/>
          </a:xfrm>
          <a:prstGeom prst="roundRect">
            <a:avLst>
              <a:gd fmla="val 17391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2857948" y="1533127"/>
            <a:ext cx="885825" cy="228600"/>
          </a:xfrm>
          <a:prstGeom prst="roundRect">
            <a:avLst>
              <a:gd fmla="val 25000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66" name="Google Shape;266;p6"/>
          <p:cNvSpPr txBox="1"/>
          <p:nvPr/>
        </p:nvSpPr>
        <p:spPr>
          <a:xfrm>
            <a:off x="2953198" y="1571227"/>
            <a:ext cx="7905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991B1B"/>
                </a:solidFill>
                <a:latin typeface="Poppins"/>
                <a:ea typeface="Poppins"/>
                <a:cs typeface="Poppins"/>
                <a:sym typeface="Poppins"/>
              </a:rPr>
              <a:t>NIVEL ALTO</a:t>
            </a:r>
            <a:endParaRPr/>
          </a:p>
        </p:txBody>
      </p:sp>
      <p:sp>
        <p:nvSpPr>
          <p:cNvPr id="267" name="Google Shape;267;p6"/>
          <p:cNvSpPr txBox="1"/>
          <p:nvPr/>
        </p:nvSpPr>
        <p:spPr>
          <a:xfrm>
            <a:off x="761552" y="3700069"/>
            <a:ext cx="1264770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Probabilidad: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Alta</a:t>
            </a:r>
            <a:endParaRPr/>
          </a:p>
        </p:txBody>
      </p:sp>
      <p:sp>
        <p:nvSpPr>
          <p:cNvPr id="268" name="Google Shape;268;p6"/>
          <p:cNvSpPr txBox="1"/>
          <p:nvPr/>
        </p:nvSpPr>
        <p:spPr>
          <a:xfrm>
            <a:off x="2519163" y="3700069"/>
            <a:ext cx="110767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Impacto: </a:t>
            </a:r>
            <a:r>
              <a:rPr b="1" i="0" lang="es-CL" sz="11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Medio</a:t>
            </a:r>
            <a:endParaRPr/>
          </a:p>
        </p:txBody>
      </p:sp>
      <p:sp>
        <p:nvSpPr>
          <p:cNvPr id="269" name="Google Shape;269;p6"/>
          <p:cNvSpPr/>
          <p:nvPr/>
        </p:nvSpPr>
        <p:spPr>
          <a:xfrm>
            <a:off x="651274" y="5321319"/>
            <a:ext cx="309249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3196826" y="5409120"/>
            <a:ext cx="657225" cy="228600"/>
          </a:xfrm>
          <a:prstGeom prst="roundRect">
            <a:avLst>
              <a:gd fmla="val 16666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p6"/>
          <p:cNvSpPr txBox="1"/>
          <p:nvPr/>
        </p:nvSpPr>
        <p:spPr>
          <a:xfrm>
            <a:off x="761552" y="5447220"/>
            <a:ext cx="1272784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Límite: 11-10-2026</a:t>
            </a:r>
            <a:endParaRPr/>
          </a:p>
        </p:txBody>
      </p:sp>
      <p:sp>
        <p:nvSpPr>
          <p:cNvPr id="272" name="Google Shape;272;p6"/>
          <p:cNvSpPr txBox="1"/>
          <p:nvPr/>
        </p:nvSpPr>
        <p:spPr>
          <a:xfrm>
            <a:off x="3273026" y="5437695"/>
            <a:ext cx="60007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En Plazo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7"/>
          <p:cNvSpPr/>
          <p:nvPr/>
        </p:nvSpPr>
        <p:spPr>
          <a:xfrm>
            <a:off x="412653" y="557064"/>
            <a:ext cx="6296860" cy="5906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Poppins"/>
              <a:buNone/>
            </a:pPr>
            <a:r>
              <a:rPr b="1" lang="es-CL" sz="2800">
                <a:solidFill>
                  <a:srgbClr val="1E293B"/>
                </a:solidFill>
                <a:latin typeface="Poppins"/>
                <a:ea typeface="Poppins"/>
                <a:cs typeface="Poppins"/>
                <a:sym typeface="Poppins"/>
              </a:rPr>
              <a:t>Conclusiones y Compromisos</a:t>
            </a:r>
            <a:endParaRPr b="1" sz="2600">
              <a:solidFill>
                <a:srgbClr val="1E293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412653" y="1197167"/>
            <a:ext cx="11466706" cy="4571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609600" y="1447800"/>
            <a:ext cx="5372100" cy="4324350"/>
          </a:xfrm>
          <a:prstGeom prst="roundRect">
            <a:avLst>
              <a:gd fmla="val 308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210300" y="1447800"/>
            <a:ext cx="5372100" cy="4324350"/>
          </a:xfrm>
          <a:prstGeom prst="roundRect">
            <a:avLst>
              <a:gd fmla="val 308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847725" y="5244164"/>
            <a:ext cx="4895850" cy="443329"/>
          </a:xfrm>
          <a:prstGeom prst="roundRect">
            <a:avLst>
              <a:gd fmla="val 20000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2" name="Google Shape;282;p7"/>
          <p:cNvSpPr/>
          <p:nvPr/>
        </p:nvSpPr>
        <p:spPr>
          <a:xfrm>
            <a:off x="6448425" y="5233988"/>
            <a:ext cx="4895850" cy="409575"/>
          </a:xfrm>
          <a:prstGeom prst="roundRect">
            <a:avLst>
              <a:gd fmla="val 18604" name="adj"/>
            </a:avLst>
          </a:prstGeom>
          <a:solidFill>
            <a:srgbClr val="F0FDF4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6448425" y="2181225"/>
            <a:ext cx="4895850" cy="866775"/>
          </a:xfrm>
          <a:prstGeom prst="roundRect">
            <a:avLst>
              <a:gd fmla="val 1098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7"/>
          <p:cNvSpPr/>
          <p:nvPr/>
        </p:nvSpPr>
        <p:spPr>
          <a:xfrm>
            <a:off x="6448425" y="3162300"/>
            <a:ext cx="4895850" cy="866775"/>
          </a:xfrm>
          <a:prstGeom prst="roundRect">
            <a:avLst>
              <a:gd fmla="val 1098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448425" y="4143375"/>
            <a:ext cx="4895850" cy="866775"/>
          </a:xfrm>
          <a:prstGeom prst="roundRect">
            <a:avLst>
              <a:gd fmla="val 10989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7"/>
          <p:cNvSpPr/>
          <p:nvPr/>
        </p:nvSpPr>
        <p:spPr>
          <a:xfrm>
            <a:off x="6448425" y="2181225"/>
            <a:ext cx="38100" cy="86677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448425" y="3162300"/>
            <a:ext cx="38100" cy="86677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7"/>
          <p:cNvSpPr/>
          <p:nvPr/>
        </p:nvSpPr>
        <p:spPr>
          <a:xfrm>
            <a:off x="6448425" y="4143375"/>
            <a:ext cx="38100" cy="866775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9" name="Google Shape;28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7725" y="1685925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0600" y="5369379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1" name="Google Shape;291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8425" y="1685925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2" name="Google Shape;292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77524" y="5387342"/>
            <a:ext cx="11430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42975" y="17811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7725" y="31908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24625" y="1781175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7"/>
          <p:cNvSpPr txBox="1"/>
          <p:nvPr/>
        </p:nvSpPr>
        <p:spPr>
          <a:xfrm>
            <a:off x="838200" y="6115050"/>
            <a:ext cx="351234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050" u="none">
                <a:solidFill>
                  <a:srgbClr val="94A3B8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GastroConnect — Equipo de Desarrollo &amp; QA</a:t>
            </a:r>
            <a:endParaRPr/>
          </a:p>
        </p:txBody>
      </p:sp>
      <p:sp>
        <p:nvSpPr>
          <p:cNvPr id="297" name="Google Shape;297;p7"/>
          <p:cNvSpPr txBox="1"/>
          <p:nvPr/>
        </p:nvSpPr>
        <p:spPr>
          <a:xfrm>
            <a:off x="6715125" y="5369379"/>
            <a:ext cx="4246108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 Próxima reunión de seguimiento: </a:t>
            </a:r>
            <a:r>
              <a:rPr b="1" lang="es-CL" sz="1100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VIERNES</a:t>
            </a:r>
            <a:r>
              <a:rPr b="1" i="0" lang="es-CL" sz="1100" u="none">
                <a:solidFill>
                  <a:srgbClr val="166534"/>
                </a:solidFill>
                <a:latin typeface="Poppins"/>
                <a:ea typeface="Poppins"/>
                <a:cs typeface="Poppins"/>
                <a:sym typeface="Poppins"/>
              </a:rPr>
              <a:t> 02-10-2026 </a:t>
            </a:r>
            <a:endParaRPr/>
          </a:p>
        </p:txBody>
      </p:sp>
      <p:sp>
        <p:nvSpPr>
          <p:cNvPr id="298" name="Google Shape;298;p7"/>
          <p:cNvSpPr txBox="1"/>
          <p:nvPr/>
        </p:nvSpPr>
        <p:spPr>
          <a:xfrm>
            <a:off x="990600" y="5348940"/>
            <a:ext cx="4610100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905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>
                <a:solidFill>
                  <a:srgbClr val="475569"/>
                </a:solidFill>
                <a:latin typeface="Poppins"/>
                <a:ea typeface="Poppins"/>
                <a:cs typeface="Poppins"/>
                <a:sym typeface="Poppins"/>
              </a:rPr>
              <a:t>Proyecto avanzando según cronograma sin retrasos en el calendario.</a:t>
            </a:r>
            <a:endParaRPr b="0" i="0" sz="1100" u="none">
              <a:solidFill>
                <a:srgbClr val="47556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9" name="Google Shape;299;p7"/>
          <p:cNvSpPr txBox="1"/>
          <p:nvPr/>
        </p:nvSpPr>
        <p:spPr>
          <a:xfrm>
            <a:off x="1285875" y="1738312"/>
            <a:ext cx="205825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Análisis del Avance</a:t>
            </a:r>
            <a:endParaRPr/>
          </a:p>
        </p:txBody>
      </p:sp>
      <p:sp>
        <p:nvSpPr>
          <p:cNvPr id="300" name="Google Shape;300;p7"/>
          <p:cNvSpPr txBox="1"/>
          <p:nvPr/>
        </p:nvSpPr>
        <p:spPr>
          <a:xfrm>
            <a:off x="6886575" y="1738312"/>
            <a:ext cx="4667945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6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Compromisos Próxima Semana (Semana 8)</a:t>
            </a:r>
            <a:endParaRPr/>
          </a:p>
        </p:txBody>
      </p:sp>
      <p:sp>
        <p:nvSpPr>
          <p:cNvPr id="301" name="Google Shape;301;p7"/>
          <p:cNvSpPr txBox="1"/>
          <p:nvPr/>
        </p:nvSpPr>
        <p:spPr>
          <a:xfrm>
            <a:off x="1095375" y="3171825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Entregables Cumplidos: </a:t>
            </a:r>
            <a:r>
              <a:rPr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Script BD PostgreSQL, Endpoints API REST base completados al 100%.</a:t>
            </a:r>
            <a:endParaRPr/>
          </a:p>
        </p:txBody>
      </p:sp>
      <p:sp>
        <p:nvSpPr>
          <p:cNvPr id="302" name="Google Shape;302;p7"/>
          <p:cNvSpPr txBox="1"/>
          <p:nvPr/>
        </p:nvSpPr>
        <p:spPr>
          <a:xfrm>
            <a:off x="1095375" y="3808011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Hito Técnico Concluido: </a:t>
            </a:r>
            <a:r>
              <a:rPr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Base de datos y arquitectura de backend listas para integración con interfaces de usuario.</a:t>
            </a:r>
            <a:endParaRPr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" name="Google Shape;303;p7"/>
          <p:cNvSpPr txBox="1"/>
          <p:nvPr/>
        </p:nvSpPr>
        <p:spPr>
          <a:xfrm>
            <a:off x="1095375" y="4435298"/>
            <a:ext cx="474345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Siguiente Fase: </a:t>
            </a:r>
            <a:r>
              <a:rPr lang="es-CL" sz="1200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Inicio formal del desarrollo interactivo de pantallas Web.</a:t>
            </a:r>
            <a:endParaRPr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4" name="Google Shape;304;p7"/>
          <p:cNvSpPr txBox="1"/>
          <p:nvPr/>
        </p:nvSpPr>
        <p:spPr>
          <a:xfrm>
            <a:off x="6638925" y="2533650"/>
            <a:ext cx="2773195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2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Vistas principales de administrador.</a:t>
            </a:r>
            <a:endParaRPr b="0" i="0" sz="1200" u="none">
              <a:solidFill>
                <a:srgbClr val="64748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5" name="Google Shape;305;p7"/>
          <p:cNvSpPr txBox="1"/>
          <p:nvPr/>
        </p:nvSpPr>
        <p:spPr>
          <a:xfrm>
            <a:off x="6638925" y="2743200"/>
            <a:ext cx="140904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Alexia Cano</a:t>
            </a:r>
            <a:endParaRPr b="1"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6" name="Google Shape;306;p7"/>
          <p:cNvSpPr txBox="1"/>
          <p:nvPr/>
        </p:nvSpPr>
        <p:spPr>
          <a:xfrm>
            <a:off x="6638925" y="3514725"/>
            <a:ext cx="2771593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Vistas principales de cajera, garzón</a:t>
            </a:r>
            <a:r>
              <a:rPr b="0" i="0" lang="es-CL" sz="12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  <p:sp>
        <p:nvSpPr>
          <p:cNvPr id="307" name="Google Shape;307;p7"/>
          <p:cNvSpPr txBox="1"/>
          <p:nvPr/>
        </p:nvSpPr>
        <p:spPr>
          <a:xfrm>
            <a:off x="6638925" y="3724275"/>
            <a:ext cx="140904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Alexia Cano</a:t>
            </a:r>
            <a:endParaRPr b="1" i="0" sz="1200" u="none">
              <a:solidFill>
                <a:srgbClr val="334155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8" name="Google Shape;308;p7"/>
          <p:cNvSpPr txBox="1"/>
          <p:nvPr/>
        </p:nvSpPr>
        <p:spPr>
          <a:xfrm>
            <a:off x="6638925" y="4495800"/>
            <a:ext cx="3228448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200" u="none">
                <a:solidFill>
                  <a:srgbClr val="64748B"/>
                </a:solidFill>
                <a:latin typeface="Poppins"/>
                <a:ea typeface="Poppins"/>
                <a:cs typeface="Poppins"/>
                <a:sym typeface="Poppins"/>
              </a:rPr>
              <a:t>Seguimiento actividades, status proyecto.</a:t>
            </a:r>
            <a:endParaRPr/>
          </a:p>
        </p:txBody>
      </p:sp>
      <p:sp>
        <p:nvSpPr>
          <p:cNvPr id="309" name="Google Shape;309;p7"/>
          <p:cNvSpPr txBox="1"/>
          <p:nvPr/>
        </p:nvSpPr>
        <p:spPr>
          <a:xfrm>
            <a:off x="6638925" y="4705350"/>
            <a:ext cx="1659109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334155"/>
                </a:solidFill>
                <a:latin typeface="Poppins"/>
                <a:ea typeface="Poppins"/>
                <a:cs typeface="Poppins"/>
                <a:sym typeface="Poppins"/>
              </a:rPr>
              <a:t>Resp: Karina Escobar</a:t>
            </a:r>
            <a:endParaRPr/>
          </a:p>
        </p:txBody>
      </p:sp>
      <p:sp>
        <p:nvSpPr>
          <p:cNvPr id="310" name="Google Shape;310;p7"/>
          <p:cNvSpPr txBox="1"/>
          <p:nvPr/>
        </p:nvSpPr>
        <p:spPr>
          <a:xfrm>
            <a:off x="6638925" y="2314575"/>
            <a:ext cx="2215350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Avance </a:t>
            </a:r>
            <a:r>
              <a:rPr b="1" i="0" lang="es-CL" sz="12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Módulo Web Admin</a:t>
            </a:r>
            <a:endParaRPr/>
          </a:p>
        </p:txBody>
      </p:sp>
      <p:sp>
        <p:nvSpPr>
          <p:cNvPr id="311" name="Google Shape;311;p7"/>
          <p:cNvSpPr txBox="1"/>
          <p:nvPr/>
        </p:nvSpPr>
        <p:spPr>
          <a:xfrm>
            <a:off x="6638925" y="3295650"/>
            <a:ext cx="3340658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20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Avance Módulo Web Caja &amp; Salón</a:t>
            </a:r>
            <a:endParaRPr b="1" i="0" sz="1200" u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2" name="Google Shape;312;p7"/>
          <p:cNvSpPr txBox="1"/>
          <p:nvPr/>
        </p:nvSpPr>
        <p:spPr>
          <a:xfrm>
            <a:off x="6638925" y="4276725"/>
            <a:ext cx="2043829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Mostrar Avance Semanal</a:t>
            </a:r>
            <a:endParaRPr b="1" i="0" sz="1200" u="none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3" name="Google Shape;313;p7"/>
          <p:cNvSpPr/>
          <p:nvPr/>
        </p:nvSpPr>
        <p:spPr>
          <a:xfrm>
            <a:off x="942975" y="2071562"/>
            <a:ext cx="4895850" cy="833563"/>
          </a:xfrm>
          <a:prstGeom prst="roundRect">
            <a:avLst>
              <a:gd fmla="val 18604" name="adj"/>
            </a:avLst>
          </a:prstGeom>
          <a:solidFill>
            <a:srgbClr val="002060"/>
          </a:solidFill>
          <a:ln cap="flat" cmpd="sng" w="9525">
            <a:solidFill>
              <a:srgbClr val="BBF7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7"/>
          <p:cNvSpPr txBox="1"/>
          <p:nvPr/>
        </p:nvSpPr>
        <p:spPr>
          <a:xfrm>
            <a:off x="1038225" y="2478823"/>
            <a:ext cx="1588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s-CL" sz="1400" u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8% Completado</a:t>
            </a:r>
            <a:endParaRPr b="1" i="0" sz="1400" u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15" name="Google Shape;315;p7"/>
          <p:cNvSpPr txBox="1"/>
          <p:nvPr/>
        </p:nvSpPr>
        <p:spPr>
          <a:xfrm>
            <a:off x="4450208" y="2588315"/>
            <a:ext cx="1102867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Semana </a:t>
            </a:r>
            <a:r>
              <a:rPr b="1" lang="es-CL" sz="1100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r>
              <a:rPr b="1" i="0" lang="es-CL" sz="1100" u="none">
                <a:solidFill>
                  <a:srgbClr val="CBD5E1"/>
                </a:solidFill>
                <a:latin typeface="Poppins"/>
                <a:ea typeface="Poppins"/>
                <a:cs typeface="Poppins"/>
                <a:sym typeface="Poppins"/>
              </a:rPr>
              <a:t> de 18</a:t>
            </a:r>
            <a:endParaRPr/>
          </a:p>
        </p:txBody>
      </p:sp>
      <p:sp>
        <p:nvSpPr>
          <p:cNvPr id="316" name="Google Shape;316;p7"/>
          <p:cNvSpPr txBox="1"/>
          <p:nvPr/>
        </p:nvSpPr>
        <p:spPr>
          <a:xfrm>
            <a:off x="1038225" y="2288323"/>
            <a:ext cx="2096728" cy="1846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200" u="none">
                <a:solidFill>
                  <a:srgbClr val="93C5FD"/>
                </a:solidFill>
                <a:latin typeface="Poppins"/>
                <a:ea typeface="Poppins"/>
                <a:cs typeface="Poppins"/>
                <a:sym typeface="Poppins"/>
              </a:rPr>
              <a:t>Estado Global del Proyecto</a:t>
            </a:r>
            <a:endParaRPr/>
          </a:p>
        </p:txBody>
      </p:sp>
      <p:sp>
        <p:nvSpPr>
          <p:cNvPr id="317" name="Google Shape;317;p7"/>
          <p:cNvSpPr/>
          <p:nvPr/>
        </p:nvSpPr>
        <p:spPr>
          <a:xfrm>
            <a:off x="3646714" y="2252559"/>
            <a:ext cx="1953986" cy="230981"/>
          </a:xfrm>
          <a:prstGeom prst="roundRect">
            <a:avLst>
              <a:gd fmla="val 50000" name="adj"/>
            </a:avLst>
          </a:prstGeom>
          <a:solidFill>
            <a:srgbClr val="22C55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7"/>
          <p:cNvSpPr txBox="1"/>
          <p:nvPr/>
        </p:nvSpPr>
        <p:spPr>
          <a:xfrm>
            <a:off x="3781085" y="2280586"/>
            <a:ext cx="1725385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0 Semanas Desviación</a:t>
            </a:r>
            <a:endParaRPr b="1" i="0" sz="1100" u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38200" y="3819546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04863" y="4473979"/>
            <a:ext cx="1714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8"/>
          <p:cNvSpPr txBox="1"/>
          <p:nvPr/>
        </p:nvSpPr>
        <p:spPr>
          <a:xfrm>
            <a:off x="772355" y="2026792"/>
            <a:ext cx="10494360" cy="1846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¡Muchas g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racias </a:t>
            </a: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or </a:t>
            </a: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s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u </a:t>
            </a:r>
            <a:r>
              <a:rPr b="1" lang="es-CL" sz="6000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s-CL" sz="60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tención y confianza!</a:t>
            </a:r>
            <a:endParaRPr b="1" i="0" sz="6000" u="none">
              <a:solidFill>
                <a:srgbClr val="00206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26" name="Google Shape;326;p8"/>
          <p:cNvSpPr/>
          <p:nvPr/>
        </p:nvSpPr>
        <p:spPr>
          <a:xfrm>
            <a:off x="1923785" y="4377630"/>
            <a:ext cx="8191500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8"/>
          <p:cNvSpPr/>
          <p:nvPr/>
        </p:nvSpPr>
        <p:spPr>
          <a:xfrm>
            <a:off x="4785078" y="6035976"/>
            <a:ext cx="38100" cy="45719"/>
          </a:xfrm>
          <a:prstGeom prst="roundRect">
            <a:avLst>
              <a:gd fmla="val 50000" name="adj"/>
            </a:avLst>
          </a:prstGeom>
          <a:solidFill>
            <a:srgbClr val="64748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7840436" y="6024768"/>
            <a:ext cx="38100" cy="45719"/>
          </a:xfrm>
          <a:prstGeom prst="roundRect">
            <a:avLst>
              <a:gd fmla="val 50000" name="adj"/>
            </a:avLst>
          </a:prstGeom>
          <a:solidFill>
            <a:srgbClr val="64748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29" name="Google Shape;32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1861" y="6005441"/>
            <a:ext cx="190500" cy="14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0" name="Google Shape;330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6011" y="6005441"/>
            <a:ext cx="152400" cy="143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1" name="Google Shape;33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44486" y="6005441"/>
            <a:ext cx="133350" cy="1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8"/>
          <p:cNvSpPr txBox="1"/>
          <p:nvPr/>
        </p:nvSpPr>
        <p:spPr>
          <a:xfrm>
            <a:off x="2515209" y="5973399"/>
            <a:ext cx="1875514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Equipo de Desarrollo &amp; QA</a:t>
            </a:r>
            <a:endParaRPr/>
          </a:p>
        </p:txBody>
      </p:sp>
      <p:sp>
        <p:nvSpPr>
          <p:cNvPr id="333" name="Google Shape;333;p8"/>
          <p:cNvSpPr txBox="1"/>
          <p:nvPr/>
        </p:nvSpPr>
        <p:spPr>
          <a:xfrm>
            <a:off x="5185128" y="5979390"/>
            <a:ext cx="2244204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contacto@gastroconnect.com</a:t>
            </a:r>
            <a:endParaRPr/>
          </a:p>
        </p:txBody>
      </p:sp>
      <p:sp>
        <p:nvSpPr>
          <p:cNvPr id="334" name="Google Shape;334;p8"/>
          <p:cNvSpPr txBox="1"/>
          <p:nvPr/>
        </p:nvSpPr>
        <p:spPr>
          <a:xfrm>
            <a:off x="8220355" y="5987342"/>
            <a:ext cx="1219886" cy="1692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>
                <a:solidFill>
                  <a:srgbClr val="002060"/>
                </a:solidFill>
                <a:latin typeface="Poppins"/>
                <a:ea typeface="Poppins"/>
                <a:cs typeface="Poppins"/>
                <a:sym typeface="Poppins"/>
              </a:rPr>
              <a:t>Septiembre 2026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2096861" y="6020698"/>
            <a:ext cx="38100" cy="45719"/>
          </a:xfrm>
          <a:prstGeom prst="roundRect">
            <a:avLst>
              <a:gd fmla="val 50000" name="adj"/>
            </a:avLst>
          </a:prstGeom>
          <a:solidFill>
            <a:srgbClr val="64748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8"/>
          <p:cNvSpPr/>
          <p:nvPr/>
        </p:nvSpPr>
        <p:spPr>
          <a:xfrm>
            <a:off x="362647" y="5449128"/>
            <a:ext cx="11466706" cy="4571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7" name="Google Shape;337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70267" y="5681874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8"/>
          <p:cNvSpPr/>
          <p:nvPr/>
        </p:nvSpPr>
        <p:spPr>
          <a:xfrm>
            <a:off x="3812814" y="445437"/>
            <a:ext cx="4746171" cy="304800"/>
          </a:xfrm>
          <a:prstGeom prst="roundRect">
            <a:avLst>
              <a:gd fmla="val 50000" name="adj"/>
            </a:avLst>
          </a:prstGeom>
          <a:solidFill>
            <a:srgbClr val="142B43"/>
          </a:solidFill>
          <a:ln cap="flat" cmpd="sng" w="9525">
            <a:solidFill>
              <a:srgbClr val="1B49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9" name="Google Shape;339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973041" y="526383"/>
            <a:ext cx="114300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8"/>
          <p:cNvSpPr txBox="1"/>
          <p:nvPr/>
        </p:nvSpPr>
        <p:spPr>
          <a:xfrm>
            <a:off x="4205723" y="501439"/>
            <a:ext cx="408605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400" u="none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GASTROCONNECT — RESTAURANTE MIRELLITA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