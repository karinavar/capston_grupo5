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12192000"/>
  <p:notesSz cx="6858000" cy="9144000"/>
  <p:embeddedFontLst>
    <p:embeddedFont>
      <p:font typeface="Poppins"/>
      <p:regular r:id="rId34"/>
      <p:bold r:id="rId35"/>
      <p:italic r:id="rId36"/>
      <p:boldItalic r:id="rId37"/>
    </p:embeddedFont>
    <p:embeddedFont>
      <p:font typeface="Plus Jakarta Sans"/>
      <p:regular r:id="rId38"/>
      <p:bold r:id="rId39"/>
      <p:italic r:id="rId40"/>
      <p:boldItalic r:id="rId41"/>
    </p:embeddedFont>
    <p:embeddedFont>
      <p:font typeface="Inter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  <p:embeddedFont>
      <p:font typeface="Poppins SemiBold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4" roundtripDataSignature="AMtx7mgDfWvLxpct4rOmlKgkqeyBmszr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293375-686E-4556-A4F5-D4B9ECE23F97}">
  <a:tblStyle styleId="{04293375-686E-4556-A4F5-D4B9ECE23F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92704AE-5464-46CB-8C15-A05981017C16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usJakartaSans-italic.fntdata"/><Relationship Id="rId42" Type="http://schemas.openxmlformats.org/officeDocument/2006/relationships/font" Target="fonts/Inter-regular.fntdata"/><Relationship Id="rId41" Type="http://schemas.openxmlformats.org/officeDocument/2006/relationships/font" Target="fonts/PlusJakartaSans-boldItalic.fntdata"/><Relationship Id="rId44" Type="http://schemas.openxmlformats.org/officeDocument/2006/relationships/font" Target="fonts/Inter-italic.fntdata"/><Relationship Id="rId43" Type="http://schemas.openxmlformats.org/officeDocument/2006/relationships/font" Target="fonts/Inter-bold.fntdata"/><Relationship Id="rId46" Type="http://schemas.openxmlformats.org/officeDocument/2006/relationships/font" Target="fonts/Lato-regular.fntdata"/><Relationship Id="rId45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Poppins-bold.fntdata"/><Relationship Id="rId34" Type="http://schemas.openxmlformats.org/officeDocument/2006/relationships/font" Target="fonts/Poppins-regular.fntdata"/><Relationship Id="rId37" Type="http://schemas.openxmlformats.org/officeDocument/2006/relationships/font" Target="fonts/Poppins-boldItalic.fntdata"/><Relationship Id="rId36" Type="http://schemas.openxmlformats.org/officeDocument/2006/relationships/font" Target="fonts/Poppins-italic.fntdata"/><Relationship Id="rId39" Type="http://schemas.openxmlformats.org/officeDocument/2006/relationships/font" Target="fonts/PlusJakartaSans-bold.fntdata"/><Relationship Id="rId38" Type="http://schemas.openxmlformats.org/officeDocument/2006/relationships/font" Target="fonts/PlusJakartaSans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oppinsSemiBold-bold.fntdata"/><Relationship Id="rId50" Type="http://schemas.openxmlformats.org/officeDocument/2006/relationships/font" Target="fonts/PoppinsSemiBold-regular.fntdata"/><Relationship Id="rId53" Type="http://schemas.openxmlformats.org/officeDocument/2006/relationships/font" Target="fonts/PoppinsSemiBold-boldItalic.fntdata"/><Relationship Id="rId52" Type="http://schemas.openxmlformats.org/officeDocument/2006/relationships/font" Target="fonts/Poppins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1a26b3ade1f506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h1a26b3ade1f5064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1a26b3ade1f5064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h1a26b3ade1f5064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61ffbbd66c0d0bd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h61ffbbd66c0d0bd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61ffbbd66c0d0bd0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h61ffbbd66c0d0bd0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761e30b142a570f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h761e30b142a570f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61ffbbd66c0d0bd0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h61ffbbd66c0d0bd0_0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61ffbbd66c0d0bd0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h61ffbbd66c0d0bd0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61ffbbd66c0d0bd0_0_1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h61ffbbd66c0d0bd0_0_1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61ffbbd66c0d0bd0_0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h61ffbbd66c0d0bd0_0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61ffbbd66c0d0bd0_0_2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h61ffbbd66c0d0bd0_0_2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61ffbbd66c0d0bd0_0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h61ffbbd66c0d0bd0_0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61ffbbd66c0d0bd0_0_2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h61ffbbd66c0d0bd0_0_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61ffbbd66c0d0bd0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h61ffbbd66c0d0bd0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61ffbbd66c0d0bd0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h61ffbbd66c0d0bd0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h61ffbbd66c0d0bd0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h61ffbbd66c0d0bd0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h61ffbbd66c0d0bd0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h61ffbbd66c0d0bd0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61ffbbd66c0d0bd0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h61ffbbd66c0d0bd0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1a26b3ade1f5064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h1a26b3ade1f5064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h1a26b3ade1f5064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h1a26b3ade1f5064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h61ffbbd66c0d0bd0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h61ffbbd66c0d0bd0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h1a26b3ade1f5064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h1a26b3ade1f5064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h43983b6b187a90a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h43983b6b187a90a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h43983b6b187a90a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h61ffbbd66c0d0bd0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h61ffbbd66c0d0bd0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3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5.png"/><Relationship Id="rId5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Relationship Id="rId4" Type="http://schemas.openxmlformats.org/officeDocument/2006/relationships/image" Target="../media/image7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7.png"/><Relationship Id="rId4" Type="http://schemas.openxmlformats.org/officeDocument/2006/relationships/image" Target="../media/image7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8.png"/><Relationship Id="rId4" Type="http://schemas.openxmlformats.org/officeDocument/2006/relationships/image" Target="../media/image72.png"/><Relationship Id="rId5" Type="http://schemas.openxmlformats.org/officeDocument/2006/relationships/image" Target="../media/image42.png"/><Relationship Id="rId6" Type="http://schemas.openxmlformats.org/officeDocument/2006/relationships/image" Target="../media/image7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51.png"/><Relationship Id="rId5" Type="http://schemas.openxmlformats.org/officeDocument/2006/relationships/image" Target="../media/image43.png"/><Relationship Id="rId6" Type="http://schemas.openxmlformats.org/officeDocument/2006/relationships/image" Target="../media/image41.png"/><Relationship Id="rId7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5" Type="http://schemas.openxmlformats.org/officeDocument/2006/relationships/image" Target="../media/image64.png"/><Relationship Id="rId6" Type="http://schemas.openxmlformats.org/officeDocument/2006/relationships/image" Target="../media/image47.png"/><Relationship Id="rId7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54.png"/><Relationship Id="rId5" Type="http://schemas.openxmlformats.org/officeDocument/2006/relationships/image" Target="../media/image9.png"/><Relationship Id="rId6" Type="http://schemas.openxmlformats.org/officeDocument/2006/relationships/image" Target="../media/image50.png"/><Relationship Id="rId7" Type="http://schemas.openxmlformats.org/officeDocument/2006/relationships/image" Target="../media/image49.png"/><Relationship Id="rId8" Type="http://schemas.openxmlformats.org/officeDocument/2006/relationships/image" Target="../media/image5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7.png"/><Relationship Id="rId4" Type="http://schemas.openxmlformats.org/officeDocument/2006/relationships/image" Target="../media/image56.png"/><Relationship Id="rId11" Type="http://schemas.openxmlformats.org/officeDocument/2006/relationships/image" Target="../media/image69.png"/><Relationship Id="rId10" Type="http://schemas.openxmlformats.org/officeDocument/2006/relationships/image" Target="../media/image63.png"/><Relationship Id="rId9" Type="http://schemas.openxmlformats.org/officeDocument/2006/relationships/image" Target="../media/image62.png"/><Relationship Id="rId5" Type="http://schemas.openxmlformats.org/officeDocument/2006/relationships/image" Target="../media/image55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7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6.png"/><Relationship Id="rId4" Type="http://schemas.openxmlformats.org/officeDocument/2006/relationships/image" Target="../media/image61.png"/><Relationship Id="rId5" Type="http://schemas.openxmlformats.org/officeDocument/2006/relationships/image" Target="../media/image68.png"/><Relationship Id="rId6" Type="http://schemas.openxmlformats.org/officeDocument/2006/relationships/image" Target="../media/image65.png"/><Relationship Id="rId7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2112" y="4384940"/>
            <a:ext cx="6400801" cy="64799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4942114" y="2237333"/>
            <a:ext cx="6553200" cy="666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-CL" sz="4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GastroConnect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942114" y="2989808"/>
            <a:ext cx="65532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CL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Sistema Integral de Gestión Operativa y Pedidos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942113" y="3580358"/>
            <a:ext cx="64008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Plataforma omnicanal para optimización del flujo en salón, punto de venta (POS) y canal de pedidos cliente para </a:t>
            </a:r>
            <a:r>
              <a:rPr b="1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Restaurante </a:t>
            </a:r>
            <a:r>
              <a:rPr b="1" lang="es-CL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r>
              <a:rPr b="0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4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942114" y="4530626"/>
            <a:ext cx="1447800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CLIENTE 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4942114" y="4748212"/>
            <a:ext cx="1733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Restaurante </a:t>
            </a: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045890" y="4530626"/>
            <a:ext cx="1733550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FECHA DE REVISIÓN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045890" y="4748212"/>
            <a:ext cx="17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-10-2026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8694964" y="4530626"/>
            <a:ext cx="2447925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AUTORES</a:t>
            </a:r>
            <a:endParaRPr b="1" i="0" sz="975" u="none" cap="none" strike="noStrik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694964" y="4748212"/>
            <a:ext cx="2447925" cy="20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Equipo GastroConnect</a:t>
            </a:r>
            <a:endParaRPr b="1" i="0" sz="12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6772084" y="6604907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" title="Gemini_Generated_Image_ki6mm4ki6mm4ki6m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01" y="0"/>
            <a:ext cx="454649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534572" y="1124438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Agenda de la Presentación</a:t>
            </a:r>
            <a:endParaRPr b="1" i="0" sz="255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34572" y="1724513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9477375" y="796230"/>
            <a:ext cx="2105025" cy="3429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9300" y="89148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9867900" y="881955"/>
            <a:ext cx="19407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de Ruta de la Sesión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34572" y="5633357"/>
            <a:ext cx="10972800" cy="4191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534572" y="2068710"/>
            <a:ext cx="5391300" cy="866700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34572" y="3087885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534572" y="4107060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116222" y="2068710"/>
            <a:ext cx="5391300" cy="866700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116222" y="3087885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116222" y="4107060"/>
            <a:ext cx="5391150" cy="866775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700947" y="5719432"/>
            <a:ext cx="189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CL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Duración estimada: 10 minutos</a:t>
            </a:r>
            <a:endParaRPr b="0" i="0" sz="1050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8145047" y="5757182"/>
            <a:ext cx="3952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CL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Espacio para preguntas al finalizar la exposición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344200" y="2287775"/>
            <a:ext cx="2426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Roadmap Plan de Trabajo</a:t>
            </a:r>
            <a:endParaRPr b="1" i="0" sz="13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1344201" y="2544950"/>
            <a:ext cx="3328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Avance del cronograma general de 1</a:t>
            </a: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semanas.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1344201" y="3306950"/>
            <a:ext cx="283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Porcentaje Cumplimiento</a:t>
            </a:r>
            <a:endParaRPr b="1" i="0" sz="13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344201" y="3564127"/>
            <a:ext cx="363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Comparativa de avance actual v/s planificado.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1344202" y="4326125"/>
            <a:ext cx="350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Mockup Web &amp; Móvil</a:t>
            </a:r>
            <a:endParaRPr b="1" i="0" sz="13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1344200" y="4583288"/>
            <a:ext cx="3823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Revisión de pr</a:t>
            </a: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ototipo de página web y app móvil.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6925853" y="2287775"/>
            <a:ext cx="445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de Riesgos y Plan de Mitigaciones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6925850" y="2544950"/>
            <a:ext cx="458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Revisión de </a:t>
            </a: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principales riesgos del proyecto con el plan de mitigación definido.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6925852" y="3306950"/>
            <a:ext cx="363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Seguimiento de 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6925851" y="3564125"/>
            <a:ext cx="449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Revisión de entregables finalizados, en proceso y pendientes.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6925848" y="4326125"/>
            <a:ext cx="286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Conclusiones y Compromisos</a:t>
            </a:r>
            <a:endParaRPr b="1" i="0" sz="13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6925849" y="4583300"/>
            <a:ext cx="458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Balance del avance actual y compromisos para la próxima semana.</a:t>
            </a:r>
            <a:endParaRPr b="0" i="0" sz="105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762874" y="231291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763025" y="3306960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763025" y="4370102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6368634" y="231291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380541" y="3295074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6372528" y="432613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619999" y="229731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619999" y="3277237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619999" y="4347226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6225759" y="2285424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6237666" y="3271262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6220997" y="4326135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3" name="Google Shape;14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957" y="5733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5047" y="5785757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h1a26b3ade1f5064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h1a26b3ade1f5064_0_4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Roadmap Plan de Trabajo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h1a26b3ade1f5064_0_4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3" name="Google Shape;153;h1a26b3ade1f5064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825" y="5348400"/>
            <a:ext cx="11362625" cy="7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h1a26b3ade1f5064_0_4"/>
          <p:cNvSpPr txBox="1"/>
          <p:nvPr/>
        </p:nvSpPr>
        <p:spPr>
          <a:xfrm>
            <a:off x="466435" y="5624068"/>
            <a:ext cx="1112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Plan de 1</a:t>
            </a:r>
            <a:r>
              <a:rPr b="1" lang="es-CL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b="1" i="0" lang="es-CL" sz="1400" u="none" cap="none" strike="noStrik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 semanas </a:t>
            </a:r>
            <a:r>
              <a:rPr b="0" i="0" lang="es-CL" sz="1400" u="none" cap="none" strike="noStrik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calendario para diseñar, desarrollar, integrar, validar y entregar la plataforma tecnológica propuesta.</a:t>
            </a:r>
            <a:endParaRPr b="0" i="0" sz="1400" u="none" cap="none" strike="noStrike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h1a26b3ade1f5064_0_4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h1a26b3ade1f5064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825" y="1697913"/>
            <a:ext cx="11362626" cy="3462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/>
          <p:nvPr/>
        </p:nvSpPr>
        <p:spPr>
          <a:xfrm>
            <a:off x="523875" y="428625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Porcentaje Cumplimiento</a:t>
            </a:r>
            <a:endParaRPr b="1" i="0" sz="255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523875" y="1028700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3" name="Google Shape;1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750" y="5646550"/>
            <a:ext cx="11058526" cy="102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00" y="5811464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 txBox="1"/>
          <p:nvPr/>
        </p:nvSpPr>
        <p:spPr>
          <a:xfrm>
            <a:off x="784775" y="5811467"/>
            <a:ext cx="107727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just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Estado Global del Cronograma:</a:t>
            </a:r>
            <a:r>
              <a:rPr b="0" i="0" lang="es-CL" sz="1400" u="none" cap="none" strike="noStrik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Nos encontramos en la semana 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r>
              <a:rPr b="0" i="0" lang="es-CL" sz="1400" u="none" cap="none" strike="noStrik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con un 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r>
              <a:rPr b="0" i="0" lang="es-CL" sz="1400" u="none" cap="none" strike="noStrik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% de avance general completado. Mantenemos un 5% de desviación en las actividades en relación del plazo planificado. Las tareas de levantamiento, análisis, diseño, base de datos y backend están concluidas. Actualmente nos encontramos en la etapa de desarrollo de fronted web. </a:t>
            </a:r>
            <a:endParaRPr b="0" i="0" sz="1400" u="none" cap="none" strike="noStrike"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66" name="Google Shape;16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4534" y="1235505"/>
            <a:ext cx="1587146" cy="11346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4585" y="2784597"/>
            <a:ext cx="1587146" cy="1134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14586" y="4299715"/>
            <a:ext cx="1587145" cy="113126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"/>
          <p:cNvSpPr txBox="1"/>
          <p:nvPr/>
        </p:nvSpPr>
        <p:spPr>
          <a:xfrm>
            <a:off x="10255487" y="1546171"/>
            <a:ext cx="112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SEMANA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8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9957596" y="3086808"/>
            <a:ext cx="170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CUMPLIMIENTO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8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10118851" y="4571594"/>
            <a:ext cx="139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DESVIACIÓN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   5%</a:t>
            </a:r>
            <a:endParaRPr b="0" i="0" sz="18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6750" y="1209675"/>
            <a:ext cx="9253576" cy="428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1a26b3ade1f5064_0_50"/>
          <p:cNvSpPr txBox="1"/>
          <p:nvPr/>
        </p:nvSpPr>
        <p:spPr>
          <a:xfrm>
            <a:off x="523875" y="20598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Web - Inicio Sesión Administrador-Cajero-Garzón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h1a26b3ade1f5064_0_50"/>
          <p:cNvSpPr/>
          <p:nvPr/>
        </p:nvSpPr>
        <p:spPr>
          <a:xfrm>
            <a:off x="534575" y="7947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h1a26b3ade1f5064_0_50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h1a26b3ade1f5064_0_50" title="Login.png"/>
          <p:cNvPicPr preferRelativeResize="0"/>
          <p:nvPr/>
        </p:nvPicPr>
        <p:blipFill rotWithShape="1">
          <a:blip r:embed="rId3">
            <a:alphaModFix/>
          </a:blip>
          <a:srcRect b="0" l="30701" r="30554" t="53131"/>
          <a:stretch/>
        </p:blipFill>
        <p:spPr>
          <a:xfrm>
            <a:off x="7835550" y="1591375"/>
            <a:ext cx="3394926" cy="415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h1a26b3ade1f5064_0_50" title="1. Login - Acceso al sistem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524" y="1591363"/>
            <a:ext cx="6424801" cy="415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h61ffbbd66c0d0bd0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h61ffbbd66c0d0bd0_0_4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Web - Acceso Roles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h61ffbbd66c0d0bd0_0_4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h61ffbbd66c0d0bd0_0_4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h61ffbbd66c0d0bd0_0_4" title="Un solo menú, tres rol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5275" y="1737838"/>
            <a:ext cx="6301599" cy="451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h61ffbbd66c0d0bd0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h61ffbbd66c0d0bd0_0_16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Web - Administrador (Panel de control y Reporte )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h61ffbbd66c0d0bd0_0_16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h61ffbbd66c0d0bd0_0_16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h61ffbbd66c0d0bd0_0_16" title="Mirellita Admin - Reportes del Loc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4125" y="2284012"/>
            <a:ext cx="5314150" cy="3421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h61ffbbd66c0d0bd0_0_16" title="Mirellita Admin - Panel de Contro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575" y="2311550"/>
            <a:ext cx="5459500" cy="336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761e30b142a570f1_0_0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Web - Administrador (</a:t>
            </a: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Gestión</a:t>
            </a: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de Usuarios)</a:t>
            </a:r>
            <a:endParaRPr b="1" sz="28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h761e30b142a570f1_0_0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h761e30b142a570f1_0_0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h761e30b142a570f1_0_0" title="Admin - Gestión de Usuario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1925" y="1733400"/>
            <a:ext cx="6574273" cy="432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61ffbbd66c0d0bd0_0_204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Web - Administrador ( Gestión de Turnos y Caja )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h61ffbbd66c0d0bd0_0_204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h61ffbbd66c0d0bd0_0_204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h61ffbbd66c0d0bd0_0_204" title="A · Centr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4200" y="1781975"/>
            <a:ext cx="5286574" cy="355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h61ffbbd66c0d0bd0_0_2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800" y="1781975"/>
            <a:ext cx="6037749" cy="35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61ffbbd66c0d0bd0_0_139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Web - Administrador ( Cobertura de delivery)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h61ffbbd66c0d0bd0_0_139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h61ffbbd66c0d0bd0_0_139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h61ffbbd66c0d0bd0_0_139" title="A · Sucursal sin ubicació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2018025"/>
            <a:ext cx="5066921" cy="3518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h61ffbbd66c0d0bd0_0_139" title="B · Ubicación lista, sin zonas (cobertura por comuna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4275" y="1977413"/>
            <a:ext cx="5066998" cy="351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61ffbbd66c0d0bd0_0_151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Web - Administrador </a:t>
            </a: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( Cobertura de delivery)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h61ffbbd66c0d0bd0_0_151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h61ffbbd66c0d0bd0_0_151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h61ffbbd66c0d0bd0_0_151" title="D · Crear zona (forma cerrada + formulario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475" y="1893475"/>
            <a:ext cx="5599898" cy="388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h61ffbbd66c0d0bd0_0_151" title="E2 · Editar forma (datos bloqueados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1324" y="1856500"/>
            <a:ext cx="5706399" cy="396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61ffbbd66c0d0bd0_0_161"/>
          <p:cNvSpPr txBox="1"/>
          <p:nvPr/>
        </p:nvSpPr>
        <p:spPr>
          <a:xfrm>
            <a:off x="73500" y="796825"/>
            <a:ext cx="1211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Web - Administrador </a:t>
            </a: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( Cobertura de delivery responsive)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h61ffbbd66c0d0bd0_0_161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h61ffbbd66c0d0bd0_0_161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h61ffbbd66c0d0bd0_0_161" title="H · Tablet 820 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0626" y="1639375"/>
            <a:ext cx="2339674" cy="4278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h61ffbbd66c0d0bd0_0_161" title="I2 · Móvil dibujando (permitido, con recomendación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6524" y="1541975"/>
            <a:ext cx="2066926" cy="4473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61ffbbd66c0d0bd0_0_214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Web - Administrador &amp; Cajero </a:t>
            </a: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( Caja )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h61ffbbd66c0d0bd0_0_214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h61ffbbd66c0d0bd0_0_214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h61ffbbd66c0d0bd0_0_214" title="Cierre caj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050" y="2341311"/>
            <a:ext cx="5899725" cy="330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h61ffbbd66c0d0bd0_0_214" title="Comprobante cierre caj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4100" y="2433538"/>
            <a:ext cx="4830275" cy="312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61ffbbd66c0d0bd0_0_226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Web - Administrador &amp; Cajero ( Historial de pedidos)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9" name="Google Shape;259;h61ffbbd66c0d0bd0_0_226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h61ffbbd66c0d0bd0_0_226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h61ffbbd66c0d0bd0_0_226" title="Mirellita Admin - Historial de Pedid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5050" y="1761150"/>
            <a:ext cx="6710399" cy="426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h61ffbbd66c0d0bd0_0_236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Web - Administrador &amp; Cajero( Productos)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" name="Google Shape;267;h61ffbbd66c0d0bd0_0_236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h61ffbbd66c0d0bd0_0_236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h61ffbbd66c0d0bd0_0_236" title="Mirellita Admin - Product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50" y="2161713"/>
            <a:ext cx="5636780" cy="366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h61ffbbd66c0d0bd0_0_236" title="Mirellita Admin - Detalle de Producto (Modal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6525" y="2109200"/>
            <a:ext cx="5443748" cy="377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h61ffbbd66c0d0bd0_0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h61ffbbd66c0d0bd0_0_61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Web - Cajero (Punto de venta POS)</a:t>
            </a:r>
            <a:endParaRPr b="1" sz="28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h61ffbbd66c0d0bd0_0_61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h61ffbbd66c0d0bd0_0_61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h61ffbbd66c0d0bd0_0_61" title="Desktop 1920×960 · carrito visible con varios producto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750" y="1847400"/>
            <a:ext cx="6655964" cy="433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h61ffbbd66c0d0bd0_0_61" title="Tablet vertical 768×1024 · carrito abier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8975" y="1639375"/>
            <a:ext cx="3719052" cy="495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h61ffbbd66c0d0bd0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h61ffbbd66c0d0bd0_0_85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Web - </a:t>
            </a: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Cajero </a:t>
            </a: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(Punto de venta POS Responsive)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h61ffbbd66c0d0bd0_0_85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h61ffbbd66c0d0bd0_0_85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h61ffbbd66c0d0bd0_0_85" title="Móvil 390×844 · carrito cerrad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846" y="1665549"/>
            <a:ext cx="2061374" cy="446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h61ffbbd66c0d0bd0_0_85" title="Móvil 390×844 · carrito abier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9574" y="1639375"/>
            <a:ext cx="2061374" cy="4460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h61ffbbd66c0d0bd0_0_85" title="Borde 320×568 · cerrad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4902" y="1810963"/>
            <a:ext cx="2431325" cy="431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h61ffbbd66c0d0bd0_0_85" title="Borde 320×568 · abier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68852" y="1738248"/>
            <a:ext cx="2431325" cy="4315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h61ffbbd66c0d0bd0_0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h61ffbbd66c0d0bd0_0_101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Web - Cajero &amp; Garzón ( </a:t>
            </a: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Gestión</a:t>
            </a: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de mesas )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9" name="Google Shape;299;h61ffbbd66c0d0bd0_0_101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h61ffbbd66c0d0bd0_0_101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h61ffbbd66c0d0bd0_0_101" title="Mesas · 1920×960 · mapa + coman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5550" y="1639375"/>
            <a:ext cx="8660577" cy="433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h61ffbbd66c0d0bd0_0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h61ffbbd66c0d0bd0_0_112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Web - Cajero &amp; Garzón (</a:t>
            </a: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Gestión</a:t>
            </a: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de mesas)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h61ffbbd66c0d0bd0_0_112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h61ffbbd66c0d0bd0_0_112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h61ffbbd66c0d0bd0_0_112" title="Pedido · 1920×960 · catálogo + ticket (cajera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5150" y="1680637"/>
            <a:ext cx="8861706" cy="443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h61ffbbd66c0d0bd0_0_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400" y="1362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h61ffbbd66c0d0bd0_0_123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Web - </a:t>
            </a: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Cajero &amp; Garzón</a:t>
            </a: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Gestión</a:t>
            </a: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de mesas responsive)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7" name="Google Shape;317;h61ffbbd66c0d0bd0_0_123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h61ffbbd66c0d0bd0_0_123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h61ffbbd66c0d0bd0_0_123" title="Mesas · 390×844 · mesa seleccionada, comanda cerrad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77125" y="1639375"/>
            <a:ext cx="2123125" cy="4594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h61ffbbd66c0d0bd0_0_123" title="Mesas · 390×844 · comanda abiert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9400" y="1639375"/>
            <a:ext cx="2314777" cy="4594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h61ffbbd66c0d0bd0_0_123" title="Mesas · 1024×768 · tablet horizont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2525" y="1567023"/>
            <a:ext cx="5843676" cy="438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1a26b3ade1f5064_0_14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Móvil - Cliente (Inicio-Menú-Carrito)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h1a26b3ade1f5064_0_14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h1a26b3ade1f5064_0_14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h1a26b3ade1f5064_0_14" title="Inicio - Mirellita Cliente (v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577" y="1639375"/>
            <a:ext cx="1964800" cy="410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h1a26b3ade1f5064_0_14" title="Menú - Mirellita Cliente (v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9638" y="1639375"/>
            <a:ext cx="1618880" cy="4103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h1a26b3ade1f5064_0_14" title="Personalizar Producto - Avocado Ebi Rol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3875" y="1714125"/>
            <a:ext cx="1964800" cy="4011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h1a26b3ade1f5064_0_14" title="Personalizar Producto - Avocado Ebi Roll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1749" y="1714119"/>
            <a:ext cx="1964800" cy="4011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h1a26b3ade1f5064_0_14" title="Móvil - Detalle Avocado Tory Roll (Quitar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89626" y="1714126"/>
            <a:ext cx="1964800" cy="4301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h1a26b3ade1f5064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h1a26b3ade1f5064_0_23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Móvil - Cliente (Carrito &amp; Pedidos)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0" name="Google Shape;340;h1a26b3ade1f5064_0_23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h1a26b3ade1f5064_0_23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h1a26b3ade1f5064_0_23" title="Carrito - Mirellita Cliente (v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1022" y="1596800"/>
            <a:ext cx="2114525" cy="45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h1a26b3ade1f5064_0_23" title="Checkout - Paso 1_ Datos - Mirellita Cliente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4738" y="1639375"/>
            <a:ext cx="2114525" cy="4368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h1a26b3ade1f5064_0_23" title="Checkout - Paso 2_ Entrega - Mirellita Cliente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7578" y="1737958"/>
            <a:ext cx="2114525" cy="43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h1a26b3ade1f5064_0_23" title="Checkout - Paso 4_ Resumen - Mirellita Cliente (1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79900" y="1737950"/>
            <a:ext cx="1798575" cy="431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0" name="Google Shape;350;h61ffbbd66c0d0bd0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398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h61ffbbd66c0d0bd0_0_44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Mockup Móvil - Cliente (Pedidos &amp; Perfil)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" name="Google Shape;352;h61ffbbd66c0d0bd0_0_44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h61ffbbd66c0d0bd0_0_44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h61ffbbd66c0d0bd0_0_44" title="Mi Perfi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4575" y="1601725"/>
            <a:ext cx="2256125" cy="45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h61ffbbd66c0d0bd0_0_44" title="Html → Bod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01" y="1486256"/>
            <a:ext cx="2256125" cy="4666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h61ffbbd66c0d0bd0_0_44" title="Checkout - Paso 4_ Resumen - Mirellita Cliente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9300" y="1601725"/>
            <a:ext cx="1859700" cy="447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h61ffbbd66c0d0bd0_0_44"/>
          <p:cNvPicPr preferRelativeResize="0"/>
          <p:nvPr/>
        </p:nvPicPr>
        <p:blipFill rotWithShape="1">
          <a:blip r:embed="rId7">
            <a:alphaModFix/>
          </a:blip>
          <a:srcRect b="1578" l="2468" r="0" t="1588"/>
          <a:stretch/>
        </p:blipFill>
        <p:spPr>
          <a:xfrm>
            <a:off x="5728275" y="1639375"/>
            <a:ext cx="2256125" cy="455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h1a26b3ade1f5064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h1a26b3ade1f5064_0_32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Gestión de Riesgos y Mitigación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4" name="Google Shape;364;h1a26b3ade1f5064_0_32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h1a26b3ade1f5064_0_32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6" name="Google Shape;366;h1a26b3ade1f5064_0_32"/>
          <p:cNvGraphicFramePr/>
          <p:nvPr/>
        </p:nvGraphicFramePr>
        <p:xfrm>
          <a:off x="534575" y="161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{04293375-686E-4556-A4F5-D4B9ECE23F97}</a:tableStyleId>
              </a:tblPr>
              <a:tblGrid>
                <a:gridCol w="726325"/>
                <a:gridCol w="2329800"/>
                <a:gridCol w="1282275"/>
                <a:gridCol w="1011350"/>
                <a:gridCol w="1640450"/>
                <a:gridCol w="2400800"/>
                <a:gridCol w="1565175"/>
              </a:tblGrid>
              <a:tr h="81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lt1"/>
                          </a:solidFill>
                        </a:rPr>
                        <a:t>ID 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lt1"/>
                          </a:solidFill>
                        </a:rPr>
                        <a:t>Descripción del Riesgo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lt1"/>
                          </a:solidFill>
                        </a:rPr>
                        <a:t>Probabilidad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lt1"/>
                          </a:solidFill>
                        </a:rPr>
                        <a:t>Impacto</a:t>
                      </a:r>
                      <a:r>
                        <a:rPr b="1" lang="es-CL">
                          <a:solidFill>
                            <a:schemeClr val="lt1"/>
                          </a:solidFill>
                        </a:rPr>
                        <a:t>	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>
                          <a:solidFill>
                            <a:schemeClr val="lt1"/>
                          </a:solidFill>
                        </a:rPr>
                        <a:t>Nivel del Riesgo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lt1"/>
                          </a:solidFill>
                        </a:rPr>
                        <a:t>Plan de Mitigación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lt1"/>
                          </a:solidFill>
                        </a:rPr>
                        <a:t>Estado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</a:tr>
              <a:tr h="6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R.01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Mensajes de error que revelan si el usuario existe</a:t>
                      </a:r>
                      <a:endParaRPr sz="1300"/>
                    </a:p>
                  </a:txBody>
                  <a:tcPr marT="91425" marB="91425" marR="91425" marL="91425"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300">
                          <a:solidFill>
                            <a:schemeClr val="dk1"/>
                          </a:solidFill>
                        </a:rPr>
                        <a:t>Media (2)</a:t>
                      </a:r>
                      <a:endParaRPr b="1"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300">
                          <a:solidFill>
                            <a:schemeClr val="dk1"/>
                          </a:solidFill>
                        </a:rPr>
                        <a:t>Medio (2)</a:t>
                      </a:r>
                      <a:endParaRPr b="1"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Riesgo </a:t>
                      </a:r>
                      <a:r>
                        <a:rPr lang="es-CL" sz="1300"/>
                        <a:t>Medio (4)</a:t>
                      </a:r>
                      <a:endParaRPr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Mostrar mensaje genérico: 'Credenciales inválidas'.</a:t>
                      </a:r>
                      <a:endParaRPr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Mitigado</a:t>
                      </a:r>
                      <a:endParaRPr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R.02</a:t>
                      </a:r>
                      <a:endParaRPr b="1"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>
                          <a:solidFill>
                            <a:schemeClr val="dk1"/>
                          </a:solidFill>
                        </a:rPr>
                        <a:t>Subir claves o contraseñas a GitHub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300">
                          <a:solidFill>
                            <a:schemeClr val="dk1"/>
                          </a:solidFill>
                        </a:rPr>
                        <a:t>Alta(3)</a:t>
                      </a:r>
                      <a:endParaRPr b="1"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Alto (3)</a:t>
                      </a:r>
                      <a:endParaRPr b="1"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Riesgo </a:t>
                      </a:r>
                      <a:r>
                        <a:rPr lang="es-CL" sz="1300"/>
                        <a:t>Crítico</a:t>
                      </a:r>
                      <a:r>
                        <a:rPr lang="es-CL" sz="1300"/>
                        <a:t> </a:t>
                      </a:r>
                      <a:r>
                        <a:rPr lang="es-CL" sz="1300"/>
                        <a:t>(9)</a:t>
                      </a:r>
                      <a:endParaRPr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Guardar claves en archivo .env y agregarlo a .gitignore.</a:t>
                      </a:r>
                      <a:endParaRPr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Mitigado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76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R.03</a:t>
                      </a:r>
                      <a:endParaRPr b="1" sz="1300"/>
                    </a:p>
                  </a:txBody>
                  <a:tcPr marT="91425" marB="91425" marR="91425" marL="91425"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>
                          <a:solidFill>
                            <a:schemeClr val="dk1"/>
                          </a:solidFill>
                        </a:rPr>
                        <a:t>Fechas o montos sin formato CLP</a:t>
                      </a:r>
                      <a:endParaRPr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300">
                          <a:solidFill>
                            <a:schemeClr val="dk1"/>
                          </a:solidFill>
                        </a:rPr>
                        <a:t>Baja (1)</a:t>
                      </a:r>
                      <a:endParaRPr b="1"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Medio (2)</a:t>
                      </a:r>
                      <a:endParaRPr b="1"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Riesgo </a:t>
                      </a:r>
                      <a:r>
                        <a:rPr lang="es-CL" sz="1300"/>
                        <a:t>Bajo (2)</a:t>
                      </a:r>
                      <a:endParaRPr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Fijar hora de Santiago y formatear importes en pesos chilenos.</a:t>
                      </a:r>
                      <a:endParaRPr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Mitigado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76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R.04</a:t>
                      </a:r>
                      <a:endParaRPr b="1" sz="1300"/>
                    </a:p>
                  </a:txBody>
                  <a:tcPr marT="91425" marB="91425" marR="91425" marL="91425"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Fallo en la comunicación entre el navegador web y la impresora térmica en cocina.</a:t>
                      </a:r>
                      <a:endParaRPr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s-CL" sz="1300"/>
                        <a:t>Alta (3)</a:t>
                      </a:r>
                      <a:endParaRPr b="1" sz="1300"/>
                    </a:p>
                  </a:txBody>
                  <a:tcPr marT="76200" marB="76200" marR="76200" marL="7620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s-CL" sz="1300">
                          <a:solidFill>
                            <a:schemeClr val="dk1"/>
                          </a:solidFill>
                        </a:rPr>
                        <a:t>Medio (2)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Riesgo </a:t>
                      </a:r>
                      <a:r>
                        <a:rPr lang="es-CL" sz="1300"/>
                        <a:t>Alto (6)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Driver puente local en Python/Node y emulador térmico de respaldo.</a:t>
                      </a:r>
                      <a:endParaRPr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Pendiente</a:t>
                      </a:r>
                      <a:endParaRPr sz="13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11-11-2026</a:t>
                      </a:r>
                      <a:endParaRPr sz="13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007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R.05</a:t>
                      </a:r>
                      <a:endParaRPr b="1" sz="1300"/>
                    </a:p>
                  </a:txBody>
                  <a:tcPr marT="91425" marB="91425" marR="91425" marL="91425"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Interrupción en el envío de pedidos durante horas de alta demanda por caída Wi-Fi</a:t>
                      </a:r>
                      <a:endParaRPr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Alta (3)</a:t>
                      </a:r>
                      <a:endParaRPr b="1"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Medio (2)</a:t>
                      </a:r>
                      <a:endParaRPr b="1" sz="1300"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300">
                          <a:solidFill>
                            <a:schemeClr val="dk1"/>
                          </a:solidFill>
                        </a:rPr>
                        <a:t>Riesgo Alto (6)</a:t>
                      </a:r>
                      <a:endParaRPr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Modo offline temporal con cola de sincronización local.</a:t>
                      </a:r>
                      <a:endParaRPr/>
                    </a:p>
                  </a:txBody>
                  <a:tcPr marT="91425" marB="91425" marR="91425" marL="914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Pendiente</a:t>
                      </a:r>
                      <a:endParaRPr sz="13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20-11-2026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2" name="Google Shape;372;h43983b6b187a90a2_0_0"/>
          <p:cNvGraphicFramePr/>
          <p:nvPr/>
        </p:nvGraphicFramePr>
        <p:xfrm>
          <a:off x="523872" y="951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{A92704AE-5464-46CB-8C15-A05981017C16}</a:tableStyleId>
              </a:tblPr>
              <a:tblGrid>
                <a:gridCol w="2786050"/>
                <a:gridCol w="1671625"/>
                <a:gridCol w="2228850"/>
                <a:gridCol w="4457700"/>
              </a:tblGrid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60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Actividad</a:t>
                      </a:r>
                      <a:endParaRPr b="0" i="0" sz="1200" u="non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40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Estado</a:t>
                      </a:r>
                      <a:endParaRPr b="0" i="0" sz="1200" u="non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40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Responsable</a:t>
                      </a:r>
                      <a:endParaRPr b="0" i="0" sz="1200" u="non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40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Evidencia</a:t>
                      </a:r>
                      <a:r>
                        <a:rPr b="0" i="0" lang="es-CL" sz="120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/ </a:t>
                      </a:r>
                      <a:r>
                        <a:rPr b="0" i="0" lang="es-CL" sz="140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Producto</a:t>
                      </a:r>
                      <a:endParaRPr b="0" i="0" sz="1200" u="non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Especificación de Requisitos 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Finalizada</a:t>
                      </a:r>
                      <a:endParaRPr b="1" i="0" sz="1200" u="none">
                        <a:solidFill>
                          <a:srgbClr val="16A34A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Documento ERS y KICK OFF firmado por cliente.</a:t>
                      </a:r>
                      <a:endParaRPr b="0" i="0" sz="1200" u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Documentación Arquitectura DAS</a:t>
                      </a:r>
                      <a:endParaRPr b="0" i="0" sz="1200" u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200"/>
                        <a:buFont typeface="Lato"/>
                        <a:buNone/>
                      </a:pPr>
                      <a:r>
                        <a:rPr b="1" i="0" lang="es-CL" sz="1200" u="non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Finalizada</a:t>
                      </a:r>
                      <a:endParaRPr b="1" i="0" sz="1200" u="none">
                        <a:solidFill>
                          <a:srgbClr val="2563E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Diseño casos de uso, diagramas de flujo, modelo de datos y mockup.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Modelo de Datos y API REST</a:t>
                      </a:r>
                      <a:endParaRPr b="0" i="0" sz="1200" u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200"/>
                        <a:buFont typeface="Lato"/>
                        <a:buNone/>
                      </a:pPr>
                      <a:r>
                        <a:rPr b="1" lang="es-CL" sz="1200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Finalizada</a:t>
                      </a:r>
                      <a:endParaRPr b="1" i="0" sz="1200" u="none">
                        <a:solidFill>
                          <a:srgbClr val="D9770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Jerson Huaman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Script BD PostgreSQL, API Rest y endpoints para la página web y la app móvil.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Web POS Caja, Salón &amp; Admin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200"/>
                        <a:buFont typeface="Lato"/>
                        <a:buNone/>
                      </a:pPr>
                      <a:r>
                        <a:rPr b="1" lang="es-CL" sz="1200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Finalizada</a:t>
                      </a:r>
                      <a:endParaRPr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Alexia Cano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Pantallas Angular: estructura, rutas, servicios, sesión, guards y roles.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App </a:t>
                      </a:r>
                      <a:r>
                        <a:rPr lang="es-CL"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Móvil</a:t>
                      </a: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Carta &amp; Pedidos</a:t>
                      </a:r>
                      <a:endParaRPr b="0" i="0" sz="1200" u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200"/>
                        <a:buFont typeface="Lato"/>
                        <a:buNone/>
                      </a:pPr>
                      <a:r>
                        <a:rPr b="1" lang="es-CL" sz="1200">
                          <a:solidFill>
                            <a:srgbClr val="2563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 Proceso</a:t>
                      </a:r>
                      <a:endParaRPr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Alexia Cano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Pantallas Setup Ionic + Angular + Capacitor, almacenamiento local y navegación.</a:t>
                      </a:r>
                      <a:endParaRPr b="0" i="0" sz="1200" u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3" name="Google Shape;373;h43983b6b187a90a2_0_0"/>
          <p:cNvSpPr txBox="1"/>
          <p:nvPr/>
        </p:nvSpPr>
        <p:spPr>
          <a:xfrm>
            <a:off x="523876" y="110896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Seguimiento de Actividades</a:t>
            </a:r>
            <a:endParaRPr/>
          </a:p>
        </p:txBody>
      </p:sp>
      <p:sp>
        <p:nvSpPr>
          <p:cNvPr id="374" name="Google Shape;374;h43983b6b187a90a2_0_0"/>
          <p:cNvSpPr/>
          <p:nvPr/>
        </p:nvSpPr>
        <p:spPr>
          <a:xfrm>
            <a:off x="523876" y="710971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5" name="Google Shape;375;h43983b6b187a90a2_0_0"/>
          <p:cNvGraphicFramePr/>
          <p:nvPr/>
        </p:nvGraphicFramePr>
        <p:xfrm>
          <a:off x="523872" y="3633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{A92704AE-5464-46CB-8C15-A05981017C16}</a:tableStyleId>
              </a:tblPr>
              <a:tblGrid>
                <a:gridCol w="2786050"/>
                <a:gridCol w="1671625"/>
                <a:gridCol w="2228850"/>
                <a:gridCol w="4457700"/>
              </a:tblGrid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Integración</a:t>
                      </a:r>
                      <a:r>
                        <a:rPr b="0" lang="es-CL"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Google Maps e Impresora Térmica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Pendiente</a:t>
                      </a:r>
                      <a:endParaRPr b="1" i="0" sz="1200" u="none">
                        <a:solidFill>
                          <a:srgbClr val="2563E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Jerson </a:t>
                      </a:r>
                      <a:r>
                        <a:rPr b="0" lang="es-CL"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Huaman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Integración </a:t>
                      </a: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 impresión de comanda y </a:t>
                      </a:r>
                      <a:r>
                        <a:rPr b="0" lang="es-CL"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mapa interactivo para sectores de reparto por delivery.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Pruebas &amp; Marcha Blanca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Pendiente</a:t>
                      </a:r>
                      <a:endParaRPr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Ejecución pruebas, </a:t>
                      </a:r>
                      <a:r>
                        <a:rPr b="0" i="0" lang="es-CL" sz="120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Informe de QA y Acta de Aceptación Cliente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376" name="Google Shape;376;h43983b6b187a90a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0794" y="4692453"/>
            <a:ext cx="2520000" cy="1838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h43983b6b187a90a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0412" y="4667848"/>
            <a:ext cx="2520000" cy="1869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h43983b6b187a90a2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50422" y="4667847"/>
            <a:ext cx="2520000" cy="1796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h43983b6b187a90a2_0_0"/>
          <p:cNvSpPr txBox="1"/>
          <p:nvPr/>
        </p:nvSpPr>
        <p:spPr>
          <a:xfrm>
            <a:off x="3773973" y="5004531"/>
            <a:ext cx="1925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ACTIVIDADES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EN PROCESO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F49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800">
              <a:solidFill>
                <a:srgbClr val="1F49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h43983b6b187a90a2_0_0"/>
          <p:cNvSpPr txBox="1"/>
          <p:nvPr/>
        </p:nvSpPr>
        <p:spPr>
          <a:xfrm>
            <a:off x="6767484" y="5035219"/>
            <a:ext cx="1665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F79646"/>
                </a:solidFill>
                <a:latin typeface="Calibri"/>
                <a:ea typeface="Calibri"/>
                <a:cs typeface="Calibri"/>
                <a:sym typeface="Calibri"/>
              </a:rPr>
              <a:t>ACTIVIDADES PENDIENTES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F7964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h43983b6b187a90a2_0_0"/>
          <p:cNvSpPr txBox="1"/>
          <p:nvPr/>
        </p:nvSpPr>
        <p:spPr>
          <a:xfrm>
            <a:off x="9543547" y="5004531"/>
            <a:ext cx="1733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ACTIVIDADES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ATRASADAS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2" name="Google Shape;382;h43983b6b187a90a2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1264" y="4704757"/>
            <a:ext cx="2520000" cy="180152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h43983b6b187a90a2_0_0"/>
          <p:cNvSpPr txBox="1"/>
          <p:nvPr/>
        </p:nvSpPr>
        <p:spPr>
          <a:xfrm>
            <a:off x="763870" y="5035219"/>
            <a:ext cx="1864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ACTIVIDADES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FINALIZAS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h43983b6b187a90a2_0_0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pic>
        <p:nvPicPr>
          <p:cNvPr descr="image.png" id="385" name="Google Shape;385;h43983b6b187a90a2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62305" y="1539219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h43983b6b187a90a2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62305" y="2016319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h43983b6b187a90a2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62305" y="3783184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h43983b6b187a90a2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71830" y="423782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h43983b6b187a90a2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62305" y="241720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h43983b6b187a90a2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52780" y="3330193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h43983b6b187a90a2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62305" y="2873707"/>
            <a:ext cx="1238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h61ffbbd66c0d0bd0_0_248"/>
          <p:cNvSpPr/>
          <p:nvPr/>
        </p:nvSpPr>
        <p:spPr>
          <a:xfrm>
            <a:off x="412653" y="557064"/>
            <a:ext cx="6297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Poppins"/>
              <a:buNone/>
            </a:pP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Conclusiones y Compromisos</a:t>
            </a:r>
            <a:endParaRPr b="1" i="0" sz="26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7" name="Google Shape;397;h61ffbbd66c0d0bd0_0_248"/>
          <p:cNvSpPr/>
          <p:nvPr/>
        </p:nvSpPr>
        <p:spPr>
          <a:xfrm>
            <a:off x="412653" y="1197167"/>
            <a:ext cx="11466600" cy="45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h61ffbbd66c0d0bd0_0_248"/>
          <p:cNvSpPr/>
          <p:nvPr/>
        </p:nvSpPr>
        <p:spPr>
          <a:xfrm>
            <a:off x="609600" y="1447800"/>
            <a:ext cx="5372100" cy="4324200"/>
          </a:xfrm>
          <a:prstGeom prst="roundRect">
            <a:avLst>
              <a:gd fmla="val 308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h61ffbbd66c0d0bd0_0_248"/>
          <p:cNvSpPr/>
          <p:nvPr/>
        </p:nvSpPr>
        <p:spPr>
          <a:xfrm>
            <a:off x="6210300" y="1447800"/>
            <a:ext cx="5372100" cy="4324200"/>
          </a:xfrm>
          <a:prstGeom prst="roundRect">
            <a:avLst>
              <a:gd fmla="val 308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h61ffbbd66c0d0bd0_0_248"/>
          <p:cNvSpPr/>
          <p:nvPr/>
        </p:nvSpPr>
        <p:spPr>
          <a:xfrm>
            <a:off x="847725" y="5010081"/>
            <a:ext cx="4896000" cy="677400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1" name="Google Shape;401;h61ffbbd66c0d0bd0_0_248"/>
          <p:cNvSpPr/>
          <p:nvPr/>
        </p:nvSpPr>
        <p:spPr>
          <a:xfrm>
            <a:off x="6448425" y="5233988"/>
            <a:ext cx="4896000" cy="409500"/>
          </a:xfrm>
          <a:prstGeom prst="roundRect">
            <a:avLst>
              <a:gd fmla="val 18604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h61ffbbd66c0d0bd0_0_248"/>
          <p:cNvSpPr/>
          <p:nvPr/>
        </p:nvSpPr>
        <p:spPr>
          <a:xfrm>
            <a:off x="6448425" y="2181225"/>
            <a:ext cx="4896000" cy="866700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h61ffbbd66c0d0bd0_0_248"/>
          <p:cNvSpPr/>
          <p:nvPr/>
        </p:nvSpPr>
        <p:spPr>
          <a:xfrm>
            <a:off x="6448425" y="3162300"/>
            <a:ext cx="4896000" cy="866700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h61ffbbd66c0d0bd0_0_248"/>
          <p:cNvSpPr/>
          <p:nvPr/>
        </p:nvSpPr>
        <p:spPr>
          <a:xfrm>
            <a:off x="6448425" y="4143375"/>
            <a:ext cx="4896000" cy="866700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h61ffbbd66c0d0bd0_0_248"/>
          <p:cNvSpPr/>
          <p:nvPr/>
        </p:nvSpPr>
        <p:spPr>
          <a:xfrm>
            <a:off x="6448425" y="2181225"/>
            <a:ext cx="38100" cy="866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h61ffbbd66c0d0bd0_0_248"/>
          <p:cNvSpPr/>
          <p:nvPr/>
        </p:nvSpPr>
        <p:spPr>
          <a:xfrm>
            <a:off x="6448425" y="3162300"/>
            <a:ext cx="38100" cy="8667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h61ffbbd66c0d0bd0_0_248"/>
          <p:cNvSpPr/>
          <p:nvPr/>
        </p:nvSpPr>
        <p:spPr>
          <a:xfrm>
            <a:off x="6448425" y="4143375"/>
            <a:ext cx="38100" cy="8667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8" name="Google Shape;408;h61ffbbd66c0d0bd0_0_2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16859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h61ffbbd66c0d0bd0_0_2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125" y="5079504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h61ffbbd66c0d0bd0_0_2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8425" y="16859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h61ffbbd66c0d0bd0_0_2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7524" y="538734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h61ffbbd66c0d0bd0_0_2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2975" y="17811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h61ffbbd66c0d0bd0_0_2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725" y="31908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h61ffbbd66c0d0bd0_0_2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4625" y="178117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h61ffbbd66c0d0bd0_0_248"/>
          <p:cNvSpPr txBox="1"/>
          <p:nvPr/>
        </p:nvSpPr>
        <p:spPr>
          <a:xfrm>
            <a:off x="838200" y="6115050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h61ffbbd66c0d0bd0_0_248"/>
          <p:cNvSpPr txBox="1"/>
          <p:nvPr/>
        </p:nvSpPr>
        <p:spPr>
          <a:xfrm>
            <a:off x="6715125" y="5369379"/>
            <a:ext cx="4246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 Próxima reunión de seguimiento: VIERNES </a:t>
            </a:r>
            <a:r>
              <a:rPr b="1" lang="es-CL" sz="1100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  <a:r>
              <a:rPr b="1" i="0" lang="es-CL" sz="1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-10-2026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h61ffbbd66c0d0bd0_0_248"/>
          <p:cNvSpPr txBox="1"/>
          <p:nvPr/>
        </p:nvSpPr>
        <p:spPr>
          <a:xfrm>
            <a:off x="1133475" y="5010075"/>
            <a:ext cx="4410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Proyecto avanzando según cronograma </a:t>
            </a:r>
            <a:r>
              <a:rPr lang="es-CL" sz="11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con una baja del 5% en </a:t>
            </a:r>
            <a:r>
              <a:rPr lang="es-CL" sz="11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relación</a:t>
            </a:r>
            <a:r>
              <a:rPr lang="es-CL" sz="11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al plan el cual tenemos planificado completar al </a:t>
            </a:r>
            <a:r>
              <a:rPr lang="es-CL" sz="11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término</a:t>
            </a:r>
            <a:r>
              <a:rPr lang="es-CL" sz="11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de esta semana para alinearnos al cronograma original</a:t>
            </a:r>
            <a:endParaRPr b="0" i="0" sz="11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8" name="Google Shape;418;h61ffbbd66c0d0bd0_0_248"/>
          <p:cNvSpPr txBox="1"/>
          <p:nvPr/>
        </p:nvSpPr>
        <p:spPr>
          <a:xfrm>
            <a:off x="1285875" y="1738312"/>
            <a:ext cx="2058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 del Avance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h61ffbbd66c0d0bd0_0_248"/>
          <p:cNvSpPr txBox="1"/>
          <p:nvPr/>
        </p:nvSpPr>
        <p:spPr>
          <a:xfrm>
            <a:off x="6811125" y="1738300"/>
            <a:ext cx="4743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Compromisos Próxima Semana (Semana </a:t>
            </a:r>
            <a:r>
              <a:rPr b="1" lang="es-CL" sz="16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b="1" i="0" lang="es-CL" sz="1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h61ffbbd66c0d0bd0_0_248"/>
          <p:cNvSpPr txBox="1"/>
          <p:nvPr/>
        </p:nvSpPr>
        <p:spPr>
          <a:xfrm>
            <a:off x="1095375" y="3171825"/>
            <a:ext cx="47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Entregables Cumplidos: </a:t>
            </a:r>
            <a:r>
              <a:rPr b="0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Script BD PostgreSQL, Endpoints API REST base completados al 100%.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h61ffbbd66c0d0bd0_0_248"/>
          <p:cNvSpPr txBox="1"/>
          <p:nvPr/>
        </p:nvSpPr>
        <p:spPr>
          <a:xfrm>
            <a:off x="1095375" y="3808011"/>
            <a:ext cx="47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Hito Técnico </a:t>
            </a:r>
            <a:r>
              <a:rPr b="1"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Por Concluir</a:t>
            </a: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</a:t>
            </a:r>
            <a:r>
              <a:rPr b="0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nterfaces web de 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los roles de administrador, cajero y garzón</a:t>
            </a:r>
            <a:r>
              <a:rPr b="0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2" name="Google Shape;422;h61ffbbd66c0d0bd0_0_248"/>
          <p:cNvSpPr txBox="1"/>
          <p:nvPr/>
        </p:nvSpPr>
        <p:spPr>
          <a:xfrm>
            <a:off x="1095375" y="4435298"/>
            <a:ext cx="47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Siguiente Fase: </a:t>
            </a:r>
            <a:r>
              <a:rPr b="0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Inicio formal del desarrollo interactivo de pantallas Móvil.</a:t>
            </a:r>
            <a:endParaRPr b="0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3" name="Google Shape;423;h61ffbbd66c0d0bd0_0_248"/>
          <p:cNvSpPr txBox="1"/>
          <p:nvPr/>
        </p:nvSpPr>
        <p:spPr>
          <a:xfrm>
            <a:off x="6638925" y="2533650"/>
            <a:ext cx="461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Vistas principales del administrador, cajero y garzón</a:t>
            </a:r>
            <a:r>
              <a:rPr b="0" i="0" lang="es-CL" sz="12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200" u="none" cap="none" strike="noStrik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4" name="Google Shape;424;h61ffbbd66c0d0bd0_0_248"/>
          <p:cNvSpPr txBox="1"/>
          <p:nvPr/>
        </p:nvSpPr>
        <p:spPr>
          <a:xfrm>
            <a:off x="6638925" y="2743200"/>
            <a:ext cx="239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</a:t>
            </a:r>
            <a:r>
              <a:rPr b="1"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Todo el equipo</a:t>
            </a:r>
            <a:endParaRPr b="1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5" name="Google Shape;425;h61ffbbd66c0d0bd0_0_248"/>
          <p:cNvSpPr txBox="1"/>
          <p:nvPr/>
        </p:nvSpPr>
        <p:spPr>
          <a:xfrm>
            <a:off x="6638925" y="3514725"/>
            <a:ext cx="277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Inicio, </a:t>
            </a:r>
            <a:r>
              <a:rPr lang="es-CL" sz="12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Menú, Carrito y Perfil.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h61ffbbd66c0d0bd0_0_248"/>
          <p:cNvSpPr txBox="1"/>
          <p:nvPr/>
        </p:nvSpPr>
        <p:spPr>
          <a:xfrm>
            <a:off x="6638925" y="3724275"/>
            <a:ext cx="140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Alexia Cano</a:t>
            </a:r>
            <a:endParaRPr b="1" i="0" sz="1200" u="none" cap="none" strike="noStrik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7" name="Google Shape;427;h61ffbbd66c0d0bd0_0_248"/>
          <p:cNvSpPr txBox="1"/>
          <p:nvPr/>
        </p:nvSpPr>
        <p:spPr>
          <a:xfrm>
            <a:off x="6638925" y="4495800"/>
            <a:ext cx="386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Seguimiento actividades y status proyecto.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h61ffbbd66c0d0bd0_0_248"/>
          <p:cNvSpPr txBox="1"/>
          <p:nvPr/>
        </p:nvSpPr>
        <p:spPr>
          <a:xfrm>
            <a:off x="6638925" y="4705350"/>
            <a:ext cx="165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Karina Escobar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h61ffbbd66c0d0bd0_0_248"/>
          <p:cNvSpPr txBox="1"/>
          <p:nvPr/>
        </p:nvSpPr>
        <p:spPr>
          <a:xfrm>
            <a:off x="6638925" y="2251372"/>
            <a:ext cx="373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Presentación </a:t>
            </a: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Módulo</a:t>
            </a: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Web Admin, Caja &amp; Salón</a:t>
            </a:r>
            <a:endParaRPr b="1" sz="12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0" name="Google Shape;430;h61ffbbd66c0d0bd0_0_248"/>
          <p:cNvSpPr txBox="1"/>
          <p:nvPr/>
        </p:nvSpPr>
        <p:spPr>
          <a:xfrm>
            <a:off x="6638925" y="3295650"/>
            <a:ext cx="334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Inicio desarrollo </a:t>
            </a: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App Móvil</a:t>
            </a:r>
            <a:endParaRPr b="1" i="0" sz="12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h61ffbbd66c0d0bd0_0_248"/>
          <p:cNvSpPr txBox="1"/>
          <p:nvPr/>
        </p:nvSpPr>
        <p:spPr>
          <a:xfrm>
            <a:off x="6638925" y="4276725"/>
            <a:ext cx="204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Mostrar Avance Semanal</a:t>
            </a:r>
            <a:endParaRPr b="1" i="0" sz="12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2" name="Google Shape;432;h61ffbbd66c0d0bd0_0_248"/>
          <p:cNvSpPr/>
          <p:nvPr/>
        </p:nvSpPr>
        <p:spPr>
          <a:xfrm>
            <a:off x="942975" y="2071562"/>
            <a:ext cx="4896000" cy="833700"/>
          </a:xfrm>
          <a:prstGeom prst="roundRect">
            <a:avLst>
              <a:gd fmla="val 18604" name="adj"/>
            </a:avLst>
          </a:prstGeom>
          <a:solidFill>
            <a:srgbClr val="002060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h61ffbbd66c0d0bd0_0_248"/>
          <p:cNvSpPr txBox="1"/>
          <p:nvPr/>
        </p:nvSpPr>
        <p:spPr>
          <a:xfrm>
            <a:off x="1038225" y="2478823"/>
            <a:ext cx="158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CL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58</a:t>
            </a:r>
            <a:r>
              <a:rPr b="1" i="0" lang="es-CL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% Completado</a:t>
            </a:r>
            <a:endParaRPr b="1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4" name="Google Shape;434;h61ffbbd66c0d0bd0_0_248"/>
          <p:cNvSpPr txBox="1"/>
          <p:nvPr/>
        </p:nvSpPr>
        <p:spPr>
          <a:xfrm>
            <a:off x="1038225" y="2288323"/>
            <a:ext cx="209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Estado Global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h61ffbbd66c0d0bd0_0_248"/>
          <p:cNvSpPr/>
          <p:nvPr/>
        </p:nvSpPr>
        <p:spPr>
          <a:xfrm>
            <a:off x="3695677" y="2362359"/>
            <a:ext cx="1953900" cy="2310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6" name="Google Shape;436;h61ffbbd66c0d0bd0_0_24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8200" y="381954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h61ffbbd66c0d0bd0_0_24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4863" y="4473979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h61ffbbd66c0d0bd0_0_248"/>
          <p:cNvSpPr txBox="1"/>
          <p:nvPr/>
        </p:nvSpPr>
        <p:spPr>
          <a:xfrm>
            <a:off x="3772772" y="2393252"/>
            <a:ext cx="1799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Semana </a:t>
            </a:r>
            <a:r>
              <a:rPr b="1" lang="es-CL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r>
              <a:rPr b="1" i="0" lang="es-CL" sz="11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de 1</a:t>
            </a:r>
            <a:r>
              <a:rPr b="1" lang="es-CL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b="1" i="0" sz="1400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"/>
          <p:cNvSpPr txBox="1"/>
          <p:nvPr/>
        </p:nvSpPr>
        <p:spPr>
          <a:xfrm>
            <a:off x="772380" y="2302317"/>
            <a:ext cx="1049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34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¡Muchas gracias por su atención!</a:t>
            </a:r>
            <a:endParaRPr b="1" i="0" sz="3400" u="none" cap="none" strike="noStrike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4" name="Google Shape;444;p8"/>
          <p:cNvSpPr/>
          <p:nvPr/>
        </p:nvSpPr>
        <p:spPr>
          <a:xfrm>
            <a:off x="1923785" y="4377630"/>
            <a:ext cx="8191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8"/>
          <p:cNvSpPr/>
          <p:nvPr/>
        </p:nvSpPr>
        <p:spPr>
          <a:xfrm>
            <a:off x="4785078" y="6035976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8"/>
          <p:cNvSpPr/>
          <p:nvPr/>
        </p:nvSpPr>
        <p:spPr>
          <a:xfrm>
            <a:off x="7840436" y="6024768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7" name="Google Shape;4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861" y="6005441"/>
            <a:ext cx="190500" cy="14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8" name="Google Shape;44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6011" y="6005441"/>
            <a:ext cx="152400" cy="14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4486" y="6005441"/>
            <a:ext cx="133350" cy="1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8"/>
          <p:cNvSpPr txBox="1"/>
          <p:nvPr/>
        </p:nvSpPr>
        <p:spPr>
          <a:xfrm>
            <a:off x="2515209" y="5973399"/>
            <a:ext cx="1875514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8"/>
          <p:cNvSpPr txBox="1"/>
          <p:nvPr/>
        </p:nvSpPr>
        <p:spPr>
          <a:xfrm>
            <a:off x="5185128" y="5979390"/>
            <a:ext cx="2244204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contacto@gastroconnect.com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8"/>
          <p:cNvSpPr txBox="1"/>
          <p:nvPr/>
        </p:nvSpPr>
        <p:spPr>
          <a:xfrm>
            <a:off x="8220355" y="5987342"/>
            <a:ext cx="1219886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Octubre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2096861" y="6020698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362647" y="5449128"/>
            <a:ext cx="11466706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55" name="Google Shape;45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0267" y="5681874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8"/>
          <p:cNvSpPr/>
          <p:nvPr/>
        </p:nvSpPr>
        <p:spPr>
          <a:xfrm>
            <a:off x="3812814" y="445437"/>
            <a:ext cx="4746171" cy="304800"/>
          </a:xfrm>
          <a:prstGeom prst="roundRect">
            <a:avLst>
              <a:gd fmla="val 50000" name="adj"/>
            </a:avLst>
          </a:prstGeom>
          <a:solidFill>
            <a:srgbClr val="142B43"/>
          </a:solidFill>
          <a:ln cap="flat" cmpd="sng" w="9525">
            <a:solidFill>
              <a:srgbClr val="1B4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57" name="Google Shape;45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73041" y="526383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8"/>
          <p:cNvSpPr txBox="1"/>
          <p:nvPr/>
        </p:nvSpPr>
        <p:spPr>
          <a:xfrm>
            <a:off x="4205723" y="501439"/>
            <a:ext cx="408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GASTROCONNECT — RESTAURANTE </a:t>
            </a:r>
            <a:r>
              <a:rPr b="1" lang="es-CL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8"/>
          <p:cNvSpPr txBox="1"/>
          <p:nvPr/>
        </p:nvSpPr>
        <p:spPr>
          <a:xfrm>
            <a:off x="1794650" y="3197975"/>
            <a:ext cx="89082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GastroConnect — Transformación digital inteligente e integral para el Restaurante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Shaolin Sushi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