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Plus Jakarta Sans"/>
      <p:regular r:id="rId26"/>
      <p:bold r:id="rId27"/>
      <p:italic r:id="rId28"/>
      <p:boldItalic r:id="rId29"/>
    </p:embeddedFont>
    <p:embeddedFont>
      <p:font typeface="Lato"/>
      <p:regular r:id="rId30"/>
      <p:bold r:id="rId31"/>
      <p:italic r:id="rId32"/>
      <p:boldItalic r:id="rId33"/>
    </p:embeddedFont>
    <p:embeddedFont>
      <p:font typeface="Poppins SemiBold"/>
      <p:regular r:id="rId34"/>
      <p:bold r:id="rId35"/>
      <p:italic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2" roundtripDataSignature="AMtx7mjp1RcsvU9WikKk+kEspghgZbgs7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1CD1F72-441A-4A20-B5C3-8D7F900E2F81}">
  <a:tblStyle styleId="{21CD1F72-441A-4A20-B5C3-8D7F900E2F81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RobotoMono-boldItalic.fntdata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PlusJakartaSans-italic.fntdata"/><Relationship Id="rId27" Type="http://schemas.openxmlformats.org/officeDocument/2006/relationships/font" Target="fonts/PlusJakarta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bold.fntdata"/><Relationship Id="rId30" Type="http://schemas.openxmlformats.org/officeDocument/2006/relationships/font" Target="fonts/Lato-regular.fntdata"/><Relationship Id="rId11" Type="http://schemas.openxmlformats.org/officeDocument/2006/relationships/slide" Target="slides/slide5.xml"/><Relationship Id="rId33" Type="http://schemas.openxmlformats.org/officeDocument/2006/relationships/font" Target="fonts/Lato-boldItalic.fntdata"/><Relationship Id="rId10" Type="http://schemas.openxmlformats.org/officeDocument/2006/relationships/slide" Target="slides/slide4.xml"/><Relationship Id="rId32" Type="http://schemas.openxmlformats.org/officeDocument/2006/relationships/font" Target="fonts/Lato-italic.fntdata"/><Relationship Id="rId13" Type="http://schemas.openxmlformats.org/officeDocument/2006/relationships/slide" Target="slides/slide7.xml"/><Relationship Id="rId35" Type="http://schemas.openxmlformats.org/officeDocument/2006/relationships/font" Target="fonts/PoppinsSemiBold-bold.fntdata"/><Relationship Id="rId12" Type="http://schemas.openxmlformats.org/officeDocument/2006/relationships/slide" Target="slides/slide6.xml"/><Relationship Id="rId34" Type="http://schemas.openxmlformats.org/officeDocument/2006/relationships/font" Target="fonts/PoppinsSemiBold-regular.fntdata"/><Relationship Id="rId15" Type="http://schemas.openxmlformats.org/officeDocument/2006/relationships/slide" Target="slides/slide9.xml"/><Relationship Id="rId37" Type="http://schemas.openxmlformats.org/officeDocument/2006/relationships/font" Target="fonts/PoppinsSemiBold-boldItalic.fntdata"/><Relationship Id="rId14" Type="http://schemas.openxmlformats.org/officeDocument/2006/relationships/slide" Target="slides/slide8.xml"/><Relationship Id="rId36" Type="http://schemas.openxmlformats.org/officeDocument/2006/relationships/font" Target="fonts/PoppinsSemiBold-italic.fntdata"/><Relationship Id="rId17" Type="http://schemas.openxmlformats.org/officeDocument/2006/relationships/slide" Target="slides/slide11.xml"/><Relationship Id="rId39" Type="http://schemas.openxmlformats.org/officeDocument/2006/relationships/font" Target="fonts/RobotoMono-bold.fntdata"/><Relationship Id="rId16" Type="http://schemas.openxmlformats.org/officeDocument/2006/relationships/slide" Target="slides/slide10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12556c826f0a0262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h12556c826f0a0262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h12556c826f0a0262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h2575e389d1e18be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h2575e389d1e18be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h2575e389d1e18be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h12556c826f0a0262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h12556c826f0a0262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h12556c826f0a0262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h61ffbbd66c0d0bd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h61ffbbd66c0d0bd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h12556c826f0a0262_2_1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9" name="Google Shape;269;h12556c826f0a0262_2_1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h12556c826f0a0262_2_9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h12556c826f0a0262_2_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h12556c826f0a0262_2_3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h12556c826f0a0262_2_3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h12556c826f0a0262_2_1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h12556c826f0a0262_2_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h2575e389d1e18b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h2575e389d1e18b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h2575e389d1e18b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h12556c826f0a0262_2_1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h12556c826f0a0262_2_1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0" name="Google Shape;450;h12556c826f0a0262_2_1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h12556c826f0a0262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4" name="Google Shape;464;h12556c826f0a0262_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h61ffbbd66c0d0bd0_0_2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3" name="Google Shape;493;h61ffbbd66c0d0bd0_0_2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20.png"/><Relationship Id="rId6" Type="http://schemas.openxmlformats.org/officeDocument/2006/relationships/image" Target="../media/image26.png"/><Relationship Id="rId7" Type="http://schemas.openxmlformats.org/officeDocument/2006/relationships/image" Target="../media/image21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10" Type="http://schemas.openxmlformats.org/officeDocument/2006/relationships/image" Target="../media/image29.png"/><Relationship Id="rId9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22.png"/><Relationship Id="rId7" Type="http://schemas.openxmlformats.org/officeDocument/2006/relationships/image" Target="../media/image27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3.png"/><Relationship Id="rId7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78.png"/><Relationship Id="rId10" Type="http://schemas.openxmlformats.org/officeDocument/2006/relationships/image" Target="../media/image39.png"/><Relationship Id="rId9" Type="http://schemas.openxmlformats.org/officeDocument/2006/relationships/image" Target="../media/image38.png"/><Relationship Id="rId5" Type="http://schemas.openxmlformats.org/officeDocument/2006/relationships/image" Target="../media/image40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2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52.png"/><Relationship Id="rId10" Type="http://schemas.openxmlformats.org/officeDocument/2006/relationships/image" Target="../media/image51.png"/><Relationship Id="rId13" Type="http://schemas.openxmlformats.org/officeDocument/2006/relationships/image" Target="../media/image54.png"/><Relationship Id="rId12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49.png"/><Relationship Id="rId9" Type="http://schemas.openxmlformats.org/officeDocument/2006/relationships/image" Target="../media/image50.png"/><Relationship Id="rId5" Type="http://schemas.openxmlformats.org/officeDocument/2006/relationships/image" Target="../media/image47.png"/><Relationship Id="rId6" Type="http://schemas.openxmlformats.org/officeDocument/2006/relationships/image" Target="../media/image46.png"/><Relationship Id="rId7" Type="http://schemas.openxmlformats.org/officeDocument/2006/relationships/image" Target="../media/image43.png"/><Relationship Id="rId8" Type="http://schemas.openxmlformats.org/officeDocument/2006/relationships/image" Target="../media/image4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57.png"/><Relationship Id="rId5" Type="http://schemas.openxmlformats.org/officeDocument/2006/relationships/image" Target="../media/image6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0.png"/><Relationship Id="rId4" Type="http://schemas.openxmlformats.org/officeDocument/2006/relationships/image" Target="../media/image58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66.png"/><Relationship Id="rId10" Type="http://schemas.openxmlformats.org/officeDocument/2006/relationships/image" Target="../media/image55.png"/><Relationship Id="rId13" Type="http://schemas.openxmlformats.org/officeDocument/2006/relationships/image" Target="../media/image67.png"/><Relationship Id="rId1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65.png"/><Relationship Id="rId5" Type="http://schemas.openxmlformats.org/officeDocument/2006/relationships/image" Target="../media/image61.png"/><Relationship Id="rId6" Type="http://schemas.openxmlformats.org/officeDocument/2006/relationships/image" Target="../media/image24.png"/><Relationship Id="rId7" Type="http://schemas.openxmlformats.org/officeDocument/2006/relationships/image" Target="../media/image63.png"/><Relationship Id="rId8" Type="http://schemas.openxmlformats.org/officeDocument/2006/relationships/image" Target="../media/image5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2.png"/><Relationship Id="rId6" Type="http://schemas.openxmlformats.org/officeDocument/2006/relationships/image" Target="../media/image71.png"/><Relationship Id="rId7" Type="http://schemas.openxmlformats.org/officeDocument/2006/relationships/image" Target="../media/image7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3.png"/><Relationship Id="rId4" Type="http://schemas.openxmlformats.org/officeDocument/2006/relationships/image" Target="../media/image75.png"/><Relationship Id="rId5" Type="http://schemas.openxmlformats.org/officeDocument/2006/relationships/image" Target="../media/image70.png"/><Relationship Id="rId6" Type="http://schemas.openxmlformats.org/officeDocument/2006/relationships/image" Target="../media/image76.png"/><Relationship Id="rId7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42112" y="4384940"/>
            <a:ext cx="6400801" cy="647997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4942114" y="2237333"/>
            <a:ext cx="6553200" cy="666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s-CL" sz="4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GastroConnect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4942114" y="2989808"/>
            <a:ext cx="65532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-CL" sz="2100" u="none" cap="none" strike="noStrik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Sistema Integral de Gestión Operativa y Pedidos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942113" y="3580358"/>
            <a:ext cx="6400800" cy="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78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Plataforma omnicanal para optimización del flujo en salón, punto de venta y canal de pedidos cliente para </a:t>
            </a:r>
            <a:r>
              <a:rPr b="1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Restaurante </a:t>
            </a:r>
            <a:r>
              <a:rPr b="1" lang="es-CL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b="0" i="0" sz="14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4942114" y="4530626"/>
            <a:ext cx="1447800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CLIENTE 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4942114" y="4748212"/>
            <a:ext cx="17337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Restaurante</a:t>
            </a:r>
            <a:endParaRPr b="1" sz="12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s-CL" sz="12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endParaRPr b="1" sz="12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045890" y="4530626"/>
            <a:ext cx="1733550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FECHA DE REVISIÓN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045890" y="4748212"/>
            <a:ext cx="173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23-10-2026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8694964" y="4530626"/>
            <a:ext cx="2447925" cy="169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1" i="0" lang="es-CL" sz="975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AUTORES</a:t>
            </a:r>
            <a:endParaRPr b="1" i="0" sz="975" u="none" cap="none" strike="noStrik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8694964" y="4748212"/>
            <a:ext cx="2447925" cy="20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Equipo GastroConnect</a:t>
            </a:r>
            <a:endParaRPr b="1" i="0" sz="12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6772084" y="6604907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1" title="Gemini_Generated_Image_ki6mm4ki6mm4ki6m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" y="0"/>
            <a:ext cx="4546499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534572" y="1124438"/>
            <a:ext cx="1166812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s-CL" sz="25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Agenda de la Presentación</a:t>
            </a:r>
            <a:endParaRPr b="1" i="0" sz="255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34572" y="1724513"/>
            <a:ext cx="11144250" cy="2857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9477375" y="796230"/>
            <a:ext cx="2105025" cy="342900"/>
          </a:xfrm>
          <a:prstGeom prst="roundRect">
            <a:avLst>
              <a:gd fmla="val 50000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39300" y="89148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9867900" y="881955"/>
            <a:ext cx="1940718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1E40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Hoja de Ruta de la Sesión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534570" y="6519182"/>
            <a:ext cx="351234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534572" y="5633357"/>
            <a:ext cx="10972800" cy="419100"/>
          </a:xfrm>
          <a:prstGeom prst="roundRect">
            <a:avLst>
              <a:gd fmla="val 2272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34572" y="2068710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534572" y="3087885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534572" y="4107060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/>
          <p:nvPr/>
        </p:nvSpPr>
        <p:spPr>
          <a:xfrm>
            <a:off x="6116222" y="2068710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6116222" y="3087885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6116222" y="4107060"/>
            <a:ext cx="5391300" cy="866700"/>
          </a:xfrm>
          <a:prstGeom prst="roundRect">
            <a:avLst>
              <a:gd fmla="val 1538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734597" y="5757182"/>
            <a:ext cx="189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Duración estimada: 10 minutos</a:t>
            </a:r>
            <a:endParaRPr b="0" i="0" sz="1050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8145047" y="5757182"/>
            <a:ext cx="3952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Espacio para preguntas al finalizar la exposición</a:t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344197" y="2287785"/>
            <a:ext cx="4838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Contexto </a:t>
            </a: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 Identificación del Problema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344197" y="2544960"/>
            <a:ext cx="4607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Identificación cliente, problema y cuellos de botella</a:t>
            </a: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>
            <a:off x="1344197" y="3306960"/>
            <a:ext cx="4588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Propuesta de Solución</a:t>
            </a:r>
            <a:endParaRPr b="1" sz="135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1344197" y="3564135"/>
            <a:ext cx="4369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Ecosistema digital</a:t>
            </a: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web/m</a:t>
            </a: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óvil</a:t>
            </a: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principales impactos de mejora.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1344197" y="4326135"/>
            <a:ext cx="4287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Objetivos del proyecto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1344197" y="4583310"/>
            <a:ext cx="4083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Definición</a:t>
            </a: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objetivos </a:t>
            </a: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específicos</a:t>
            </a: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</a:t>
            </a: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generales</a:t>
            </a: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6925847" y="2287785"/>
            <a:ext cx="4838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Plan de Trabajo y Roles</a:t>
            </a:r>
            <a:endParaRPr/>
          </a:p>
        </p:txBody>
      </p:sp>
      <p:sp>
        <p:nvSpPr>
          <p:cNvPr id="127" name="Google Shape;127;p2"/>
          <p:cNvSpPr txBox="1"/>
          <p:nvPr/>
        </p:nvSpPr>
        <p:spPr>
          <a:xfrm>
            <a:off x="6925847" y="2544960"/>
            <a:ext cx="4607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Metodología </a:t>
            </a: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tradicional </a:t>
            </a: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 1</a:t>
            </a: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6</a:t>
            </a:r>
            <a:r>
              <a:rPr b="0" i="0" lang="es-CL" sz="105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semanas y asignación de roles.</a:t>
            </a:r>
            <a:endParaRPr/>
          </a:p>
        </p:txBody>
      </p:sp>
      <p:sp>
        <p:nvSpPr>
          <p:cNvPr id="128" name="Google Shape;128;p2"/>
          <p:cNvSpPr txBox="1"/>
          <p:nvPr/>
        </p:nvSpPr>
        <p:spPr>
          <a:xfrm>
            <a:off x="6925847" y="3306960"/>
            <a:ext cx="5163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Costos de </a:t>
            </a: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Inversión</a:t>
            </a: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/>
          </a:p>
        </p:txBody>
      </p:sp>
      <p:sp>
        <p:nvSpPr>
          <p:cNvPr id="129" name="Google Shape;129;p2"/>
          <p:cNvSpPr txBox="1"/>
          <p:nvPr/>
        </p:nvSpPr>
        <p:spPr>
          <a:xfrm>
            <a:off x="6925847" y="3564135"/>
            <a:ext cx="491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Inversión estimada y retorno operativo cuantificable.</a:t>
            </a:r>
            <a:endParaRPr/>
          </a:p>
        </p:txBody>
      </p:sp>
      <p:sp>
        <p:nvSpPr>
          <p:cNvPr id="130" name="Google Shape;130;p2"/>
          <p:cNvSpPr txBox="1"/>
          <p:nvPr/>
        </p:nvSpPr>
        <p:spPr>
          <a:xfrm>
            <a:off x="6925847" y="4326135"/>
            <a:ext cx="5191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Propuesta de Valor</a:t>
            </a:r>
            <a:endParaRPr/>
          </a:p>
        </p:txBody>
      </p:sp>
      <p:sp>
        <p:nvSpPr>
          <p:cNvPr id="131" name="Google Shape;131;p2"/>
          <p:cNvSpPr txBox="1"/>
          <p:nvPr/>
        </p:nvSpPr>
        <p:spPr>
          <a:xfrm>
            <a:off x="6925847" y="4583310"/>
            <a:ext cx="4988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05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Sello Gastro Connect.</a:t>
            </a:r>
            <a:endParaRPr/>
          </a:p>
        </p:txBody>
      </p:sp>
      <p:sp>
        <p:nvSpPr>
          <p:cNvPr id="132" name="Google Shape;132;p2"/>
          <p:cNvSpPr/>
          <p:nvPr/>
        </p:nvSpPr>
        <p:spPr>
          <a:xfrm>
            <a:off x="762874" y="231291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763025" y="3306960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763025" y="4370102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/>
          <p:nvPr/>
        </p:nvSpPr>
        <p:spPr>
          <a:xfrm>
            <a:off x="6368634" y="2312915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6380541" y="3295074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6368634" y="4314313"/>
            <a:ext cx="419100" cy="419100"/>
          </a:xfrm>
          <a:prstGeom prst="roundRect">
            <a:avLst>
              <a:gd fmla="val 22727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619999" y="2426085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39" name="Google Shape;139;p2"/>
          <p:cNvSpPr txBox="1"/>
          <p:nvPr/>
        </p:nvSpPr>
        <p:spPr>
          <a:xfrm>
            <a:off x="619999" y="3417287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619999" y="4455289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41" name="Google Shape;141;p2"/>
          <p:cNvSpPr txBox="1"/>
          <p:nvPr/>
        </p:nvSpPr>
        <p:spPr>
          <a:xfrm>
            <a:off x="6201509" y="2420137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</a:t>
            </a:r>
            <a:endParaRPr/>
          </a:p>
        </p:txBody>
      </p:sp>
      <p:sp>
        <p:nvSpPr>
          <p:cNvPr id="142" name="Google Shape;142;p2"/>
          <p:cNvSpPr txBox="1"/>
          <p:nvPr/>
        </p:nvSpPr>
        <p:spPr>
          <a:xfrm>
            <a:off x="6237600" y="3417287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6225684" y="4414435"/>
            <a:ext cx="705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3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</a:t>
            </a:r>
            <a:endParaRPr/>
          </a:p>
        </p:txBody>
      </p:sp>
      <p:pic>
        <p:nvPicPr>
          <p:cNvPr descr="image.png" id="144" name="Google Shape;14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0957" y="5733562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45047" y="5785757"/>
            <a:ext cx="17145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12556c826f0a0262_0_17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h12556c826f0a0262_0_17"/>
          <p:cNvSpPr/>
          <p:nvPr/>
        </p:nvSpPr>
        <p:spPr>
          <a:xfrm>
            <a:off x="531821" y="669290"/>
            <a:ext cx="6297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Contexto</a:t>
            </a:r>
            <a:endParaRPr b="1" i="0" sz="26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h12556c826f0a0262_0_17"/>
          <p:cNvSpPr/>
          <p:nvPr/>
        </p:nvSpPr>
        <p:spPr>
          <a:xfrm>
            <a:off x="472369" y="1341652"/>
            <a:ext cx="11466600" cy="45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h12556c826f0a0262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375" y="1767275"/>
            <a:ext cx="6098601" cy="455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h12556c826f0a0262_0_17"/>
          <p:cNvSpPr txBox="1"/>
          <p:nvPr/>
        </p:nvSpPr>
        <p:spPr>
          <a:xfrm>
            <a:off x="698025" y="1906575"/>
            <a:ext cx="4091100" cy="4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C19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Restaurante Shaolin Sushi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h12556c826f0a0262_0_17"/>
          <p:cNvSpPr txBox="1"/>
          <p:nvPr/>
        </p:nvSpPr>
        <p:spPr>
          <a:xfrm>
            <a:off x="724325" y="2282475"/>
            <a:ext cx="5594700" cy="7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779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350">
                <a:solidFill>
                  <a:srgbClr val="44403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Negocio de barrio que ofrece un servicio gastronómico enfocado en atención presencial de alto flujo, para consumo y/o retiro en local. </a:t>
            </a:r>
            <a:endParaRPr sz="1350">
              <a:solidFill>
                <a:srgbClr val="44403C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7" name="Google Shape;157;h12556c826f0a0262_0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4399" y="3049052"/>
            <a:ext cx="5594552" cy="2476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h12556c826f0a0262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4175" y="1827550"/>
            <a:ext cx="4764801" cy="133555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" name="Google Shape;159;h12556c826f0a0262_0_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4175" y="1827550"/>
            <a:ext cx="76200" cy="13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h12556c826f0a0262_0_17"/>
          <p:cNvSpPr txBox="1"/>
          <p:nvPr/>
        </p:nvSpPr>
        <p:spPr>
          <a:xfrm>
            <a:off x="7471575" y="1827550"/>
            <a:ext cx="2779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>
                <a:solidFill>
                  <a:srgbClr val="1C19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Microempresa Familiar</a:t>
            </a:r>
            <a:r>
              <a:rPr lang="es-CL" sz="1100">
                <a:solidFill>
                  <a:schemeClr val="dk1"/>
                </a:solidFill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h12556c826f0a0262_0_17"/>
          <p:cNvSpPr txBox="1"/>
          <p:nvPr/>
        </p:nvSpPr>
        <p:spPr>
          <a:xfrm>
            <a:off x="7471575" y="2239613"/>
            <a:ext cx="41700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450">
                <a:solidFill>
                  <a:srgbClr val="4C4C4D"/>
                </a:solidFill>
              </a:rPr>
              <a:t>Operando desde 2021 en la comuna de Recoleta, especializada en la venta de sushi.</a:t>
            </a:r>
            <a:endParaRPr sz="1450">
              <a:solidFill>
                <a:srgbClr val="4C4C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h12556c826f0a0262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4175" y="3366688"/>
            <a:ext cx="4764801" cy="133555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3" name="Google Shape;163;h12556c826f0a0262_0_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4175" y="3366688"/>
            <a:ext cx="76200" cy="13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h12556c826f0a0262_0_17"/>
          <p:cNvSpPr txBox="1"/>
          <p:nvPr/>
        </p:nvSpPr>
        <p:spPr>
          <a:xfrm>
            <a:off x="7471575" y="3366688"/>
            <a:ext cx="2779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>
                <a:solidFill>
                  <a:srgbClr val="1C19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Canal de Venta Presencial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h12556c826f0a0262_0_17"/>
          <p:cNvSpPr txBox="1"/>
          <p:nvPr/>
        </p:nvSpPr>
        <p:spPr>
          <a:xfrm>
            <a:off x="7471575" y="3778750"/>
            <a:ext cx="43575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450">
                <a:solidFill>
                  <a:srgbClr val="4C4C4D"/>
                </a:solidFill>
              </a:rPr>
              <a:t>No utiliza un canal de venta digital formal, actualmente utiliza WhatsApp para recibir pedidos</a:t>
            </a:r>
            <a:r>
              <a:rPr lang="es-CL" sz="1100">
                <a:solidFill>
                  <a:schemeClr val="dk1"/>
                </a:solidFill>
              </a:rPr>
              <a:t> </a:t>
            </a:r>
            <a:r>
              <a:rPr lang="es-CL" sz="1450">
                <a:solidFill>
                  <a:srgbClr val="4C4C4D"/>
                </a:solidFill>
              </a:rPr>
              <a:t>.</a:t>
            </a:r>
            <a:endParaRPr sz="1450">
              <a:solidFill>
                <a:srgbClr val="4C4C4D"/>
              </a:solidFill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4C4C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h12556c826f0a0262_0_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4175" y="4927500"/>
            <a:ext cx="4764801" cy="1335550"/>
          </a:xfrm>
          <a:prstGeom prst="rect">
            <a:avLst/>
          </a:prstGeom>
          <a:noFill/>
          <a:ln cap="flat" cmpd="sng" w="9525">
            <a:solidFill>
              <a:srgbClr val="BFBFBF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7" name="Google Shape;167;h12556c826f0a0262_0_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4175" y="4927500"/>
            <a:ext cx="76200" cy="13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h12556c826f0a0262_0_17"/>
          <p:cNvSpPr txBox="1"/>
          <p:nvPr/>
        </p:nvSpPr>
        <p:spPr>
          <a:xfrm>
            <a:off x="7471575" y="4927500"/>
            <a:ext cx="2779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350">
                <a:solidFill>
                  <a:srgbClr val="1C191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Operación Manual</a:t>
            </a:r>
            <a:r>
              <a:rPr lang="es-CL" sz="1100">
                <a:solidFill>
                  <a:schemeClr val="dk1"/>
                </a:solidFill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h12556c826f0a0262_0_17"/>
          <p:cNvSpPr txBox="1"/>
          <p:nvPr/>
        </p:nvSpPr>
        <p:spPr>
          <a:xfrm>
            <a:off x="7471575" y="5339563"/>
            <a:ext cx="41700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450">
                <a:solidFill>
                  <a:srgbClr val="4C4C4D"/>
                </a:solidFill>
              </a:rPr>
              <a:t>Atención presencial, llamadas y mensajería directa, sin sistema centralizado de ningún tipo.</a:t>
            </a:r>
            <a:endParaRPr sz="1450">
              <a:solidFill>
                <a:srgbClr val="4C4C4D"/>
              </a:solidFill>
            </a:endParaRPr>
          </a:p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4C4C4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h12556c826f0a0262_0_17"/>
          <p:cNvSpPr txBox="1"/>
          <p:nvPr/>
        </p:nvSpPr>
        <p:spPr>
          <a:xfrm>
            <a:off x="677675" y="5740850"/>
            <a:ext cx="5688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7790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350">
                <a:solidFill>
                  <a:srgbClr val="E691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Oportunidad de mejora: optimizar tiempos de servicio que genere rentabilidad.</a:t>
            </a:r>
            <a:endParaRPr sz="1350">
              <a:solidFill>
                <a:srgbClr val="E691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2575e389d1e18be_0_92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h2575e389d1e18be_0_92"/>
          <p:cNvSpPr/>
          <p:nvPr/>
        </p:nvSpPr>
        <p:spPr>
          <a:xfrm>
            <a:off x="531821" y="669290"/>
            <a:ext cx="6297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Problema Operativo</a:t>
            </a:r>
            <a:endParaRPr b="1" i="0" sz="26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h2575e389d1e18be_0_92"/>
          <p:cNvSpPr/>
          <p:nvPr/>
        </p:nvSpPr>
        <p:spPr>
          <a:xfrm>
            <a:off x="472369" y="1341652"/>
            <a:ext cx="11466600" cy="45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h2575e389d1e18be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675" y="1980225"/>
            <a:ext cx="5902500" cy="9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h2575e389d1e18be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675" y="3234100"/>
            <a:ext cx="5902500" cy="986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h2575e389d1e18be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675" y="4710350"/>
            <a:ext cx="5902500" cy="9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h2575e389d1e18be_0_92"/>
          <p:cNvSpPr txBox="1"/>
          <p:nvPr/>
        </p:nvSpPr>
        <p:spPr>
          <a:xfrm>
            <a:off x="716250" y="2375725"/>
            <a:ext cx="5678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4C4C4D"/>
                </a:solidFill>
                <a:latin typeface="Poppins"/>
                <a:ea typeface="Poppins"/>
                <a:cs typeface="Poppins"/>
                <a:sym typeface="Poppins"/>
              </a:rPr>
              <a:t>Extravío periódico de tickets de papel, errores de lectura por caligrafía y cero visibilidad sobre tiempos de preparación.</a:t>
            </a:r>
            <a:endParaRPr b="0" i="0" sz="1400" u="none" cap="none" strike="noStrike">
              <a:solidFill>
                <a:srgbClr val="4C4C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h2575e389d1e18be_0_92"/>
          <p:cNvSpPr txBox="1"/>
          <p:nvPr/>
        </p:nvSpPr>
        <p:spPr>
          <a:xfrm>
            <a:off x="616925" y="3647563"/>
            <a:ext cx="5678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4C4C4D"/>
                </a:solidFill>
                <a:latin typeface="Poppins"/>
                <a:ea typeface="Poppins"/>
                <a:cs typeface="Poppins"/>
                <a:sym typeface="Poppins"/>
              </a:rPr>
              <a:t>Cálculos manuales con margen de error, cierres diarios de más de 40 minutos e inasistencia de reportes en tiempo real.</a:t>
            </a:r>
            <a:endParaRPr b="0" i="0" sz="1400" u="none" cap="none" strike="noStrike">
              <a:solidFill>
                <a:srgbClr val="4C4C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h2575e389d1e18be_0_92"/>
          <p:cNvSpPr txBox="1"/>
          <p:nvPr/>
        </p:nvSpPr>
        <p:spPr>
          <a:xfrm>
            <a:off x="663275" y="5097963"/>
            <a:ext cx="5586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b="0" i="0" lang="es-CL" sz="1400" u="none" cap="none" strike="noStrike">
                <a:solidFill>
                  <a:srgbClr val="4C4C4D"/>
                </a:solidFill>
                <a:latin typeface="Poppins"/>
                <a:ea typeface="Poppins"/>
                <a:cs typeface="Poppins"/>
                <a:sym typeface="Poppins"/>
              </a:rPr>
              <a:t>mposibilidad del cliente de revisar la carta digital o realizar solicitudes ágiles sin depender de un garzón disponible.</a:t>
            </a:r>
            <a:endParaRPr b="0" i="0" sz="1400" u="none" cap="none" strike="noStrike">
              <a:solidFill>
                <a:srgbClr val="4C4C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h2575e389d1e18be_0_92"/>
          <p:cNvSpPr txBox="1"/>
          <p:nvPr/>
        </p:nvSpPr>
        <p:spPr>
          <a:xfrm>
            <a:off x="1038450" y="1980225"/>
            <a:ext cx="42888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660000"/>
                </a:solidFill>
                <a:latin typeface="Poppins"/>
                <a:ea typeface="Poppins"/>
                <a:cs typeface="Poppins"/>
                <a:sym typeface="Poppins"/>
              </a:rPr>
              <a:t>Ineficiencia en Comandas Manuales</a:t>
            </a:r>
            <a:endParaRPr b="1" i="0" sz="1600" u="none" cap="none" strike="noStrike">
              <a:solidFill>
                <a:srgbClr val="66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h2575e389d1e18be_0_92"/>
          <p:cNvSpPr txBox="1"/>
          <p:nvPr/>
        </p:nvSpPr>
        <p:spPr>
          <a:xfrm>
            <a:off x="1038450" y="3267900"/>
            <a:ext cx="42888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660000"/>
                </a:solidFill>
                <a:latin typeface="Poppins"/>
                <a:ea typeface="Poppins"/>
                <a:cs typeface="Poppins"/>
                <a:sym typeface="Poppins"/>
              </a:rPr>
              <a:t>Lentitud y Descuadres en Caja</a:t>
            </a:r>
            <a:endParaRPr b="1" i="0" sz="1600" u="none" cap="none" strike="noStrike">
              <a:solidFill>
                <a:srgbClr val="66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h2575e389d1e18be_0_92"/>
          <p:cNvSpPr txBox="1"/>
          <p:nvPr/>
        </p:nvSpPr>
        <p:spPr>
          <a:xfrm>
            <a:off x="1038450" y="4710350"/>
            <a:ext cx="42888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-CL" sz="1600" u="none" cap="none" strike="noStrike">
                <a:solidFill>
                  <a:srgbClr val="660000"/>
                </a:solidFill>
                <a:latin typeface="Poppins"/>
                <a:ea typeface="Poppins"/>
                <a:cs typeface="Poppins"/>
                <a:sym typeface="Poppins"/>
              </a:rPr>
              <a:t>Falta de Canal Digital Interactivo</a:t>
            </a:r>
            <a:endParaRPr b="1" i="0" sz="1600" u="none" cap="none" strike="noStrike">
              <a:solidFill>
                <a:srgbClr val="66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1E3A8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8" name="Google Shape;188;h2575e389d1e18be_0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50" y="2055974"/>
            <a:ext cx="322200" cy="32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h2575e389d1e18be_0_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438" y="2137701"/>
            <a:ext cx="171836" cy="21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h2575e389d1e18be_0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50" y="3267899"/>
            <a:ext cx="322200" cy="32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h2575e389d1e18be_0_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250" y="4775774"/>
            <a:ext cx="322200" cy="32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h2575e389d1e18be_0_9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1449" y="3319652"/>
            <a:ext cx="171825" cy="218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h2575e389d1e18be_0_9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1437" y="4827528"/>
            <a:ext cx="171825" cy="218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h2575e389d1e18be_0_9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74470" y="1821277"/>
            <a:ext cx="5177354" cy="3991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12556c826f0a0262_0_21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h12556c826f0a0262_0_21"/>
          <p:cNvSpPr/>
          <p:nvPr/>
        </p:nvSpPr>
        <p:spPr>
          <a:xfrm>
            <a:off x="531821" y="669290"/>
            <a:ext cx="6297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Cuellos de Botella</a:t>
            </a:r>
            <a:endParaRPr b="1" i="0" sz="26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h12556c826f0a0262_0_21"/>
          <p:cNvSpPr/>
          <p:nvPr/>
        </p:nvSpPr>
        <p:spPr>
          <a:xfrm>
            <a:off x="472369" y="1341652"/>
            <a:ext cx="11466600" cy="45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3" name="Google Shape;203;h12556c826f0a0262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675" y="1980225"/>
            <a:ext cx="5425475" cy="2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h12556c826f0a0262_0_21"/>
          <p:cNvSpPr txBox="1"/>
          <p:nvPr/>
        </p:nvSpPr>
        <p:spPr>
          <a:xfrm>
            <a:off x="699125" y="3250288"/>
            <a:ext cx="5072100" cy="7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4C4C4D"/>
                </a:solidFill>
                <a:latin typeface="Poppins"/>
                <a:ea typeface="Poppins"/>
                <a:cs typeface="Poppins"/>
                <a:sym typeface="Poppins"/>
              </a:rPr>
              <a:t>Promedio que tarda un pedido en ser anotado, trasladado a pie e interpretado por la cocina en horas de alto flujo.</a:t>
            </a:r>
            <a:endParaRPr b="0" i="0" sz="1400" u="none" cap="none" strike="noStrike">
              <a:solidFill>
                <a:srgbClr val="4C4C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C4C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h12556c826f0a0262_0_21"/>
          <p:cNvSpPr txBox="1"/>
          <p:nvPr/>
        </p:nvSpPr>
        <p:spPr>
          <a:xfrm>
            <a:off x="699120" y="2926225"/>
            <a:ext cx="30201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Tiempo de Comanda a Cocina</a:t>
            </a:r>
            <a:endParaRPr b="1" i="0" sz="14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66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6" name="Google Shape;206;h12556c826f0a0262_0_21"/>
          <p:cNvSpPr txBox="1"/>
          <p:nvPr/>
        </p:nvSpPr>
        <p:spPr>
          <a:xfrm>
            <a:off x="755350" y="2116150"/>
            <a:ext cx="21966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35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39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12 min</a:t>
            </a:r>
            <a:endParaRPr b="1" i="0" sz="3900" u="none" cap="none" strike="noStrike">
              <a:solidFill>
                <a:srgbClr val="DC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image.png" id="207" name="Google Shape;207;h12556c826f0a0262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675" y="4249700"/>
            <a:ext cx="5425475" cy="21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h12556c826f0a0262_0_21"/>
          <p:cNvSpPr txBox="1"/>
          <p:nvPr/>
        </p:nvSpPr>
        <p:spPr>
          <a:xfrm>
            <a:off x="762875" y="5589038"/>
            <a:ext cx="4944600" cy="8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4C4C4D"/>
                </a:solidFill>
                <a:latin typeface="Poppins"/>
                <a:ea typeface="Poppins"/>
                <a:cs typeface="Poppins"/>
                <a:sym typeface="Poppins"/>
              </a:rPr>
              <a:t>Tiempo improductivo invertido cada noche cuadre por cuadre contando boletas impresas y comandas físicas.</a:t>
            </a:r>
            <a:endParaRPr b="0" i="0" sz="1400" u="none" cap="none" strike="noStrike">
              <a:solidFill>
                <a:srgbClr val="4C4C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C4C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h12556c826f0a0262_0_21"/>
          <p:cNvSpPr txBox="1"/>
          <p:nvPr/>
        </p:nvSpPr>
        <p:spPr>
          <a:xfrm>
            <a:off x="747870" y="5216000"/>
            <a:ext cx="29226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Demora en Arqueo Diario</a:t>
            </a:r>
            <a:endParaRPr b="1" i="0" sz="14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66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0" name="Google Shape;210;h12556c826f0a0262_0_21"/>
          <p:cNvSpPr txBox="1"/>
          <p:nvPr/>
        </p:nvSpPr>
        <p:spPr>
          <a:xfrm>
            <a:off x="755350" y="4385625"/>
            <a:ext cx="2367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35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39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40 min</a:t>
            </a:r>
            <a:endParaRPr b="1" i="0" sz="3900" u="none" cap="none" strike="noStrike">
              <a:solidFill>
                <a:srgbClr val="DC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image.png" id="211" name="Google Shape;211;h12556c826f0a0262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3500" y="1980225"/>
            <a:ext cx="5425475" cy="2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h12556c826f0a0262_0_21"/>
          <p:cNvSpPr txBox="1"/>
          <p:nvPr/>
        </p:nvSpPr>
        <p:spPr>
          <a:xfrm>
            <a:off x="6810200" y="3250300"/>
            <a:ext cx="52287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4C4C4D"/>
                </a:solidFill>
                <a:latin typeface="Poppins"/>
                <a:ea typeface="Poppins"/>
                <a:cs typeface="Poppins"/>
                <a:sym typeface="Poppins"/>
              </a:rPr>
              <a:t>Porcentaje estimado de pedidos con errores de suma manual, adiciones no cobradas o tickets traspapelados por turno.</a:t>
            </a:r>
            <a:endParaRPr b="0" i="0" sz="1400" u="none" cap="none" strike="noStrike">
              <a:solidFill>
                <a:srgbClr val="4C4C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4C4C4D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h12556c826f0a0262_0_21"/>
          <p:cNvSpPr txBox="1"/>
          <p:nvPr/>
        </p:nvSpPr>
        <p:spPr>
          <a:xfrm>
            <a:off x="6810170" y="2926225"/>
            <a:ext cx="27636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Inconsistencias en Cuentas</a:t>
            </a:r>
            <a:endParaRPr b="1" i="0" sz="14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66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h12556c826f0a0262_0_21"/>
          <p:cNvSpPr txBox="1"/>
          <p:nvPr/>
        </p:nvSpPr>
        <p:spPr>
          <a:xfrm>
            <a:off x="6810175" y="2116150"/>
            <a:ext cx="12687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35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39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10%</a:t>
            </a:r>
            <a:endParaRPr b="1" i="0" sz="3900" u="none" cap="none" strike="noStrike">
              <a:solidFill>
                <a:srgbClr val="DC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descr="image.png" id="215" name="Google Shape;215;h12556c826f0a0262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3525" y="4249700"/>
            <a:ext cx="5425450" cy="21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h12556c826f0a0262_0_21"/>
          <p:cNvSpPr txBox="1"/>
          <p:nvPr/>
        </p:nvSpPr>
        <p:spPr>
          <a:xfrm>
            <a:off x="6753950" y="5535425"/>
            <a:ext cx="4944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4C4C4D"/>
                </a:solidFill>
                <a:latin typeface="Poppins"/>
                <a:ea typeface="Poppins"/>
                <a:cs typeface="Poppins"/>
                <a:sym typeface="Poppins"/>
              </a:rPr>
              <a:t>Cero datos en tiempo real sobre los platos más vendidos, tiempos por mesa o rotación de insumos para la gerencia.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h12556c826f0a0262_0_21"/>
          <p:cNvSpPr txBox="1"/>
          <p:nvPr/>
        </p:nvSpPr>
        <p:spPr>
          <a:xfrm>
            <a:off x="6753953" y="5197100"/>
            <a:ext cx="33927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Visibilidad Digital de Gestión</a:t>
            </a:r>
            <a:endParaRPr b="1" i="0" sz="14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66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h12556c826f0a0262_0_21"/>
          <p:cNvSpPr txBox="1"/>
          <p:nvPr/>
        </p:nvSpPr>
        <p:spPr>
          <a:xfrm>
            <a:off x="6810202" y="4401543"/>
            <a:ext cx="12687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35454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3900" u="none" cap="none" strike="noStrike">
                <a:solidFill>
                  <a:srgbClr val="DC2626"/>
                </a:solidFill>
                <a:latin typeface="Poppins"/>
                <a:ea typeface="Poppins"/>
                <a:cs typeface="Poppins"/>
                <a:sym typeface="Poppins"/>
              </a:rPr>
              <a:t>0%</a:t>
            </a:r>
            <a:endParaRPr b="1" i="0" sz="3900" u="none" cap="none" strike="noStrike">
              <a:solidFill>
                <a:srgbClr val="DC26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i="0" sz="3000" u="none" cap="none" strike="noStrike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9" name="Google Shape;219;h12556c826f0a0262_0_21"/>
          <p:cNvSpPr txBox="1"/>
          <p:nvPr/>
        </p:nvSpPr>
        <p:spPr>
          <a:xfrm>
            <a:off x="463500" y="1442538"/>
            <a:ext cx="112650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El costo cuantitativo y operativo de mantener la gestión manual en el local</a:t>
            </a:r>
            <a:endParaRPr b="0" i="0" sz="12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20" name="Google Shape;220;h12556c826f0a0262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1650" y="2104700"/>
            <a:ext cx="2022051" cy="364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h12556c826f0a0262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06450" y="2104700"/>
            <a:ext cx="2022051" cy="364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h12556c826f0a0262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21650" y="4501413"/>
            <a:ext cx="2022051" cy="364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h12556c826f0a0262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62698" y="4502753"/>
            <a:ext cx="2022042" cy="40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h12556c826f0a0262_0_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84650" y="2191700"/>
            <a:ext cx="2000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h12556c826f0a0262_0_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719075" y="4558463"/>
            <a:ext cx="2000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h12556c826f0a0262_0_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842775" y="21917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h12556c826f0a0262_0_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899022" y="4594621"/>
            <a:ext cx="247649" cy="223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h12556c826f0a0262_0_21"/>
          <p:cNvSpPr txBox="1"/>
          <p:nvPr/>
        </p:nvSpPr>
        <p:spPr>
          <a:xfrm>
            <a:off x="4098375" y="2125850"/>
            <a:ext cx="12687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L" sz="10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DEMORA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s-CL" sz="10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LÍDER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i="0" sz="12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9" name="Google Shape;229;h12556c826f0a0262_0_21"/>
          <p:cNvSpPr txBox="1"/>
          <p:nvPr/>
        </p:nvSpPr>
        <p:spPr>
          <a:xfrm>
            <a:off x="3998325" y="4497400"/>
            <a:ext cx="16143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0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SOBRECOSTO HORAS</a:t>
            </a:r>
            <a:endParaRPr b="1" i="0" sz="1000" u="none" cap="none" strike="noStrike">
              <a:solidFill>
                <a:srgbClr val="7F1D1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7F1D1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0" name="Google Shape;230;h12556c826f0a0262_0_21"/>
          <p:cNvSpPr txBox="1"/>
          <p:nvPr/>
        </p:nvSpPr>
        <p:spPr>
          <a:xfrm>
            <a:off x="10208850" y="2125850"/>
            <a:ext cx="15198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0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FUGA FINANCIERA</a:t>
            </a:r>
            <a:endParaRPr b="1" i="0" sz="1000" u="none" cap="none" strike="noStrike">
              <a:solidFill>
                <a:srgbClr val="7F1D1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7F1D1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31" name="Google Shape;231;h12556c826f0a0262_0_21"/>
          <p:cNvSpPr txBox="1"/>
          <p:nvPr/>
        </p:nvSpPr>
        <p:spPr>
          <a:xfrm>
            <a:off x="10208850" y="4522550"/>
            <a:ext cx="1614300" cy="3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000" u="none" cap="none" strike="noStrike">
                <a:solidFill>
                  <a:srgbClr val="7F1D1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CIEGO OPERATIVO</a:t>
            </a:r>
            <a:endParaRPr b="1" i="0" sz="1000" u="none" cap="none" strike="noStrike">
              <a:solidFill>
                <a:srgbClr val="7F1D1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7F1D1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h61ffbbd66c0d0bd0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h61ffbbd66c0d0bd0_0_4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Propuesta: </a:t>
            </a: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Ecosistema Integrado 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8" name="Google Shape;238;h61ffbbd66c0d0bd0_0_4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h61ffbbd66c0d0bd0_0_4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0" name="Google Shape;240;h61ffbbd66c0d0bd0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675" y="1980225"/>
            <a:ext cx="3411050" cy="155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h61ffbbd66c0d0bd0_0_4"/>
          <p:cNvSpPr txBox="1"/>
          <p:nvPr/>
        </p:nvSpPr>
        <p:spPr>
          <a:xfrm>
            <a:off x="602913" y="2865000"/>
            <a:ext cx="32982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Reemplaza el flujo físico sincronizando salón, caja, cocina y gerencia.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2" name="Google Shape;242;h61ffbbd66c0d0bd0_0_4"/>
          <p:cNvSpPr txBox="1"/>
          <p:nvPr/>
        </p:nvSpPr>
        <p:spPr>
          <a:xfrm>
            <a:off x="602925" y="2507450"/>
            <a:ext cx="2845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Plataforma POS Central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3" name="Google Shape;243;h61ffbbd66c0d0bd0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375" y="2076345"/>
            <a:ext cx="437732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h61ffbbd66c0d0bd0_0_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838" y="2156113"/>
            <a:ext cx="3048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h61ffbbd66c0d0bd0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7550" y="1980225"/>
            <a:ext cx="3411050" cy="155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h61ffbbd66c0d0bd0_0_4"/>
          <p:cNvSpPr txBox="1"/>
          <p:nvPr/>
        </p:nvSpPr>
        <p:spPr>
          <a:xfrm>
            <a:off x="4414363" y="2865000"/>
            <a:ext cx="32982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Impresión automática e instantánea en cocina y barra al ingresar la orden.</a:t>
            </a:r>
            <a:endParaRPr b="0" i="0" sz="1200" u="none" cap="none" strike="noStrike">
              <a:solidFill>
                <a:srgbClr val="1665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h61ffbbd66c0d0bd0_0_4"/>
          <p:cNvSpPr txBox="1"/>
          <p:nvPr/>
        </p:nvSpPr>
        <p:spPr>
          <a:xfrm>
            <a:off x="4414375" y="2507450"/>
            <a:ext cx="2845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Comandas Térmicas</a:t>
            </a:r>
            <a:endParaRPr b="1" i="0" sz="1400" u="none" cap="none" strike="noStrike">
              <a:solidFill>
                <a:srgbClr val="14532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8" name="Google Shape;248;h61ffbbd66c0d0bd0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06250" y="2076345"/>
            <a:ext cx="437732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h61ffbbd66c0d0bd0_0_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51375" y="1980225"/>
            <a:ext cx="3411050" cy="155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h61ffbbd66c0d0bd0_0_4"/>
          <p:cNvSpPr txBox="1"/>
          <p:nvPr/>
        </p:nvSpPr>
        <p:spPr>
          <a:xfrm>
            <a:off x="8225825" y="2910750"/>
            <a:ext cx="3170700" cy="5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Carta digital para realizar pedidos de forma online.</a:t>
            </a:r>
            <a:endParaRPr b="0" i="0" sz="1050" u="none" cap="none" strike="noStrike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51" name="Google Shape;251;h61ffbbd66c0d0bd0_0_4"/>
          <p:cNvSpPr txBox="1"/>
          <p:nvPr/>
        </p:nvSpPr>
        <p:spPr>
          <a:xfrm>
            <a:off x="8225825" y="2530325"/>
            <a:ext cx="28455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14532D"/>
                </a:solidFill>
                <a:latin typeface="Poppins"/>
                <a:ea typeface="Poppins"/>
                <a:cs typeface="Poppins"/>
                <a:sym typeface="Poppins"/>
              </a:rPr>
              <a:t>App</a:t>
            </a:r>
            <a:r>
              <a:rPr b="1" i="0" lang="es-CL" sz="13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Móvil Clientes</a:t>
            </a:r>
            <a:endParaRPr b="1" i="0" sz="1350" u="none" cap="none" strike="noStrike">
              <a:solidFill>
                <a:srgbClr val="14532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52" name="Google Shape;252;h61ffbbd66c0d0bd0_0_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0075" y="2076345"/>
            <a:ext cx="437732" cy="4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h61ffbbd66c0d0bd0_0_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78175" y="21466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h61ffbbd66c0d0bd0_0_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38300" y="2156125"/>
            <a:ext cx="304800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h61ffbbd66c0d0bd0_0_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23875" y="3934100"/>
            <a:ext cx="11144400" cy="2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h61ffbbd66c0d0bd0_0_4"/>
          <p:cNvSpPr txBox="1"/>
          <p:nvPr/>
        </p:nvSpPr>
        <p:spPr>
          <a:xfrm>
            <a:off x="843850" y="5156225"/>
            <a:ext cx="6045000" cy="66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Control visual en tiempo real de las </a:t>
            </a:r>
            <a:r>
              <a:rPr b="1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24 mesas distribuidas en 2 pisos</a:t>
            </a: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(disponible, ocupada, comanda enviada, cuenta pedida).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7" name="Google Shape;257;h61ffbbd66c0d0bd0_0_4"/>
          <p:cNvSpPr txBox="1"/>
          <p:nvPr/>
        </p:nvSpPr>
        <p:spPr>
          <a:xfrm>
            <a:off x="843850" y="4644850"/>
            <a:ext cx="4510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6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Mapa Interactivo de Mesas</a:t>
            </a:r>
            <a:endParaRPr b="1" i="0" sz="16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58" name="Google Shape;258;h61ffbbd66c0d0bd0_0_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421100" y="4551760"/>
            <a:ext cx="1603625" cy="10240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h61ffbbd66c0d0bd0_0_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715975" y="4552601"/>
            <a:ext cx="1602000" cy="102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h61ffbbd66c0d0bd0_0_4"/>
          <p:cNvSpPr/>
          <p:nvPr/>
        </p:nvSpPr>
        <p:spPr>
          <a:xfrm>
            <a:off x="972075" y="4127688"/>
            <a:ext cx="2107200" cy="431100"/>
          </a:xfrm>
          <a:prstGeom prst="roundRect">
            <a:avLst>
              <a:gd fmla="val 16667" name="adj"/>
            </a:avLst>
          </a:prstGeom>
          <a:solidFill>
            <a:srgbClr val="1E293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h61ffbbd66c0d0bd0_0_4"/>
          <p:cNvSpPr txBox="1"/>
          <p:nvPr/>
        </p:nvSpPr>
        <p:spPr>
          <a:xfrm>
            <a:off x="1082025" y="4149738"/>
            <a:ext cx="1933500" cy="3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MÓDULO DESTACADO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2" name="Google Shape;262;h61ffbbd66c0d0bd0_0_4"/>
          <p:cNvSpPr txBox="1"/>
          <p:nvPr/>
        </p:nvSpPr>
        <p:spPr>
          <a:xfrm>
            <a:off x="7554425" y="4749750"/>
            <a:ext cx="12534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2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24</a:t>
            </a:r>
            <a:endParaRPr b="1" i="0" sz="24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h61ffbbd66c0d0bd0_0_4"/>
          <p:cNvSpPr txBox="1"/>
          <p:nvPr/>
        </p:nvSpPr>
        <p:spPr>
          <a:xfrm>
            <a:off x="7524250" y="5156225"/>
            <a:ext cx="13953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Mesas En Red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h61ffbbd66c0d0bd0_0_4"/>
          <p:cNvSpPr txBox="1"/>
          <p:nvPr/>
        </p:nvSpPr>
        <p:spPr>
          <a:xfrm>
            <a:off x="9890275" y="4749738"/>
            <a:ext cx="12534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1" i="0" sz="24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h61ffbbd66c0d0bd0_0_4"/>
          <p:cNvSpPr txBox="1"/>
          <p:nvPr/>
        </p:nvSpPr>
        <p:spPr>
          <a:xfrm>
            <a:off x="9715975" y="5156225"/>
            <a:ext cx="1603500" cy="2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Pisos Controlados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6" name="Google Shape;266;h61ffbbd66c0d0bd0_0_4"/>
          <p:cNvSpPr txBox="1"/>
          <p:nvPr/>
        </p:nvSpPr>
        <p:spPr>
          <a:xfrm>
            <a:off x="643975" y="1576450"/>
            <a:ext cx="1033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CL" sz="14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Digitalización punto a punto desde la mesa hasta la administración.</a:t>
            </a:r>
            <a:endParaRPr b="0" i="0" sz="33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h12556c826f0a0262_2_1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h12556c826f0a0262_2_150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Impacto Directo e Indicadores KPI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3" name="Google Shape;273;h12556c826f0a0262_2_150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h12556c826f0a0262_2_150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h12556c826f0a0262_2_150"/>
          <p:cNvSpPr/>
          <p:nvPr/>
        </p:nvSpPr>
        <p:spPr>
          <a:xfrm>
            <a:off x="499750" y="1706800"/>
            <a:ext cx="5323800" cy="2138100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h12556c826f0a0262_2_150"/>
          <p:cNvSpPr/>
          <p:nvPr/>
        </p:nvSpPr>
        <p:spPr>
          <a:xfrm flipH="1">
            <a:off x="467950" y="1706800"/>
            <a:ext cx="31800" cy="21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h12556c826f0a0262_2_150"/>
          <p:cNvSpPr txBox="1"/>
          <p:nvPr/>
        </p:nvSpPr>
        <p:spPr>
          <a:xfrm>
            <a:off x="644000" y="1917400"/>
            <a:ext cx="31341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L" sz="1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Velocidad de Comanda a Cocina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h12556c826f0a0262_2_150"/>
          <p:cNvSpPr txBox="1"/>
          <p:nvPr/>
        </p:nvSpPr>
        <p:spPr>
          <a:xfrm>
            <a:off x="764450" y="3439625"/>
            <a:ext cx="3846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L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Impresión térmica instantánea en cocina al tomar el pedido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h12556c826f0a0262_2_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450" y="2402475"/>
            <a:ext cx="177025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h12556c826f0a0262_2_1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9075" y="2402475"/>
            <a:ext cx="1770250" cy="866775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pic>
      <p:pic>
        <p:nvPicPr>
          <p:cNvPr id="281" name="Google Shape;281;h12556c826f0a0262_2_1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56875" y="2716788"/>
            <a:ext cx="2095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h12556c826f0a0262_2_150"/>
          <p:cNvSpPr txBox="1"/>
          <p:nvPr/>
        </p:nvSpPr>
        <p:spPr>
          <a:xfrm>
            <a:off x="1037375" y="2509725"/>
            <a:ext cx="1193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L" sz="8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ANTES (MANUAL)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h12556c826f0a0262_2_150"/>
          <p:cNvSpPr txBox="1"/>
          <p:nvPr/>
        </p:nvSpPr>
        <p:spPr>
          <a:xfrm>
            <a:off x="1043975" y="2822175"/>
            <a:ext cx="11802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L" sz="150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12 Minutos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h12556c826f0a0262_2_150"/>
          <p:cNvSpPr txBox="1"/>
          <p:nvPr/>
        </p:nvSpPr>
        <p:spPr>
          <a:xfrm>
            <a:off x="4037000" y="2509725"/>
            <a:ext cx="1514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8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 GASTROCONNECT</a:t>
            </a:r>
            <a:endParaRPr b="1" i="0" sz="850" u="none" cap="none" strike="noStrike">
              <a:solidFill>
                <a:srgbClr val="14532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t/>
            </a:r>
            <a:endParaRPr b="1" i="0" sz="850" u="none" cap="none" strike="noStrike">
              <a:solidFill>
                <a:srgbClr val="991B1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85" name="Google Shape;285;h12556c826f0a0262_2_150"/>
          <p:cNvSpPr txBox="1"/>
          <p:nvPr/>
        </p:nvSpPr>
        <p:spPr>
          <a:xfrm>
            <a:off x="4099125" y="2822175"/>
            <a:ext cx="11802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L" sz="15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&lt; 1 Minuto</a:t>
            </a:r>
            <a:endParaRPr b="1" i="0" sz="1500" u="none" cap="none" strike="noStrike">
              <a:solidFill>
                <a:srgbClr val="DC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86" name="Google Shape;286;h12556c826f0a0262_2_1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4750" y="1841375"/>
            <a:ext cx="11802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h12556c826f0a0262_2_150"/>
          <p:cNvSpPr txBox="1"/>
          <p:nvPr/>
        </p:nvSpPr>
        <p:spPr>
          <a:xfrm>
            <a:off x="4611350" y="1884025"/>
            <a:ext cx="11802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L" sz="10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-92% Tiempo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h12556c826f0a0262_2_150"/>
          <p:cNvSpPr/>
          <p:nvPr/>
        </p:nvSpPr>
        <p:spPr>
          <a:xfrm>
            <a:off x="6264425" y="1706800"/>
            <a:ext cx="5323800" cy="2138100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h12556c826f0a0262_2_150"/>
          <p:cNvSpPr/>
          <p:nvPr/>
        </p:nvSpPr>
        <p:spPr>
          <a:xfrm flipH="1">
            <a:off x="6232625" y="1706800"/>
            <a:ext cx="31800" cy="21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h12556c826f0a0262_2_150"/>
          <p:cNvSpPr txBox="1"/>
          <p:nvPr/>
        </p:nvSpPr>
        <p:spPr>
          <a:xfrm>
            <a:off x="6408675" y="1917400"/>
            <a:ext cx="31341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Precisión en Cuentas y Cobro</a:t>
            </a:r>
            <a:endParaRPr b="1" i="0" sz="13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1" name="Google Shape;291;h12556c826f0a0262_2_150"/>
          <p:cNvSpPr txBox="1"/>
          <p:nvPr/>
        </p:nvSpPr>
        <p:spPr>
          <a:xfrm>
            <a:off x="6529125" y="3439625"/>
            <a:ext cx="4910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Cálculo automatizado en POS elimina pérdidas e imprecisiones.</a:t>
            </a:r>
            <a:endParaRPr b="0" i="0" sz="10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92" name="Google Shape;292;h12556c826f0a0262_2_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9125" y="2402475"/>
            <a:ext cx="177025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h12556c826f0a0262_2_1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3750" y="2402475"/>
            <a:ext cx="1770250" cy="866775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pic>
      <p:pic>
        <p:nvPicPr>
          <p:cNvPr id="294" name="Google Shape;294;h12556c826f0a0262_2_1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1550" y="2716788"/>
            <a:ext cx="2095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h12556c826f0a0262_2_150"/>
          <p:cNvSpPr txBox="1"/>
          <p:nvPr/>
        </p:nvSpPr>
        <p:spPr>
          <a:xfrm>
            <a:off x="6802050" y="2509725"/>
            <a:ext cx="1193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L" sz="8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ANTES (MANUAL)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h12556c826f0a0262_2_150"/>
          <p:cNvSpPr txBox="1"/>
          <p:nvPr/>
        </p:nvSpPr>
        <p:spPr>
          <a:xfrm>
            <a:off x="6679175" y="2822175"/>
            <a:ext cx="1309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50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10% Errores</a:t>
            </a:r>
            <a:endParaRPr b="1" i="0" sz="1500" u="none" cap="none" strike="noStrike">
              <a:solidFill>
                <a:srgbClr val="DC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DC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7" name="Google Shape;297;h12556c826f0a0262_2_150"/>
          <p:cNvSpPr txBox="1"/>
          <p:nvPr/>
        </p:nvSpPr>
        <p:spPr>
          <a:xfrm>
            <a:off x="9801675" y="2509725"/>
            <a:ext cx="1514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L" sz="8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 GASTROCONNECT</a:t>
            </a:r>
            <a:endParaRPr b="1" i="0" sz="850" u="none" cap="none" strike="noStrike">
              <a:solidFill>
                <a:srgbClr val="14532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t/>
            </a:r>
            <a:endParaRPr b="1" i="0" sz="850" u="none" cap="none" strike="noStrike">
              <a:solidFill>
                <a:srgbClr val="991B1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8" name="Google Shape;298;h12556c826f0a0262_2_150"/>
          <p:cNvSpPr txBox="1"/>
          <p:nvPr/>
        </p:nvSpPr>
        <p:spPr>
          <a:xfrm>
            <a:off x="9641175" y="2860700"/>
            <a:ext cx="18354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5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0% Descuadres</a:t>
            </a:r>
            <a:endParaRPr b="1" i="0" sz="1500" u="none" cap="none" strike="noStrike">
              <a:solidFill>
                <a:srgbClr val="15803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15803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299" name="Google Shape;299;h12556c826f0a0262_2_1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59425" y="1841375"/>
            <a:ext cx="11802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h12556c826f0a0262_2_150"/>
          <p:cNvSpPr txBox="1"/>
          <p:nvPr/>
        </p:nvSpPr>
        <p:spPr>
          <a:xfrm>
            <a:off x="10276500" y="1832713"/>
            <a:ext cx="11802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L" sz="10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100% Exactitud</a:t>
            </a:r>
            <a:endParaRPr b="1" i="0" sz="1000" u="none" cap="none" strike="noStrike">
              <a:solidFill>
                <a:srgbClr val="14532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1" name="Google Shape;301;h12556c826f0a0262_2_150"/>
          <p:cNvSpPr/>
          <p:nvPr/>
        </p:nvSpPr>
        <p:spPr>
          <a:xfrm>
            <a:off x="499750" y="4239025"/>
            <a:ext cx="5323800" cy="2138100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h12556c826f0a0262_2_150"/>
          <p:cNvSpPr/>
          <p:nvPr/>
        </p:nvSpPr>
        <p:spPr>
          <a:xfrm flipH="1">
            <a:off x="467950" y="4239025"/>
            <a:ext cx="31800" cy="21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h12556c826f0a0262_2_150"/>
          <p:cNvSpPr txBox="1"/>
          <p:nvPr/>
        </p:nvSpPr>
        <p:spPr>
          <a:xfrm>
            <a:off x="644000" y="4449625"/>
            <a:ext cx="31341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Tiempo de Arqueo y Cierre Diario</a:t>
            </a:r>
            <a:endParaRPr b="1" i="0" sz="13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04" name="Google Shape;304;h12556c826f0a0262_2_150"/>
          <p:cNvSpPr txBox="1"/>
          <p:nvPr/>
        </p:nvSpPr>
        <p:spPr>
          <a:xfrm>
            <a:off x="764450" y="5971850"/>
            <a:ext cx="3846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Consolidación automática por caja, medio de pago y garzón.</a:t>
            </a:r>
            <a:endParaRPr b="0" i="0" sz="10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05" name="Google Shape;305;h12556c826f0a0262_2_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450" y="4934700"/>
            <a:ext cx="177025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h12556c826f0a0262_2_1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09075" y="4934700"/>
            <a:ext cx="1770250" cy="866775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pic>
      <p:pic>
        <p:nvPicPr>
          <p:cNvPr id="307" name="Google Shape;307;h12556c826f0a0262_2_1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56875" y="5249013"/>
            <a:ext cx="2095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h12556c826f0a0262_2_150"/>
          <p:cNvSpPr txBox="1"/>
          <p:nvPr/>
        </p:nvSpPr>
        <p:spPr>
          <a:xfrm>
            <a:off x="1037375" y="5041950"/>
            <a:ext cx="1193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L" sz="8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ANTES (MANUAL)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h12556c826f0a0262_2_150"/>
          <p:cNvSpPr txBox="1"/>
          <p:nvPr/>
        </p:nvSpPr>
        <p:spPr>
          <a:xfrm>
            <a:off x="914375" y="5354400"/>
            <a:ext cx="14343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50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40 Minutos</a:t>
            </a:r>
            <a:endParaRPr b="1" i="0" sz="1500" u="none" cap="none" strike="noStrike">
              <a:solidFill>
                <a:srgbClr val="DC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DC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0" name="Google Shape;310;h12556c826f0a0262_2_150"/>
          <p:cNvSpPr txBox="1"/>
          <p:nvPr/>
        </p:nvSpPr>
        <p:spPr>
          <a:xfrm>
            <a:off x="4037000" y="5041950"/>
            <a:ext cx="1514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L" sz="8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 GASTROCONNECT</a:t>
            </a:r>
            <a:endParaRPr b="1" i="0" sz="850" u="none" cap="none" strike="noStrike">
              <a:solidFill>
                <a:srgbClr val="14532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t/>
            </a:r>
            <a:endParaRPr b="1" i="0" sz="850" u="none" cap="none" strike="noStrike">
              <a:solidFill>
                <a:srgbClr val="991B1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1" name="Google Shape;311;h12556c826f0a0262_2_150"/>
          <p:cNvSpPr txBox="1"/>
          <p:nvPr/>
        </p:nvSpPr>
        <p:spPr>
          <a:xfrm>
            <a:off x="4099125" y="5354400"/>
            <a:ext cx="13515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5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&lt; 5 Minutos</a:t>
            </a:r>
            <a:endParaRPr b="1" i="0" sz="1500" u="none" cap="none" strike="noStrike">
              <a:solidFill>
                <a:srgbClr val="15803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15803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12" name="Google Shape;312;h12556c826f0a0262_2_1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94750" y="4373600"/>
            <a:ext cx="11802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h12556c826f0a0262_2_150"/>
          <p:cNvSpPr txBox="1"/>
          <p:nvPr/>
        </p:nvSpPr>
        <p:spPr>
          <a:xfrm>
            <a:off x="4611350" y="4416250"/>
            <a:ext cx="11802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0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-87% Tiempo</a:t>
            </a:r>
            <a:endParaRPr b="1" i="0" sz="1000" u="none" cap="none" strike="noStrike">
              <a:solidFill>
                <a:srgbClr val="14532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14532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4" name="Google Shape;314;h12556c826f0a0262_2_150"/>
          <p:cNvSpPr/>
          <p:nvPr/>
        </p:nvSpPr>
        <p:spPr>
          <a:xfrm>
            <a:off x="6264425" y="4239025"/>
            <a:ext cx="5323800" cy="2138100"/>
          </a:xfrm>
          <a:prstGeom prst="roundRect">
            <a:avLst>
              <a:gd fmla="val 1098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h12556c826f0a0262_2_150"/>
          <p:cNvSpPr/>
          <p:nvPr/>
        </p:nvSpPr>
        <p:spPr>
          <a:xfrm flipH="1">
            <a:off x="6232625" y="4239025"/>
            <a:ext cx="31800" cy="21381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h12556c826f0a0262_2_150"/>
          <p:cNvSpPr txBox="1"/>
          <p:nvPr/>
        </p:nvSpPr>
        <p:spPr>
          <a:xfrm>
            <a:off x="6408675" y="4449625"/>
            <a:ext cx="31341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3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Autonomía del Cliente (App Móvil)</a:t>
            </a:r>
            <a:endParaRPr b="1" i="0" sz="13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17" name="Google Shape;317;h12556c826f0a0262_2_150"/>
          <p:cNvSpPr txBox="1"/>
          <p:nvPr/>
        </p:nvSpPr>
        <p:spPr>
          <a:xfrm>
            <a:off x="6529125" y="5971850"/>
            <a:ext cx="38469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L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Descongestionamiento directo de personal en horas punta.</a:t>
            </a:r>
            <a:r>
              <a:rPr b="0" i="0" lang="es-CL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h12556c826f0a0262_2_1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9125" y="4934700"/>
            <a:ext cx="1770250" cy="86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h12556c826f0a0262_2_1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73750" y="4934700"/>
            <a:ext cx="1770250" cy="866775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pic>
      <p:pic>
        <p:nvPicPr>
          <p:cNvPr id="320" name="Google Shape;320;h12556c826f0a0262_2_15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1550" y="5249013"/>
            <a:ext cx="209550" cy="238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h12556c826f0a0262_2_150"/>
          <p:cNvSpPr txBox="1"/>
          <p:nvPr/>
        </p:nvSpPr>
        <p:spPr>
          <a:xfrm>
            <a:off x="6802050" y="5041950"/>
            <a:ext cx="1193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L" sz="850" u="none" cap="none" strike="noStrike">
                <a:solidFill>
                  <a:srgbClr val="991B1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ANTES (MANUAL)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h12556c826f0a0262_2_150"/>
          <p:cNvSpPr txBox="1"/>
          <p:nvPr/>
        </p:nvSpPr>
        <p:spPr>
          <a:xfrm>
            <a:off x="6808650" y="5354400"/>
            <a:ext cx="11802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L" sz="1500" u="none" cap="none" strike="noStrike">
                <a:solidFill>
                  <a:srgbClr val="DC2626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0% Digital</a:t>
            </a:r>
            <a:endParaRPr b="1" i="0" sz="1500" u="none" cap="none" strike="noStrike">
              <a:solidFill>
                <a:srgbClr val="DC2626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3" name="Google Shape;323;h12556c826f0a0262_2_150"/>
          <p:cNvSpPr txBox="1"/>
          <p:nvPr/>
        </p:nvSpPr>
        <p:spPr>
          <a:xfrm>
            <a:off x="9801675" y="5041950"/>
            <a:ext cx="15144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s-CL" sz="85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 GASTROCONNECT</a:t>
            </a:r>
            <a:endParaRPr b="1" i="0" sz="850" u="none" cap="none" strike="noStrike">
              <a:solidFill>
                <a:srgbClr val="14532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t/>
            </a:r>
            <a:endParaRPr b="1" i="0" sz="850" u="none" cap="none" strike="noStrike">
              <a:solidFill>
                <a:srgbClr val="991B1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4" name="Google Shape;324;h12556c826f0a0262_2_150"/>
          <p:cNvSpPr txBox="1"/>
          <p:nvPr/>
        </p:nvSpPr>
        <p:spPr>
          <a:xfrm>
            <a:off x="9435975" y="5302350"/>
            <a:ext cx="22458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500" u="none" cap="none" strike="noStrike">
                <a:solidFill>
                  <a:srgbClr val="15803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&gt; 20% Autogestión</a:t>
            </a:r>
            <a:endParaRPr b="1" i="0" sz="1500" u="none" cap="none" strike="noStrike">
              <a:solidFill>
                <a:srgbClr val="15803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15803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25" name="Google Shape;325;h12556c826f0a0262_2_1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259425" y="4373600"/>
            <a:ext cx="11802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h12556c826f0a0262_2_150"/>
          <p:cNvSpPr txBox="1"/>
          <p:nvPr/>
        </p:nvSpPr>
        <p:spPr>
          <a:xfrm>
            <a:off x="10276500" y="4416275"/>
            <a:ext cx="1180200" cy="3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L" sz="10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+20% Pedidos</a:t>
            </a:r>
            <a:endParaRPr b="1" i="0" sz="1000" u="none" cap="none" strike="noStrike">
              <a:solidFill>
                <a:srgbClr val="14532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h12556c826f0a0262_2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h12556c826f0a0262_2_98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Objetivos del Proyecto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3" name="Google Shape;333;h12556c826f0a0262_2_98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h12556c826f0a0262_2_98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5" name="Google Shape;335;h12556c826f0a0262_2_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7500" y="1639375"/>
            <a:ext cx="4685300" cy="458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h12556c826f0a0262_2_9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4850" y="1941325"/>
            <a:ext cx="2333625" cy="43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h12556c826f0a0262_2_98"/>
          <p:cNvSpPr txBox="1"/>
          <p:nvPr/>
        </p:nvSpPr>
        <p:spPr>
          <a:xfrm>
            <a:off x="1311488" y="2010475"/>
            <a:ext cx="1848900" cy="2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OBJETIVO GENERAL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8" name="Google Shape;338;h12556c826f0a0262_2_98"/>
          <p:cNvSpPr txBox="1"/>
          <p:nvPr/>
        </p:nvSpPr>
        <p:spPr>
          <a:xfrm>
            <a:off x="924850" y="2644200"/>
            <a:ext cx="4111800" cy="32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963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Implementar una solución tecnológica integral que reemplace el flujo en papel por una plataforma digital centralizada para Restaurante </a:t>
            </a:r>
            <a:r>
              <a:rPr b="1" lang="es-CL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r>
              <a:rPr b="1" i="0" lang="es-CL" sz="1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, modernizando la gestión operativa, automatizando tareas críticas y garantizando un retorno tangible en productividad y control financiero.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39" name="Google Shape;339;h12556c826f0a0262_2_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87500" y="1752700"/>
            <a:ext cx="2976625" cy="21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h12556c826f0a0262_2_98"/>
          <p:cNvSpPr txBox="1"/>
          <p:nvPr/>
        </p:nvSpPr>
        <p:spPr>
          <a:xfrm>
            <a:off x="6110275" y="1982950"/>
            <a:ext cx="1743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Gestión de Salón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1" name="Google Shape;341;h12556c826f0a0262_2_98"/>
          <p:cNvSpPr txBox="1"/>
          <p:nvPr/>
        </p:nvSpPr>
        <p:spPr>
          <a:xfrm>
            <a:off x="5928450" y="2494350"/>
            <a:ext cx="2163600" cy="13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Módulo web interactivo para administrar el estado de 24 mesas en 2 pisos en tiempo real.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2" name="Google Shape;342;h12556c826f0a0262_2_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91650" y="1752700"/>
            <a:ext cx="2976625" cy="21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h12556c826f0a0262_2_98"/>
          <p:cNvSpPr txBox="1"/>
          <p:nvPr/>
        </p:nvSpPr>
        <p:spPr>
          <a:xfrm>
            <a:off x="9229300" y="1982950"/>
            <a:ext cx="22065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Punto de Venta POS</a:t>
            </a:r>
            <a:endParaRPr b="1" i="0" sz="14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4" name="Google Shape;344;h12556c826f0a0262_2_98"/>
          <p:cNvSpPr txBox="1"/>
          <p:nvPr/>
        </p:nvSpPr>
        <p:spPr>
          <a:xfrm>
            <a:off x="9032600" y="2494350"/>
            <a:ext cx="2163600" cy="13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Apertura/cierre de caja, multipago (efectivo, tarjetas, transferencias) y desglose de propinas.</a:t>
            </a:r>
            <a:endParaRPr b="0" i="0" sz="1200" u="none" cap="none" strike="noStrik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5" name="Google Shape;345;h12556c826f0a0262_2_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87500" y="4050650"/>
            <a:ext cx="2976625" cy="21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h12556c826f0a0262_2_98"/>
          <p:cNvSpPr txBox="1"/>
          <p:nvPr/>
        </p:nvSpPr>
        <p:spPr>
          <a:xfrm>
            <a:off x="6079238" y="4280900"/>
            <a:ext cx="21636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Canal Móvil Cliente</a:t>
            </a:r>
            <a:endParaRPr b="1" i="0" sz="14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7" name="Google Shape;347;h12556c826f0a0262_2_98"/>
          <p:cNvSpPr txBox="1"/>
          <p:nvPr/>
        </p:nvSpPr>
        <p:spPr>
          <a:xfrm>
            <a:off x="5928450" y="4792300"/>
            <a:ext cx="2163600" cy="13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Carrito de compra, pedidos en línea y seguimiento por código único UUID.</a:t>
            </a:r>
            <a:endParaRPr b="0" i="0" sz="1200" u="none" cap="none" strike="noStrik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8" name="Google Shape;348;h12556c826f0a0262_2_9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721450" y="4050650"/>
            <a:ext cx="2976625" cy="217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h12556c826f0a0262_2_98"/>
          <p:cNvSpPr txBox="1"/>
          <p:nvPr/>
        </p:nvSpPr>
        <p:spPr>
          <a:xfrm>
            <a:off x="9285450" y="4280900"/>
            <a:ext cx="21636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Informes Ejecutivos</a:t>
            </a:r>
            <a:endParaRPr b="1" i="0" sz="14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0" name="Google Shape;350;h12556c826f0a0262_2_98"/>
          <p:cNvSpPr txBox="1"/>
          <p:nvPr/>
        </p:nvSpPr>
        <p:spPr>
          <a:xfrm>
            <a:off x="9062400" y="4792300"/>
            <a:ext cx="2163600" cy="13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Panel analítico de ventas, platos más consumidos y tiempos promedio de atención.</a:t>
            </a:r>
            <a:endParaRPr b="0" i="0" sz="1200" u="none" cap="none" strike="noStrike">
              <a:solidFill>
                <a:srgbClr val="64748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51" name="Google Shape;351;h12556c826f0a0262_2_9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41713" y="2058575"/>
            <a:ext cx="266700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h12556c826f0a0262_2_9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991163" y="2058575"/>
            <a:ext cx="23812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h12556c826f0a0262_2_9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84575" y="4356513"/>
            <a:ext cx="180975" cy="23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h12556c826f0a0262_2_9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91163" y="4356525"/>
            <a:ext cx="238125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h12556c826f0a0262_2_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1175" y="4316625"/>
            <a:ext cx="3651775" cy="1717825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0" name="Google Shape;360;h12556c826f0a0262_2_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6225" y="4316650"/>
            <a:ext cx="3651775" cy="1717825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1" name="Google Shape;361;h12556c826f0a0262_2_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00" y="4316625"/>
            <a:ext cx="3651775" cy="1717825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2" name="Google Shape;362;h12556c826f0a0262_2_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1175" y="2274800"/>
            <a:ext cx="3651775" cy="1717825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3" name="Google Shape;363;h12556c826f0a0262_2_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1575" y="2274800"/>
            <a:ext cx="3651775" cy="1717825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64" name="Google Shape;364;h12556c826f0a0262_2_3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4000" y="2295525"/>
            <a:ext cx="3651775" cy="1717825"/>
          </a:xfrm>
          <a:prstGeom prst="rect">
            <a:avLst/>
          </a:prstGeom>
          <a:noFill/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65" name="Google Shape;365;h12556c826f0a0262_2_322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Plan de Trabajo (16 Semanas Calendario)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6" name="Google Shape;366;h12556c826f0a0262_2_322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h12556c826f0a0262_2_322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h12556c826f0a0262_2_322"/>
          <p:cNvSpPr txBox="1"/>
          <p:nvPr/>
        </p:nvSpPr>
        <p:spPr>
          <a:xfrm>
            <a:off x="523875" y="1639375"/>
            <a:ext cx="7240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CL" sz="130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Metodología tradicional estructurada dividida en 6 actividades principales y estratégicas.</a:t>
            </a:r>
            <a:endParaRPr b="0" i="0" sz="1300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69" name="Google Shape;369;h12556c826f0a0262_2_3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5128" y="2406150"/>
            <a:ext cx="14668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h12556c826f0a0262_2_322"/>
          <p:cNvSpPr txBox="1"/>
          <p:nvPr/>
        </p:nvSpPr>
        <p:spPr>
          <a:xfrm>
            <a:off x="984125" y="2417775"/>
            <a:ext cx="104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L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 1</a:t>
            </a:r>
            <a:endParaRPr b="1" i="0" sz="10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1" name="Google Shape;371;h12556c826f0a0262_2_322"/>
          <p:cNvSpPr txBox="1"/>
          <p:nvPr/>
        </p:nvSpPr>
        <p:spPr>
          <a:xfrm>
            <a:off x="775125" y="2903500"/>
            <a:ext cx="2058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&amp; Diseño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h12556c826f0a0262_2_322"/>
          <p:cNvSpPr txBox="1"/>
          <p:nvPr/>
        </p:nvSpPr>
        <p:spPr>
          <a:xfrm>
            <a:off x="775125" y="3150000"/>
            <a:ext cx="27537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-CL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Levantamiento ERS, Kick-off, DAS, diagramas y prototipos UI Web/Móvil.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h12556c826f0a0262_2_3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0228" y="2406150"/>
            <a:ext cx="14668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h12556c826f0a0262_2_322"/>
          <p:cNvSpPr txBox="1"/>
          <p:nvPr/>
        </p:nvSpPr>
        <p:spPr>
          <a:xfrm>
            <a:off x="4939225" y="2417775"/>
            <a:ext cx="104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L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 2</a:t>
            </a:r>
            <a:endParaRPr b="1" i="0" sz="10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5" name="Google Shape;375;h12556c826f0a0262_2_322"/>
          <p:cNvSpPr txBox="1"/>
          <p:nvPr/>
        </p:nvSpPr>
        <p:spPr>
          <a:xfrm>
            <a:off x="4730225" y="2903500"/>
            <a:ext cx="2058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Base de Datos &amp; API</a:t>
            </a:r>
            <a:endParaRPr b="1" i="0" sz="12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6" name="Google Shape;376;h12556c826f0a0262_2_322"/>
          <p:cNvSpPr txBox="1"/>
          <p:nvPr/>
        </p:nvSpPr>
        <p:spPr>
          <a:xfrm>
            <a:off x="4730225" y="3150000"/>
            <a:ext cx="27537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Modelo relacional PostgreSQL, Django REST Framework y endpoints.</a:t>
            </a:r>
            <a:endParaRPr b="0" i="0" sz="10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77" name="Google Shape;377;h12556c826f0a0262_2_3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29128" y="2406150"/>
            <a:ext cx="14668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h12556c826f0a0262_2_322"/>
          <p:cNvSpPr txBox="1"/>
          <p:nvPr/>
        </p:nvSpPr>
        <p:spPr>
          <a:xfrm>
            <a:off x="8638125" y="2417775"/>
            <a:ext cx="104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L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 3</a:t>
            </a:r>
            <a:endParaRPr b="1" i="0" sz="10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79" name="Google Shape;379;h12556c826f0a0262_2_322"/>
          <p:cNvSpPr txBox="1"/>
          <p:nvPr/>
        </p:nvSpPr>
        <p:spPr>
          <a:xfrm>
            <a:off x="8429125" y="2903500"/>
            <a:ext cx="2058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Web POS</a:t>
            </a:r>
            <a:endParaRPr b="1" i="0" sz="12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0" name="Google Shape;380;h12556c826f0a0262_2_322"/>
          <p:cNvSpPr txBox="1"/>
          <p:nvPr/>
        </p:nvSpPr>
        <p:spPr>
          <a:xfrm>
            <a:off x="8429125" y="3150000"/>
            <a:ext cx="27537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Módulos de salón, caja, impresora térmica e informes en Angular.</a:t>
            </a:r>
            <a:endParaRPr b="0" i="0" sz="10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81" name="Google Shape;381;h12556c826f0a0262_2_3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828" y="4497138"/>
            <a:ext cx="14668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h12556c826f0a0262_2_322"/>
          <p:cNvSpPr txBox="1"/>
          <p:nvPr/>
        </p:nvSpPr>
        <p:spPr>
          <a:xfrm>
            <a:off x="994825" y="4508763"/>
            <a:ext cx="104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L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 4</a:t>
            </a:r>
            <a:endParaRPr b="1" i="0" sz="10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3" name="Google Shape;383;h12556c826f0a0262_2_322"/>
          <p:cNvSpPr txBox="1"/>
          <p:nvPr/>
        </p:nvSpPr>
        <p:spPr>
          <a:xfrm>
            <a:off x="785825" y="4994488"/>
            <a:ext cx="2058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Móvil</a:t>
            </a:r>
            <a:endParaRPr b="1" i="0" sz="12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4" name="Google Shape;384;h12556c826f0a0262_2_322"/>
          <p:cNvSpPr txBox="1"/>
          <p:nvPr/>
        </p:nvSpPr>
        <p:spPr>
          <a:xfrm>
            <a:off x="785825" y="5240988"/>
            <a:ext cx="27537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Aplicación cliente en Ionic/Angular con carrito de compra y pedidos en línea.</a:t>
            </a:r>
            <a:endParaRPr b="0" i="0" sz="10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85" name="Google Shape;385;h12556c826f0a0262_2_3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0228" y="4497150"/>
            <a:ext cx="1466825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h12556c826f0a0262_2_322"/>
          <p:cNvSpPr txBox="1"/>
          <p:nvPr/>
        </p:nvSpPr>
        <p:spPr>
          <a:xfrm>
            <a:off x="4939225" y="4508775"/>
            <a:ext cx="104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L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 5</a:t>
            </a:r>
            <a:endParaRPr b="1" i="0" sz="1000" u="none" cap="none" strike="noStrike">
              <a:solidFill>
                <a:srgbClr val="FFFFF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7" name="Google Shape;387;h12556c826f0a0262_2_322"/>
          <p:cNvSpPr txBox="1"/>
          <p:nvPr/>
        </p:nvSpPr>
        <p:spPr>
          <a:xfrm>
            <a:off x="4730225" y="4994500"/>
            <a:ext cx="2058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Integración &amp; QA</a:t>
            </a:r>
            <a:endParaRPr b="1" i="0" sz="12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8" name="Google Shape;388;h12556c826f0a0262_2_322"/>
          <p:cNvSpPr txBox="1"/>
          <p:nvPr/>
        </p:nvSpPr>
        <p:spPr>
          <a:xfrm>
            <a:off x="4730225" y="5241000"/>
            <a:ext cx="27537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Pruebas de google maps</a:t>
            </a:r>
            <a:r>
              <a:rPr lang="es-CL" sz="10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</a:t>
            </a:r>
            <a:r>
              <a:rPr b="0" i="0" lang="es-CL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validación funcional del sistema.</a:t>
            </a:r>
            <a:endParaRPr b="0" i="0" sz="10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89" name="Google Shape;389;h12556c826f0a0262_2_322"/>
          <p:cNvSpPr txBox="1"/>
          <p:nvPr/>
        </p:nvSpPr>
        <p:spPr>
          <a:xfrm>
            <a:off x="8418425" y="4994500"/>
            <a:ext cx="20586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2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Capacitación &amp; Cierre</a:t>
            </a:r>
            <a:endParaRPr b="1" i="0" sz="1200" u="none" cap="none" strike="noStrike">
              <a:solidFill>
                <a:srgbClr val="14532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90" name="Google Shape;390;h12556c826f0a0262_2_322"/>
          <p:cNvSpPr txBox="1"/>
          <p:nvPr/>
        </p:nvSpPr>
        <p:spPr>
          <a:xfrm>
            <a:off x="8418425" y="5241000"/>
            <a:ext cx="2753700" cy="6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0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Capacitación a personal </a:t>
            </a:r>
            <a:r>
              <a:rPr lang="es-CL" sz="1000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administrador, </a:t>
            </a:r>
            <a:r>
              <a:rPr b="0" i="0" lang="es-CL" sz="10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caj</a:t>
            </a:r>
            <a:r>
              <a:rPr lang="es-CL" sz="1000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ero y garzón</a:t>
            </a:r>
            <a:r>
              <a:rPr b="0" i="0" lang="es-CL" sz="1000" u="none" cap="none" strike="noStrike">
                <a:solidFill>
                  <a:srgbClr val="166534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marcha blanca y entrega final.</a:t>
            </a:r>
            <a:endParaRPr b="0" i="0" sz="1000" u="none" cap="none" strike="noStrike">
              <a:solidFill>
                <a:srgbClr val="166534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64748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391" name="Google Shape;391;h12556c826f0a0262_2_3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9125" y="4478100"/>
            <a:ext cx="14668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h12556c826f0a0262_2_322"/>
          <p:cNvSpPr txBox="1"/>
          <p:nvPr/>
        </p:nvSpPr>
        <p:spPr>
          <a:xfrm>
            <a:off x="8674625" y="4508775"/>
            <a:ext cx="127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L" sz="10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ACTIVIDAD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3" name="Google Shape;393;h12556c826f0a0262_2_3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5250" y="2200975"/>
            <a:ext cx="3651775" cy="37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h12556c826f0a0262_2_3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31175" y="4216528"/>
            <a:ext cx="3614400" cy="3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h12556c826f0a0262_2_3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36225" y="2202175"/>
            <a:ext cx="3651775" cy="37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h12556c826f0a0262_2_3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31163" y="2168100"/>
            <a:ext cx="3651775" cy="37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h12556c826f0a0262_2_3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888" y="4242212"/>
            <a:ext cx="3651775" cy="37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h12556c826f0a0262_2_3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41563" y="4231850"/>
            <a:ext cx="3651775" cy="37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3" name="Google Shape;403;h12556c826f0a0262_2_1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h12556c826f0a0262_2_184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Equipo de Trabajo y Asignación de Roles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05" name="Google Shape;405;h12556c826f0a0262_2_184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h12556c826f0a0262_2_184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h12556c826f0a0262_2_1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8875" y="2179650"/>
            <a:ext cx="3212649" cy="359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h12556c826f0a0262_2_1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7513" y="2458000"/>
            <a:ext cx="766525" cy="7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h12556c826f0a0262_2_18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08900" y="2431375"/>
            <a:ext cx="1163788" cy="8197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h12556c826f0a0262_2_184"/>
          <p:cNvSpPr txBox="1"/>
          <p:nvPr/>
        </p:nvSpPr>
        <p:spPr>
          <a:xfrm>
            <a:off x="953238" y="3279488"/>
            <a:ext cx="267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-CL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Karina Escobar 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h12556c826f0a0262_2_18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3691276"/>
            <a:ext cx="2657475" cy="3668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h12556c826f0a0262_2_184"/>
          <p:cNvSpPr txBox="1"/>
          <p:nvPr/>
        </p:nvSpPr>
        <p:spPr>
          <a:xfrm>
            <a:off x="1313813" y="3691275"/>
            <a:ext cx="19539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L" sz="1000" u="none" cap="none" strike="noStrike">
                <a:solidFill>
                  <a:srgbClr val="78350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Líder de Proyecto &amp; QA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h12556c826f0a0262_2_184"/>
          <p:cNvSpPr txBox="1"/>
          <p:nvPr/>
        </p:nvSpPr>
        <p:spPr>
          <a:xfrm>
            <a:off x="971800" y="4212125"/>
            <a:ext cx="26751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43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CL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Definición de requerimientos, casos de uso, diseño de arquitectura, diagramas vistas 4+1, diseño mockup, plan de pruebas (QA),  capacitación y acta de cierre.</a:t>
            </a:r>
            <a:endParaRPr b="0" i="0" sz="1050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4" name="Google Shape;414;h12556c826f0a0262_2_1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1650" y="2179650"/>
            <a:ext cx="3212649" cy="3598474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h12556c826f0a0262_2_184"/>
          <p:cNvSpPr txBox="1"/>
          <p:nvPr/>
        </p:nvSpPr>
        <p:spPr>
          <a:xfrm>
            <a:off x="4956013" y="3279488"/>
            <a:ext cx="267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Jerson Huaman M.</a:t>
            </a:r>
            <a:endParaRPr b="1" i="0" sz="15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6" name="Google Shape;416;h12556c826f0a0262_2_184"/>
          <p:cNvSpPr txBox="1"/>
          <p:nvPr/>
        </p:nvSpPr>
        <p:spPr>
          <a:xfrm>
            <a:off x="4974575" y="4212125"/>
            <a:ext cx="26751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43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API REST (Django/Python), gestión del modelo relacional, reglas de negocio, seguridad y sockets en tiempo real.</a:t>
            </a:r>
            <a:endParaRPr b="0" i="0" sz="1050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7" name="Google Shape;417;h12556c826f0a0262_2_18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55625" y="2179650"/>
            <a:ext cx="3212649" cy="3598474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h12556c826f0a0262_2_184"/>
          <p:cNvSpPr txBox="1"/>
          <p:nvPr/>
        </p:nvSpPr>
        <p:spPr>
          <a:xfrm>
            <a:off x="8754413" y="3279488"/>
            <a:ext cx="267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Alexia Cano C.</a:t>
            </a:r>
            <a:endParaRPr b="1" i="0" sz="15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419" name="Google Shape;419;h12556c826f0a0262_2_184"/>
          <p:cNvSpPr txBox="1"/>
          <p:nvPr/>
        </p:nvSpPr>
        <p:spPr>
          <a:xfrm>
            <a:off x="8678550" y="4212125"/>
            <a:ext cx="2675100" cy="13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43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-CL" sz="10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Desarrollo de interfaz Web POS en Angular y aplicación móvil híbrida para clientes en Ionic/Angular con UX accesible.</a:t>
            </a:r>
            <a:endParaRPr b="0" i="0" sz="1050" u="none" cap="none" strike="noStrike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0" name="Google Shape;420;h12556c826f0a0262_2_18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25309" y="2457997"/>
            <a:ext cx="766525" cy="76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h12556c826f0a0262_2_18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32899" y="2364065"/>
            <a:ext cx="1351375" cy="954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h12556c826f0a0262_2_18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544475" y="2431375"/>
            <a:ext cx="827098" cy="81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h12556c826f0a0262_2_18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82337" y="2361055"/>
            <a:ext cx="1351375" cy="960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h12556c826f0a0262_2_18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186400" y="3674675"/>
            <a:ext cx="23431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h12556c826f0a0262_2_184"/>
          <p:cNvSpPr txBox="1"/>
          <p:nvPr/>
        </p:nvSpPr>
        <p:spPr>
          <a:xfrm>
            <a:off x="5338200" y="3705350"/>
            <a:ext cx="195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L" sz="1000" u="none" cap="none" strike="noStrike">
                <a:solidFill>
                  <a:srgbClr val="1E3A8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Líder Backend &amp; DB</a:t>
            </a:r>
            <a:endParaRPr b="1" i="0" sz="1000" u="none" cap="none" strike="noStrike">
              <a:solidFill>
                <a:srgbClr val="1E3A8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26" name="Google Shape;426;h12556c826f0a0262_2_18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791823" y="3705350"/>
            <a:ext cx="2540250" cy="3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h12556c826f0a0262_2_184"/>
          <p:cNvSpPr txBox="1"/>
          <p:nvPr/>
        </p:nvSpPr>
        <p:spPr>
          <a:xfrm>
            <a:off x="8958800" y="3705350"/>
            <a:ext cx="2241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-CL" sz="1000" u="none" cap="none" strike="noStrike">
                <a:solidFill>
                  <a:srgbClr val="14532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Diseñadora Frontend &amp; UX</a:t>
            </a:r>
            <a:endParaRPr b="1" i="0" sz="1000" u="none" cap="none" strike="noStrike">
              <a:solidFill>
                <a:srgbClr val="14532D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3" name="Google Shape;433;h2575e389d1e18be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h2575e389d1e18be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1915887"/>
            <a:ext cx="5405437" cy="33910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5" name="Google Shape;435;h2575e389d1e18be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62687" y="1915887"/>
            <a:ext cx="5405437" cy="3391025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h2575e389d1e18be_0_0"/>
          <p:cNvSpPr txBox="1"/>
          <p:nvPr/>
        </p:nvSpPr>
        <p:spPr>
          <a:xfrm>
            <a:off x="800100" y="2159435"/>
            <a:ext cx="5135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600" u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Relación Perfil de Egreso</a:t>
            </a:r>
            <a:endParaRPr/>
          </a:p>
        </p:txBody>
      </p:sp>
      <p:sp>
        <p:nvSpPr>
          <p:cNvPr id="437" name="Google Shape;437;h2575e389d1e18be_0_0"/>
          <p:cNvSpPr txBox="1"/>
          <p:nvPr/>
        </p:nvSpPr>
        <p:spPr>
          <a:xfrm>
            <a:off x="800100" y="2653737"/>
            <a:ext cx="489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El proyecto integra competencias clave de la carrera:</a:t>
            </a:r>
            <a:endParaRPr/>
          </a:p>
        </p:txBody>
      </p:sp>
      <p:sp>
        <p:nvSpPr>
          <p:cNvPr id="438" name="Google Shape;438;h2575e389d1e18be_0_0"/>
          <p:cNvSpPr txBox="1"/>
          <p:nvPr/>
        </p:nvSpPr>
        <p:spPr>
          <a:xfrm>
            <a:off x="800100" y="3201853"/>
            <a:ext cx="48912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Ingeniería de Software:</a:t>
            </a:r>
            <a:r>
              <a:rPr b="0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Análisis ERS, arquitectura en capas API REST y diseño de bases de datos relacionales.</a:t>
            </a:r>
            <a:endParaRPr/>
          </a:p>
        </p:txBody>
      </p:sp>
      <p:sp>
        <p:nvSpPr>
          <p:cNvPr id="439" name="Google Shape;439;h2575e389d1e18be_0_0"/>
          <p:cNvSpPr txBox="1"/>
          <p:nvPr/>
        </p:nvSpPr>
        <p:spPr>
          <a:xfrm>
            <a:off x="800100" y="3839591"/>
            <a:ext cx="48912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Desarrollo Web &amp; Híbrido:</a:t>
            </a:r>
            <a:r>
              <a:rPr b="0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Implementación Angular para POS y tecnología Ionic Móvil.</a:t>
            </a:r>
            <a:endParaRPr/>
          </a:p>
        </p:txBody>
      </p:sp>
      <p:sp>
        <p:nvSpPr>
          <p:cNvPr id="440" name="Google Shape;440;h2575e389d1e18be_0_0"/>
          <p:cNvSpPr txBox="1"/>
          <p:nvPr/>
        </p:nvSpPr>
        <p:spPr>
          <a:xfrm>
            <a:off x="800100" y="4512766"/>
            <a:ext cx="4891200" cy="4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Gestión de Proyectos &amp; QA:</a:t>
            </a:r>
            <a:r>
              <a:rPr b="0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Control de plazos, presupuesto y aseguramiento de calidad con pruebas funcionales.</a:t>
            </a:r>
            <a:endParaRPr/>
          </a:p>
        </p:txBody>
      </p:sp>
      <p:sp>
        <p:nvSpPr>
          <p:cNvPr id="441" name="Google Shape;441;h2575e389d1e18be_0_0"/>
          <p:cNvSpPr txBox="1"/>
          <p:nvPr/>
        </p:nvSpPr>
        <p:spPr>
          <a:xfrm>
            <a:off x="6538912" y="2159435"/>
            <a:ext cx="5135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600" u="none">
                <a:solidFill>
                  <a:srgbClr val="1D4ED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Intereses &amp; Factibilidad</a:t>
            </a:r>
            <a:endParaRPr/>
          </a:p>
        </p:txBody>
      </p:sp>
      <p:sp>
        <p:nvSpPr>
          <p:cNvPr id="442" name="Google Shape;442;h2575e389d1e18be_0_0"/>
          <p:cNvSpPr txBox="1"/>
          <p:nvPr/>
        </p:nvSpPr>
        <p:spPr>
          <a:xfrm>
            <a:off x="6519861" y="2803266"/>
            <a:ext cx="48912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Interés Profesional:</a:t>
            </a:r>
            <a:r>
              <a:rPr b="0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Especialización del equipo en transformación digital para el rubro gastronómico y PyMEs comerciales.</a:t>
            </a:r>
            <a:endParaRPr/>
          </a:p>
        </p:txBody>
      </p:sp>
      <p:sp>
        <p:nvSpPr>
          <p:cNvPr id="443" name="Google Shape;443;h2575e389d1e18be_0_0"/>
          <p:cNvSpPr txBox="1"/>
          <p:nvPr/>
        </p:nvSpPr>
        <p:spPr>
          <a:xfrm>
            <a:off x="6538912" y="3621583"/>
            <a:ext cx="48912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42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• </a:t>
            </a:r>
            <a:r>
              <a:rPr b="1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Argumento de Factibilidad:</a:t>
            </a:r>
            <a:r>
              <a:rPr b="0" i="0" lang="es-CL" sz="1400" u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Proyecto acotado a 16 semanas con tecnologías dominadas por el equipo, alcance validado mediante ERS y disponibilidad directa de la contraparte del restaurante.</a:t>
            </a:r>
            <a:endParaRPr/>
          </a:p>
        </p:txBody>
      </p:sp>
      <p:sp>
        <p:nvSpPr>
          <p:cNvPr id="444" name="Google Shape;444;h2575e389d1e18be_0_0"/>
          <p:cNvSpPr txBox="1"/>
          <p:nvPr/>
        </p:nvSpPr>
        <p:spPr>
          <a:xfrm>
            <a:off x="523875" y="814683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Marco Académico y Perfil APT</a:t>
            </a:r>
            <a:endParaRPr/>
          </a:p>
        </p:txBody>
      </p:sp>
      <p:sp>
        <p:nvSpPr>
          <p:cNvPr id="445" name="Google Shape;445;h2575e389d1e18be_0_0"/>
          <p:cNvSpPr/>
          <p:nvPr/>
        </p:nvSpPr>
        <p:spPr>
          <a:xfrm>
            <a:off x="523875" y="1414758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h2575e389d1e18be_0_0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1050" u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h12556c826f0a0262_2_191"/>
          <p:cNvSpPr txBox="1"/>
          <p:nvPr/>
        </p:nvSpPr>
        <p:spPr>
          <a:xfrm>
            <a:off x="523800" y="546912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Inversión y Costos del Proyecto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53" name="Google Shape;453;h12556c826f0a0262_2_191"/>
          <p:cNvSpPr/>
          <p:nvPr/>
        </p:nvSpPr>
        <p:spPr>
          <a:xfrm>
            <a:off x="523800" y="1146987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54" name="Google Shape;454;h12556c826f0a0262_2_191"/>
          <p:cNvGraphicFramePr/>
          <p:nvPr/>
        </p:nvGraphicFramePr>
        <p:xfrm>
          <a:off x="523951" y="134444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{21CD1F72-441A-4A20-B5C3-8D7F900E2F81}</a:tableStyleId>
              </a:tblPr>
              <a:tblGrid>
                <a:gridCol w="2381625"/>
                <a:gridCol w="3075175"/>
                <a:gridCol w="1688050"/>
              </a:tblGrid>
              <a:tr h="667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Categoría de Recurso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Detalle / Descripción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Costo Estimado (CLP)</a:t>
                      </a:r>
                      <a:endParaRPr sz="1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solidFill>
                      <a:srgbClr val="142B43"/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Desarrollo del sistema 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Desarrollo Backend, Frontend y gestión/QA del proyecto durante 16 semanas 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$9.024.000 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Impresora térmica 80mm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Para etapa de pruebas y despliegue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$100.000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Insumos de impresión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Papel térmico 80 mm (10 unidades))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 </a:t>
                      </a:r>
                      <a:r>
                        <a:rPr lang="es-CL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15.000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993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Dominio y Certificado SSL página web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Dominio </a:t>
                      </a:r>
                      <a:r>
                        <a:rPr lang="es-CL" sz="1400" u="none" cap="none" strike="noStrike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.cl</a:t>
                      </a:r>
                      <a:r>
                        <a:rPr lang="es-CL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+ certificado SSL/TLS para HTTPS 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CL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$9.990</a:t>
                      </a:r>
                      <a:endParaRPr sz="2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76200" marB="76200" marR="76200" marL="7620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455" name="Google Shape;455;h12556c826f0a0262_2_191"/>
          <p:cNvSpPr txBox="1"/>
          <p:nvPr/>
        </p:nvSpPr>
        <p:spPr>
          <a:xfrm>
            <a:off x="523795" y="62905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56" name="Google Shape;456;h12556c826f0a0262_2_1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875" y="5274925"/>
            <a:ext cx="11144249" cy="7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h12556c826f0a0262_2_191"/>
          <p:cNvSpPr txBox="1"/>
          <p:nvPr/>
        </p:nvSpPr>
        <p:spPr>
          <a:xfrm>
            <a:off x="523950" y="5442738"/>
            <a:ext cx="11144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428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 la etapa de despliegue se debe evaluar las contratación de un Servidor Cloud en Azure para la infraestructura y Licencia de publicación en App Store o Google Play para la app móvil de cliente.</a:t>
            </a:r>
            <a:endParaRPr b="0" i="0" sz="1200" u="none" cap="none" strike="noStrike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58" name="Google Shape;458;h12556c826f0a0262_2_1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94975" y="1735050"/>
            <a:ext cx="3873074" cy="237597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h12556c826f0a0262_2_191"/>
          <p:cNvSpPr txBox="1"/>
          <p:nvPr/>
        </p:nvSpPr>
        <p:spPr>
          <a:xfrm>
            <a:off x="8323463" y="2117588"/>
            <a:ext cx="281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INVERSIÓN TOTAL ESTIMADA</a:t>
            </a:r>
            <a:endParaRPr b="0" i="0" sz="14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0" name="Google Shape;460;h12556c826f0a0262_2_191"/>
          <p:cNvSpPr txBox="1"/>
          <p:nvPr/>
        </p:nvSpPr>
        <p:spPr>
          <a:xfrm>
            <a:off x="8180650" y="2660775"/>
            <a:ext cx="31017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s-CL" sz="30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$9.148.990 CLP</a:t>
            </a:r>
            <a:endParaRPr b="0" i="0" sz="3000" u="none" cap="none" strike="noStrike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1" name="Google Shape;461;h12556c826f0a0262_2_191"/>
          <p:cNvSpPr txBox="1"/>
          <p:nvPr/>
        </p:nvSpPr>
        <p:spPr>
          <a:xfrm>
            <a:off x="8850250" y="3429000"/>
            <a:ext cx="17625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4318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CL" sz="12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Costo a 16 semanas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6" name="Google Shape;466;h12556c826f0a0262_2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h12556c826f0a0262_2_8"/>
          <p:cNvSpPr txBox="1"/>
          <p:nvPr/>
        </p:nvSpPr>
        <p:spPr>
          <a:xfrm>
            <a:off x="523875" y="841831"/>
            <a:ext cx="11668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¿Qué Valor Aporta GastroConnect al Restaurante?</a:t>
            </a:r>
            <a:endParaRPr b="1" i="0" sz="28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68" name="Google Shape;468;h12556c826f0a0262_2_8"/>
          <p:cNvSpPr/>
          <p:nvPr/>
        </p:nvSpPr>
        <p:spPr>
          <a:xfrm>
            <a:off x="523875" y="1441906"/>
            <a:ext cx="11144400" cy="28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h12556c826f0a0262_2_8"/>
          <p:cNvSpPr txBox="1"/>
          <p:nvPr/>
        </p:nvSpPr>
        <p:spPr>
          <a:xfrm>
            <a:off x="534570" y="6519182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470" name="Google Shape;470;h12556c826f0a0262_2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875" y="1686450"/>
            <a:ext cx="3523100" cy="474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h12556c826f0a0262_2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4525" y="1686450"/>
            <a:ext cx="3523100" cy="4741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h12556c826f0a0262_2_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5175" y="1686450"/>
            <a:ext cx="3523100" cy="474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h12556c826f0a0262_2_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838" y="1916138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h12556c826f0a0262_2_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05338" y="2111400"/>
            <a:ext cx="33337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h12556c826f0a0262_2_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30000" y="1916138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h12556c826f0a0262_2_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44325" y="2111400"/>
            <a:ext cx="28575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h12556c826f0a0262_2_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335638" y="1916150"/>
            <a:ext cx="714375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h12556c826f0a0262_2_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526138" y="2111413"/>
            <a:ext cx="333375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h12556c826f0a0262_2_8"/>
          <p:cNvSpPr txBox="1"/>
          <p:nvPr/>
        </p:nvSpPr>
        <p:spPr>
          <a:xfrm>
            <a:off x="827575" y="2795950"/>
            <a:ext cx="272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Para el Comensal / Cliente</a:t>
            </a:r>
            <a:endParaRPr b="0" i="0" sz="3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0" name="Google Shape;480;h12556c826f0a0262_2_8"/>
          <p:cNvSpPr txBox="1"/>
          <p:nvPr/>
        </p:nvSpPr>
        <p:spPr>
          <a:xfrm>
            <a:off x="4486375" y="2795950"/>
            <a:ext cx="272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Para el Personal de Trabajo</a:t>
            </a:r>
            <a:endParaRPr b="1" i="0" sz="14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1" name="Google Shape;481;h12556c826f0a0262_2_8"/>
          <p:cNvSpPr txBox="1"/>
          <p:nvPr/>
        </p:nvSpPr>
        <p:spPr>
          <a:xfrm>
            <a:off x="8335650" y="2795950"/>
            <a:ext cx="2727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Para la Gerencia / Dueños</a:t>
            </a:r>
            <a:endParaRPr b="1" i="0" sz="1400" u="none" cap="none" strike="noStrike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2" name="Google Shape;482;h12556c826f0a0262_2_8"/>
          <p:cNvSpPr txBox="1"/>
          <p:nvPr/>
        </p:nvSpPr>
        <p:spPr>
          <a:xfrm>
            <a:off x="906325" y="3273750"/>
            <a:ext cx="3063000" cy="24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Atención 3x más rápida:</a:t>
            </a:r>
            <a:r>
              <a:rPr b="0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Eliminación de esperas prolongadas para pedir la cuenta o solicitar atención.</a:t>
            </a:r>
            <a:endParaRPr b="0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Carta Digital:</a:t>
            </a:r>
            <a:r>
              <a:rPr b="0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Menú claro con fotos HD, precios actualizados y pedidos en línea.</a:t>
            </a:r>
            <a:endParaRPr b="0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Transparencia Total:</a:t>
            </a:r>
            <a:r>
              <a:rPr b="0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Seguimiento del pedido por código único UUID sin dudas de cobro.</a:t>
            </a:r>
            <a:endParaRPr b="0" i="0" sz="11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3" name="Google Shape;483;h12556c826f0a0262_2_8"/>
          <p:cNvSpPr txBox="1"/>
          <p:nvPr/>
        </p:nvSpPr>
        <p:spPr>
          <a:xfrm>
            <a:off x="4525750" y="3273750"/>
            <a:ext cx="3063000" cy="24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Garzones sin Estrés:</a:t>
            </a:r>
            <a:r>
              <a:rPr b="0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Menos caminatas innecesarias; más tiempo atendiendo con calidad.</a:t>
            </a:r>
            <a:endParaRPr b="1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Cocina Organizada:</a:t>
            </a:r>
            <a:r>
              <a:rPr b="0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Comandas térmicas legibles impresas de inmediato según su estación.</a:t>
            </a:r>
            <a:endParaRPr b="1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Caja Simplificada:</a:t>
            </a:r>
            <a:r>
              <a:rPr b="0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Arqueos automáticos con un solo clic al terminar la jornada.</a:t>
            </a:r>
            <a:endParaRPr b="1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4" name="Google Shape;484;h12556c826f0a0262_2_8"/>
          <p:cNvSpPr txBox="1"/>
          <p:nvPr/>
        </p:nvSpPr>
        <p:spPr>
          <a:xfrm>
            <a:off x="8414400" y="3273750"/>
            <a:ext cx="3023700" cy="24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Control de Fugas:</a:t>
            </a:r>
            <a:r>
              <a:rPr b="0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0% margen de cobro erróneo o productos servidos sin comanda.</a:t>
            </a:r>
            <a:endParaRPr b="1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Toma de Decisiones:</a:t>
            </a:r>
            <a:r>
              <a:rPr b="0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Reportes en línea sobre platos estrella y horas de mayor consumo.</a:t>
            </a:r>
            <a:endParaRPr b="1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3363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Escalabilidad:</a:t>
            </a:r>
            <a:r>
              <a:rPr b="0" i="0" lang="es-CL" sz="1100" u="none" cap="none" strike="noStrik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 Infraestructura moderna lista para promociones y expansión.</a:t>
            </a:r>
            <a:endParaRPr b="1" i="0" sz="1100" u="none" cap="none" strike="noStrike"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5" name="Google Shape;485;h12556c826f0a0262_2_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53975" y="5951188"/>
            <a:ext cx="3062899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h12556c826f0a0262_2_8"/>
          <p:cNvSpPr txBox="1"/>
          <p:nvPr/>
        </p:nvSpPr>
        <p:spPr>
          <a:xfrm>
            <a:off x="827575" y="5966725"/>
            <a:ext cx="2878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-CL" sz="1200" u="none" cap="none" strike="noStrike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IMPACTO: Mayor Fidelización</a:t>
            </a:r>
            <a:endParaRPr b="0" i="0" sz="1200" u="none" cap="none" strike="noStrik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487" name="Google Shape;487;h12556c826f0a0262_2_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449575" y="5966763"/>
            <a:ext cx="3062899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h12556c826f0a0262_2_8"/>
          <p:cNvSpPr txBox="1"/>
          <p:nvPr/>
        </p:nvSpPr>
        <p:spPr>
          <a:xfrm>
            <a:off x="4525750" y="5966725"/>
            <a:ext cx="30237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200" u="none" cap="none" strike="noStrike">
                <a:solidFill>
                  <a:srgbClr val="D97706"/>
                </a:solidFill>
                <a:latin typeface="Poppins"/>
                <a:ea typeface="Poppins"/>
                <a:cs typeface="Poppins"/>
                <a:sym typeface="Poppins"/>
              </a:rPr>
              <a:t>IMPACTO: Clima Laboral Eficiente</a:t>
            </a:r>
            <a:endParaRPr b="1" i="0" sz="1200" u="none" cap="none" strike="noStrike">
              <a:solidFill>
                <a:srgbClr val="D9770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991B1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id="489" name="Google Shape;489;h12556c826f0a0262_2_8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375275" y="5982338"/>
            <a:ext cx="3062899" cy="32385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h12556c826f0a0262_2_8"/>
          <p:cNvSpPr txBox="1"/>
          <p:nvPr/>
        </p:nvSpPr>
        <p:spPr>
          <a:xfrm>
            <a:off x="8335650" y="5966700"/>
            <a:ext cx="2878800" cy="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s-CL" sz="1200" u="none" cap="none" strike="noStrike">
                <a:solidFill>
                  <a:srgbClr val="16A34A"/>
                </a:solidFill>
                <a:latin typeface="Poppins"/>
                <a:ea typeface="Poppins"/>
                <a:cs typeface="Poppins"/>
                <a:sym typeface="Poppins"/>
              </a:rPr>
              <a:t>IMPACTO: Rentabilidad Directa</a:t>
            </a:r>
            <a:endParaRPr b="1" i="0" sz="1200" u="none" cap="none" strike="noStrike">
              <a:solidFill>
                <a:srgbClr val="16A34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1" i="0" sz="900" u="none" cap="none" strike="noStrike">
              <a:solidFill>
                <a:srgbClr val="991B1B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h61ffbbd66c0d0bd0_0_248"/>
          <p:cNvSpPr/>
          <p:nvPr/>
        </p:nvSpPr>
        <p:spPr>
          <a:xfrm>
            <a:off x="412653" y="557064"/>
            <a:ext cx="6297000" cy="5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800"/>
              <a:buFont typeface="Poppins"/>
              <a:buNone/>
            </a:pPr>
            <a:r>
              <a:rPr b="1" lang="es-CL" sz="28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¿ Por qué escoger GastroConnect?</a:t>
            </a:r>
            <a:endParaRPr b="1" i="0" sz="2600" u="none" cap="none" strike="noStrike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96" name="Google Shape;496;h61ffbbd66c0d0bd0_0_248"/>
          <p:cNvSpPr/>
          <p:nvPr/>
        </p:nvSpPr>
        <p:spPr>
          <a:xfrm>
            <a:off x="412653" y="1197167"/>
            <a:ext cx="11466600" cy="45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h61ffbbd66c0d0bd0_0_248"/>
          <p:cNvSpPr txBox="1"/>
          <p:nvPr/>
        </p:nvSpPr>
        <p:spPr>
          <a:xfrm>
            <a:off x="838200" y="6115050"/>
            <a:ext cx="351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s-CL" sz="105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GastroConnect — 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8" name="Google Shape;498;h61ffbbd66c0d0bd0_0_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650" y="1696750"/>
            <a:ext cx="501550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h61ffbbd66c0d0bd0_0_248"/>
          <p:cNvSpPr txBox="1"/>
          <p:nvPr/>
        </p:nvSpPr>
        <p:spPr>
          <a:xfrm>
            <a:off x="1050475" y="1969825"/>
            <a:ext cx="27144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Desarrollo 100% A Medida</a:t>
            </a:r>
            <a:endParaRPr sz="3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0" name="Google Shape;500;h61ffbbd66c0d0bd0_0_248"/>
          <p:cNvSpPr txBox="1"/>
          <p:nvPr/>
        </p:nvSpPr>
        <p:spPr>
          <a:xfrm>
            <a:off x="1102925" y="2455000"/>
            <a:ext cx="3907500" cy="9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26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Software adaptado a la operativa exacta de Restaurante Shaolin Sushi, sin pagar mensualidades ni comisiones por venta.</a:t>
            </a:r>
            <a:endParaRPr sz="3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1" name="Google Shape;501;h61ffbbd66c0d0bd0_0_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9800" y="1699150"/>
            <a:ext cx="501550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h61ffbbd66c0d0bd0_0_248"/>
          <p:cNvSpPr txBox="1"/>
          <p:nvPr/>
        </p:nvSpPr>
        <p:spPr>
          <a:xfrm>
            <a:off x="6867625" y="1972225"/>
            <a:ext cx="32439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C1917"/>
                </a:solidFill>
                <a:latin typeface="Poppins"/>
                <a:ea typeface="Poppins"/>
                <a:cs typeface="Poppins"/>
                <a:sym typeface="Poppins"/>
              </a:rPr>
              <a:t>Arquitectura Escalable</a:t>
            </a:r>
            <a:endParaRPr b="1" sz="1500">
              <a:solidFill>
                <a:srgbClr val="1C191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0F172A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3" name="Google Shape;503;h61ffbbd66c0d0bd0_0_248"/>
          <p:cNvSpPr txBox="1"/>
          <p:nvPr/>
        </p:nvSpPr>
        <p:spPr>
          <a:xfrm>
            <a:off x="6920075" y="2457400"/>
            <a:ext cx="3512400" cy="9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Plataforma modular con soporte para nuevas sucursales e integraciones.</a:t>
            </a:r>
            <a:endParaRPr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4" name="Google Shape;504;h61ffbbd66c0d0bd0_0_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425" y="4007975"/>
            <a:ext cx="501550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h61ffbbd66c0d0bd0_0_248"/>
          <p:cNvSpPr txBox="1"/>
          <p:nvPr/>
        </p:nvSpPr>
        <p:spPr>
          <a:xfrm>
            <a:off x="1119250" y="4281050"/>
            <a:ext cx="30783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C1917"/>
                </a:solidFill>
                <a:latin typeface="Poppins"/>
                <a:ea typeface="Poppins"/>
                <a:cs typeface="Poppins"/>
                <a:sym typeface="Poppins"/>
              </a:rPr>
              <a:t>Soporte &amp; Capacitación</a:t>
            </a:r>
            <a:endParaRPr b="1" sz="1500">
              <a:solidFill>
                <a:srgbClr val="1C191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500">
              <a:solidFill>
                <a:srgbClr val="1C191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C191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6" name="Google Shape;506;h61ffbbd66c0d0bd0_0_248"/>
          <p:cNvSpPr txBox="1"/>
          <p:nvPr/>
        </p:nvSpPr>
        <p:spPr>
          <a:xfrm>
            <a:off x="1171700" y="4766225"/>
            <a:ext cx="3512400" cy="9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Capacitación presencial al personal e implementación guiada en sitio.</a:t>
            </a:r>
            <a:endParaRPr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07" name="Google Shape;507;h61ffbbd66c0d0bd0_0_2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9800" y="4007975"/>
            <a:ext cx="5015500" cy="196215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h61ffbbd66c0d0bd0_0_248"/>
          <p:cNvSpPr txBox="1"/>
          <p:nvPr/>
        </p:nvSpPr>
        <p:spPr>
          <a:xfrm>
            <a:off x="6867625" y="4281050"/>
            <a:ext cx="31521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500">
                <a:solidFill>
                  <a:srgbClr val="1C1917"/>
                </a:solidFill>
                <a:latin typeface="Poppins"/>
                <a:ea typeface="Poppins"/>
                <a:cs typeface="Poppins"/>
                <a:sym typeface="Poppins"/>
              </a:rPr>
              <a:t>Alto Retorno de Inversión</a:t>
            </a:r>
            <a:endParaRPr b="1" sz="1500">
              <a:solidFill>
                <a:srgbClr val="1C191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1C191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b="1" sz="1500">
              <a:solidFill>
                <a:srgbClr val="1C191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09" name="Google Shape;509;h61ffbbd66c0d0bd0_0_248"/>
          <p:cNvSpPr txBox="1"/>
          <p:nvPr/>
        </p:nvSpPr>
        <p:spPr>
          <a:xfrm>
            <a:off x="6920075" y="4766225"/>
            <a:ext cx="3512400" cy="9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Reducción de tiempos muertos y control total de ventas.</a:t>
            </a:r>
            <a:endParaRPr>
              <a:solidFill>
                <a:srgbClr val="47556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510" name="Google Shape;510;h61ffbbd66c0d0bd0_0_2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7100" y="4265113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h61ffbbd66c0d0bd0_0_2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200" y="1860674"/>
            <a:ext cx="413050" cy="41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2" name="Google Shape;512;h61ffbbd66c0d0bd0_0_2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76275" y="1909250"/>
            <a:ext cx="491350" cy="49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h61ffbbd66c0d0bd0_0_2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428725" y="4212675"/>
            <a:ext cx="491350" cy="49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"/>
          <p:cNvSpPr txBox="1"/>
          <p:nvPr/>
        </p:nvSpPr>
        <p:spPr>
          <a:xfrm>
            <a:off x="772380" y="2302317"/>
            <a:ext cx="1049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34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¡Muchas gracias por su atención!</a:t>
            </a:r>
            <a:endParaRPr b="1" i="0" sz="3400" u="none" cap="none" strike="noStrike">
              <a:solidFill>
                <a:srgbClr val="00206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19" name="Google Shape;519;p8"/>
          <p:cNvSpPr/>
          <p:nvPr/>
        </p:nvSpPr>
        <p:spPr>
          <a:xfrm>
            <a:off x="1923785" y="4377630"/>
            <a:ext cx="81915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8"/>
          <p:cNvSpPr/>
          <p:nvPr/>
        </p:nvSpPr>
        <p:spPr>
          <a:xfrm>
            <a:off x="4785078" y="6035976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8"/>
          <p:cNvSpPr/>
          <p:nvPr/>
        </p:nvSpPr>
        <p:spPr>
          <a:xfrm>
            <a:off x="7840436" y="6024768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22" name="Google Shape;5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1861" y="6005441"/>
            <a:ext cx="1905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3" name="Google Shape;52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6011" y="6005441"/>
            <a:ext cx="152400" cy="14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4" name="Google Shape;52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44486" y="6005441"/>
            <a:ext cx="133350" cy="1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8"/>
          <p:cNvSpPr txBox="1"/>
          <p:nvPr/>
        </p:nvSpPr>
        <p:spPr>
          <a:xfrm>
            <a:off x="2515209" y="5973399"/>
            <a:ext cx="1875514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Equipo de Desarrollo &amp;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8"/>
          <p:cNvSpPr txBox="1"/>
          <p:nvPr/>
        </p:nvSpPr>
        <p:spPr>
          <a:xfrm>
            <a:off x="5185128" y="5979390"/>
            <a:ext cx="2244204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contacto@gastroconnect.com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8"/>
          <p:cNvSpPr txBox="1"/>
          <p:nvPr/>
        </p:nvSpPr>
        <p:spPr>
          <a:xfrm>
            <a:off x="8220355" y="5987342"/>
            <a:ext cx="1219886" cy="1692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-CL" sz="1100" u="none" cap="none" strike="noStrike">
                <a:solidFill>
                  <a:srgbClr val="002060"/>
                </a:solidFill>
                <a:latin typeface="Poppins"/>
                <a:ea typeface="Poppins"/>
                <a:cs typeface="Poppins"/>
                <a:sym typeface="Poppins"/>
              </a:rPr>
              <a:t>Octubre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8"/>
          <p:cNvSpPr/>
          <p:nvPr/>
        </p:nvSpPr>
        <p:spPr>
          <a:xfrm>
            <a:off x="2096861" y="6020698"/>
            <a:ext cx="38100" cy="45719"/>
          </a:xfrm>
          <a:prstGeom prst="roundRect">
            <a:avLst>
              <a:gd fmla="val 50000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8"/>
          <p:cNvSpPr/>
          <p:nvPr/>
        </p:nvSpPr>
        <p:spPr>
          <a:xfrm>
            <a:off x="362647" y="5449128"/>
            <a:ext cx="11466706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30" name="Google Shape;53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70267" y="5681874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8"/>
          <p:cNvSpPr/>
          <p:nvPr/>
        </p:nvSpPr>
        <p:spPr>
          <a:xfrm>
            <a:off x="3812826" y="445425"/>
            <a:ext cx="5144700" cy="304800"/>
          </a:xfrm>
          <a:prstGeom prst="roundRect">
            <a:avLst>
              <a:gd fmla="val 50000" name="adj"/>
            </a:avLst>
          </a:prstGeom>
          <a:solidFill>
            <a:srgbClr val="142B43"/>
          </a:solidFill>
          <a:ln cap="flat" cmpd="sng" w="9525">
            <a:solidFill>
              <a:srgbClr val="1B49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32" name="Google Shape;532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73041" y="526383"/>
            <a:ext cx="11430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8"/>
          <p:cNvSpPr txBox="1"/>
          <p:nvPr/>
        </p:nvSpPr>
        <p:spPr>
          <a:xfrm>
            <a:off x="4205725" y="501450"/>
            <a:ext cx="451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CL" sz="1400" u="none" cap="none" strike="noStrik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GASTROCONNECT — RESTAURANTE </a:t>
            </a:r>
            <a:r>
              <a:rPr b="1" lang="es-CL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SHAOLIN SUSHI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8"/>
          <p:cNvSpPr txBox="1"/>
          <p:nvPr/>
        </p:nvSpPr>
        <p:spPr>
          <a:xfrm>
            <a:off x="1535650" y="3197975"/>
            <a:ext cx="9167100" cy="6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GastroConnect — Transformación digital inteligente e integral para el Restaurante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Shaolin Sushi.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