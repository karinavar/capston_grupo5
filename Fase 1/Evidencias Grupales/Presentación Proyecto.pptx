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rimson Pro SemiBold" panose="020B0604020202020204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Plus Jakarta Sans" panose="020B0604020202020204" charset="0"/>
      <p:regular r:id="rId32"/>
      <p:bold r:id="rId33"/>
      <p:italic r:id="rId34"/>
      <p:boldItalic r:id="rId35"/>
    </p:embeddedFont>
    <p:embeddedFont>
      <p:font typeface="Plus Jakarta Sans SemiBold" panose="020B0604020202020204" charset="0"/>
      <p:regular r:id="rId36"/>
      <p:bold r:id="rId37"/>
      <p:italic r:id="rId38"/>
      <p:bold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  <p:embeddedFont>
      <p:font typeface="Poppins SemiBold" panose="00000700000000000000" pitchFamily="2" charset="0"/>
      <p:regular r:id="rId44"/>
      <p:bold r:id="rId45"/>
      <p:italic r:id="rId46"/>
      <p:boldItalic r:id="rId47"/>
    </p:embeddedFont>
    <p:embeddedFont>
      <p:font typeface="Roboto Mono" panose="00000009000000000000" pitchFamily="49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jxxA+O1W6o3JxGwlDES7Jgo8U0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8CAD9D-2F1D-4E84-A60F-2785118AC01A}">
  <a:tblStyle styleId="{798CAD9D-2F1D-4E84-A60F-2785118AC0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font" Target="fonts/font3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font" Target="fonts/font30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3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1" cy="50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(POS) y canal de pedidos cliente para </a:t>
            </a:r>
            <a:r>
              <a:rPr lang="es-CL" sz="14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Mirellita</a:t>
            </a:r>
            <a:r>
              <a:rPr lang="es-CL" sz="14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 b="0" i="0" u="none" strike="noStrike" cap="non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550" cy="2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 Mirellita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550" cy="2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04-09-2026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75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sz="975" b="1" i="0" u="none" strike="noStrike" cap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sz="1200" b="1" i="0" u="none" strike="noStrike" cap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675664" y="654577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456083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531821" y="796721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09600" y="1081227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sz="255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206871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3087885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34572" y="410706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206871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3087885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116222" y="4107060"/>
            <a:ext cx="5391150" cy="8667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34597" y="5757182"/>
            <a:ext cx="189955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sz="1050" b="0" i="0" u="none" strike="noStrike" cap="non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8145047" y="5757182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44197" y="2287785"/>
            <a:ext cx="483810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y Problema Operativo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344197" y="2544960"/>
            <a:ext cx="4607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Inconsistencias del modelo manual actual en salón y cocina.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344197" y="3306960"/>
            <a:ext cx="458807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 Propuesta y Objetivos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344197" y="3564135"/>
            <a:ext cx="436959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digital POS, comandas térmicas y App Móvil.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344197" y="4326135"/>
            <a:ext cx="42880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Presupuesto e Impacto en KPIs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1344197" y="4583310"/>
            <a:ext cx="40838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 estimada y retorno operativo cuantificable.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925847" y="2287785"/>
            <a:ext cx="483810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y Equipo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25847" y="2544960"/>
            <a:ext cx="4607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Waterfall de 18 semanas y asignación de roles.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25847" y="3306960"/>
            <a:ext cx="51631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 y Mitigación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925847" y="3564135"/>
            <a:ext cx="49172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matriz 3x3, estrategias y cumplimiento de plazos.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6925847" y="4326135"/>
            <a:ext cx="51911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Compromisos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925847" y="4583310"/>
            <a:ext cx="4988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 de avance actual y entregables para la próxima semana.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368634" y="4314313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229731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3277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9999" y="434722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225759" y="228542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237666" y="32712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6225759" y="429756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pic>
        <p:nvPicPr>
          <p:cNvPr id="144" name="Google Shape;144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/>
          <p:nvPr/>
        </p:nvSpPr>
        <p:spPr>
          <a:xfrm>
            <a:off x="531821" y="669290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Contexto Cliente</a:t>
            </a:r>
            <a:endParaRPr sz="26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9228" y="2034496"/>
            <a:ext cx="5117972" cy="377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"/>
          <p:cNvSpPr/>
          <p:nvPr/>
        </p:nvSpPr>
        <p:spPr>
          <a:xfrm>
            <a:off x="472369" y="1341652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670" y="1980222"/>
            <a:ext cx="3002955" cy="210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/>
          <p:nvPr/>
        </p:nvSpPr>
        <p:spPr>
          <a:xfrm>
            <a:off x="647615" y="2689330"/>
            <a:ext cx="2625064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Poppins"/>
              <a:buNone/>
            </a:pPr>
            <a:r>
              <a:rPr lang="es-CL" sz="1400" b="0" i="0" u="none" strike="noStrike" cap="non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Operando desde 2021 en Recoleta, especializada en gastronomía peruana auténtica</a:t>
            </a:r>
            <a:r>
              <a:rPr lang="es-CL" sz="1450" b="0" i="0" u="none" strike="noStrike" cap="non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796030" y="2260488"/>
            <a:ext cx="2625064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850"/>
              <a:buFont typeface="Crimson Pro SemiBold"/>
              <a:buNone/>
            </a:pPr>
            <a:r>
              <a:rPr lang="es-CL" sz="185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  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Microempresa</a:t>
            </a:r>
            <a:r>
              <a:rPr lang="es-CL" sz="160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familiar</a:t>
            </a:r>
            <a:endParaRPr/>
          </a:p>
        </p:txBody>
      </p:sp>
      <p:sp>
        <p:nvSpPr>
          <p:cNvPr id="157" name="Google Shape;157;p3" descr="Store with solid fill"/>
          <p:cNvSpPr/>
          <p:nvPr/>
        </p:nvSpPr>
        <p:spPr>
          <a:xfrm>
            <a:off x="647615" y="2260487"/>
            <a:ext cx="301626" cy="30162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158" name="Google Shape;158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5971" y="1980222"/>
            <a:ext cx="3002955" cy="210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"/>
          <p:cNvSpPr/>
          <p:nvPr/>
        </p:nvSpPr>
        <p:spPr>
          <a:xfrm>
            <a:off x="3526245" y="2262442"/>
            <a:ext cx="3183530" cy="46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s-CL" sz="1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  <a:r>
              <a:rPr lang="es-CL" sz="185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Presencia</a:t>
            </a:r>
            <a:r>
              <a:rPr lang="es-CL" sz="160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digital mínima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770327" y="2669028"/>
            <a:ext cx="2625163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95"/>
              <a:buFont typeface="Poppins"/>
              <a:buNone/>
            </a:pPr>
            <a:r>
              <a:rPr lang="es-CL" sz="1295" b="0" i="0" u="none" strike="noStrike" cap="non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Solo Facebook y WhatsApp para recibir pedidos, sin canal de venta digital estructurado.</a:t>
            </a:r>
            <a:endParaRPr sz="1295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670" y="4259061"/>
            <a:ext cx="6100256" cy="15539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/>
          <p:nvPr/>
        </p:nvSpPr>
        <p:spPr>
          <a:xfrm>
            <a:off x="574774" y="4580898"/>
            <a:ext cx="5868047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lang="es-CL" sz="160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Operación</a:t>
            </a:r>
            <a:r>
              <a:rPr lang="es-CL" sz="1600" b="0" i="0" u="none" strike="noStrike" cap="non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100% manual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74774" y="4995930"/>
            <a:ext cx="5868047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Poppins"/>
              <a:buNone/>
            </a:pPr>
            <a:r>
              <a:rPr lang="es-CL" sz="1400" b="0" i="0" u="none" strike="noStrike" cap="non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Atención presencial, llamadas y mensajería directa, sin sistema centralizado de ningún tipo.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3" name="Graphic 8" descr="Store with solid fill">
            <a:extLst>
              <a:ext uri="{FF2B5EF4-FFF2-40B4-BE49-F238E27FC236}">
                <a16:creationId xmlns:a16="http://schemas.microsoft.com/office/drawing/2014/main" id="{B3296FFE-4806-573C-4EA7-926906B5D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44" y="2247315"/>
            <a:ext cx="301626" cy="301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239" y="1854079"/>
            <a:ext cx="5314950" cy="375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922564" y="2168404"/>
            <a:ext cx="492061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</a:t>
            </a:r>
            <a:r>
              <a:rPr lang="es-CL" sz="1500" b="0" i="0" u="none" strike="noStrike" cap="non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 </a:t>
            </a:r>
            <a:r>
              <a:rPr lang="es-CL" sz="16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Operativo</a:t>
            </a:r>
            <a:endParaRPr sz="1650" b="0" i="0" u="none" strike="noStrike" cap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113064" y="2654518"/>
            <a:ext cx="4495800" cy="7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Ineficiencia en Comandas:</a:t>
            </a:r>
            <a:r>
              <a:rPr lang="es-CL" sz="14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Extravío de tickets de papel, errores de lectura manuscrita, cambios manuales y cero trazabilidad.</a:t>
            </a:r>
            <a:endParaRPr sz="14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1113064" y="3560607"/>
            <a:ext cx="4495800" cy="7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Ineficiencia en Caja:</a:t>
            </a:r>
            <a:r>
              <a:rPr lang="es-CL" sz="14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CL" sz="1400" b="0" i="0" u="none" strike="noStrike" cap="non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Cálculos manuales, cierre diario complejo y sin reportes centralizados para el negocio.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113064" y="4488833"/>
            <a:ext cx="4495800" cy="96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Atención Estática:</a:t>
            </a:r>
            <a:r>
              <a:rPr lang="es-CL" sz="1400" b="0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Falta de un canal digital interactivo para que el comensal consulte la carta y realice pedidos desde su mesa o desde casa.</a:t>
            </a:r>
            <a:endParaRPr sz="1400" b="0" i="0" u="none" strike="noStrike" cap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609600" y="788660"/>
            <a:ext cx="11521440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Problema: Caos Operativo</a:t>
            </a:r>
            <a:endParaRPr sz="2600" b="1" i="0" u="none" strike="noStrike" cap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08239" y="1432490"/>
            <a:ext cx="10974161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718457" y="2660603"/>
            <a:ext cx="446314" cy="3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718457" y="3564335"/>
            <a:ext cx="446314" cy="3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718457" y="4461888"/>
            <a:ext cx="446314" cy="33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 descr="Warning with solid fill"/>
          <p:cNvSpPr/>
          <p:nvPr/>
        </p:nvSpPr>
        <p:spPr>
          <a:xfrm>
            <a:off x="707571" y="2040852"/>
            <a:ext cx="454295" cy="4542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0" name="Google Shape;180;p4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5319" y="1854079"/>
            <a:ext cx="5294549" cy="375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15" descr="Warning with solid fill">
            <a:extLst>
              <a:ext uri="{FF2B5EF4-FFF2-40B4-BE49-F238E27FC236}">
                <a16:creationId xmlns:a16="http://schemas.microsoft.com/office/drawing/2014/main" id="{3EA7790E-DAEC-9DE9-8932-09C8489551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571" y="2007284"/>
            <a:ext cx="454295" cy="454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854078"/>
            <a:ext cx="5485039" cy="439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 txBox="1"/>
          <p:nvPr/>
        </p:nvSpPr>
        <p:spPr>
          <a:xfrm>
            <a:off x="6091645" y="2146669"/>
            <a:ext cx="492061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Transformación Digital Ecosistema POS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266088" y="2686444"/>
            <a:ext cx="5000625" cy="7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Plataforma GastroConnect: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s-CL" sz="14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reemplaza el flujo en papel por una plataforma digital centralizada que conecta en tiempo real salón, caja, cocina y clientes.</a:t>
            </a:r>
            <a:endParaRPr sz="1400" b="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6266087" y="4383361"/>
            <a:ext cx="5000626" cy="7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Comandas Térmicas Directas: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Emisión automática de comandas hacia cocina y barra al instante de la toma del pedido.</a:t>
            </a:r>
            <a:endParaRPr sz="1400" b="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6266087" y="3550995"/>
            <a:ext cx="5000626" cy="72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App Movil Clientes: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CL" sz="14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Carta digital interactiva mediante código QR en mesa, permitiendo consultar platos y realizar pedidos.</a:t>
            </a:r>
            <a:endParaRPr sz="1400" b="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09600" y="788660"/>
            <a:ext cx="11521440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Solución Propuesta</a:t>
            </a:r>
            <a:endParaRPr sz="2600" b="1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08239" y="1432490"/>
            <a:ext cx="10974161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54077"/>
            <a:ext cx="5295900" cy="434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6266089" y="5247912"/>
            <a:ext cx="5000626" cy="75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just" rtl="0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Mapa interactivo de mesas: 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Control visual inmediato de las 24 mesas en los 2 pisos (disponible, ocupada, comanda enviada, cuenta solicitada).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800931"/>
            <a:ext cx="11144250" cy="152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 txBox="1"/>
          <p:nvPr/>
        </p:nvSpPr>
        <p:spPr>
          <a:xfrm>
            <a:off x="523875" y="3488069"/>
            <a:ext cx="116681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</a:t>
            </a:r>
            <a:r>
              <a:rPr lang="es-CL" sz="1600" b="0" i="0" u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Específicos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723900" y="2000956"/>
            <a:ext cx="107442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22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619125" y="2327308"/>
            <a:ext cx="10744200" cy="64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Implementar una solución tecnologica que reemplace el flujo en papel por una plataforma digital centralizada que  modernice su gestión operativa, automatice las tareas críticas y se entregue un software de alta calidad que responde con precisión a sus necesidades reales, garantizando un retorno tangible en términos de productividad y control.</a:t>
            </a:r>
            <a:endParaRPr sz="1400" b="0" i="0" u="none">
              <a:solidFill>
                <a:srgbClr val="1E40A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952500" y="4008685"/>
            <a:ext cx="10715625" cy="43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 Salón: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Diseñar un módulo web interactivo para visualizar y administrar el estado de 24 mesas en 2 pisos en tiempo real.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952498" y="4535407"/>
            <a:ext cx="10715625" cy="43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Punto de Venta POS: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Implementar las funciones de apertura/cierre de caja, multi-pago (efectivo, tarjetas, transferencias) y desglose de propinas.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952499" y="5132134"/>
            <a:ext cx="10715625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Canal Móvil Clientes: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Crear una app móvil que permita la lectura de carta mediante QR, envío asistido de pedidos </a:t>
            </a:r>
            <a:r>
              <a:rPr lang="es-CL" sz="14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y seguimiento de pedido por código único UUID.</a:t>
            </a:r>
            <a:endParaRPr sz="1400" b="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952497" y="5725420"/>
            <a:ext cx="10715625" cy="43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Informes Ejecutivos:</a:t>
            </a:r>
            <a:r>
              <a:rPr lang="es-CL" sz="14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Habilitar un panel analítico para el dueño con métricas de ventas, platos más consumidos y tiempos de atención.</a:t>
            </a:r>
            <a:endParaRPr/>
          </a:p>
        </p:txBody>
      </p:sp>
      <p:pic>
        <p:nvPicPr>
          <p:cNvPr id="209" name="Google Shape;209;p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058998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39973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454550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51294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" y="572542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/>
        </p:nvSpPr>
        <p:spPr>
          <a:xfrm>
            <a:off x="523875" y="916687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23875" y="1516762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/>
          <p:nvPr/>
        </p:nvSpPr>
        <p:spPr>
          <a:xfrm>
            <a:off x="523875" y="916687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Costos Desarrollo Proyecto</a:t>
            </a:r>
            <a:endParaRPr sz="2800" b="1" i="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23875" y="1516762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7"/>
          <p:cNvGraphicFramePr/>
          <p:nvPr/>
        </p:nvGraphicFramePr>
        <p:xfrm>
          <a:off x="523876" y="1714497"/>
          <a:ext cx="11144250" cy="3579540"/>
        </p:xfrm>
        <a:graphic>
          <a:graphicData uri="http://schemas.openxmlformats.org/drawingml/2006/table">
            <a:tbl>
              <a:tblPr firstRow="1" bandRow="1">
                <a:noFill/>
                <a:tableStyleId>{798CAD9D-2F1D-4E84-A60F-2785118AC01A}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Categoría de Recurso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 / Descripción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 Estimado (CLP)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3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del sistema 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Backend, Frontend y gestión/QA del proyecto durante 18 semanas 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s-CL">
                          <a:latin typeface="Arial"/>
                          <a:ea typeface="Arial"/>
                          <a:cs typeface="Arial"/>
                          <a:sym typeface="Arial"/>
                        </a:rPr>
                        <a:t>9.000.000</a:t>
                      </a: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3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>
                          <a:latin typeface="Arial"/>
                          <a:ea typeface="Arial"/>
                          <a:cs typeface="Arial"/>
                          <a:sym typeface="Arial"/>
                        </a:rPr>
                        <a:t>Impresora térmica 80mm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>
                          <a:latin typeface="Arial"/>
                          <a:ea typeface="Arial"/>
                          <a:cs typeface="Arial"/>
                          <a:sym typeface="Arial"/>
                        </a:rPr>
                        <a:t>Para etapa de pruebas y despliegue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s-CL">
                          <a:latin typeface="Arial"/>
                          <a:ea typeface="Arial"/>
                          <a:cs typeface="Arial"/>
                          <a:sym typeface="Arial"/>
                        </a:rPr>
                        <a:t>100.000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3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Insumos de impresión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Papel térmico 80 mm (10 unidades)</a:t>
                      </a:r>
                      <a:r>
                        <a:rPr lang="es-CL" sz="1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es-CL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lang="es-CL" sz="14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.000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3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Dominio y Certificado SSL página web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Dominio </a:t>
                      </a:r>
                      <a:r>
                        <a:rPr lang="es-CL" sz="1400" u="none" strike="noStrike" cap="non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.cl</a:t>
                      </a: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+ certificado SSL/TLS para HTTPS 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$9.990</a:t>
                      </a:r>
                      <a:endParaRPr sz="2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75">
                <a:tc gridSpan="2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ESTIMADO PROYECTO</a:t>
                      </a:r>
                      <a:endParaRPr sz="240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b="1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</a:t>
                      </a:r>
                      <a:r>
                        <a:rPr lang="es-CL" b="1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r>
                        <a:rPr lang="es-CL" sz="1400" b="1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s-CL" b="1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124</a:t>
                      </a:r>
                      <a:r>
                        <a:rPr lang="es-CL" sz="1400" b="1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s-CL" b="1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r>
                        <a:rPr lang="es-CL" sz="1400" b="1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 CLP</a:t>
                      </a:r>
                      <a:endParaRPr sz="240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6200" marR="76200" marT="76200" marB="76200"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4" name="Google Shape;224;p7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225" name="Google Shape;225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5526675"/>
            <a:ext cx="11144249" cy="7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523950" y="5694488"/>
            <a:ext cx="1114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la etapa de despliegue se debe evaluar las contratación de un Servidor Cloud en Azure para la infraestructura y Licencia de publicación en App Store o Google Play para la app movil de cliente.</a:t>
            </a:r>
            <a:endParaRPr sz="1400" b="0" i="0" u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 txBox="1"/>
          <p:nvPr/>
        </p:nvSpPr>
        <p:spPr>
          <a:xfrm>
            <a:off x="523875" y="916687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Impacto Mejora</a:t>
            </a:r>
            <a:endParaRPr sz="2800" b="1" i="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23875" y="1516762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8"/>
          <p:cNvGraphicFramePr/>
          <p:nvPr/>
        </p:nvGraphicFramePr>
        <p:xfrm>
          <a:off x="523873" y="17044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{798CAD9D-2F1D-4E84-A60F-2785118AC01A}</a:tableStyleId>
              </a:tblPr>
              <a:tblGrid>
                <a:gridCol w="27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strike="noStrike" cap="none"/>
                        <a:t>Indicador (KPI)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strike="noStrike" cap="none"/>
                        <a:t>Situación Sin Sistema (Manual)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strike="noStrike" cap="none"/>
                        <a:t>Con GastroConnect (Corto Plazo)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u="none" strike="noStrike" cap="none"/>
                        <a:t>Impacto a Largo Plazo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none"/>
                        <a:t>Tiempo de preparación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8-12 minutos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/>
                        <a:t>&lt;1 minuto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Mayor velocidad en atención y entrega de pedidos.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Tasa de error en cuentas y pedidos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10% errores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/>
                        <a:t>0% errores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Reducción 10% de perdidas de insumos o fuga de clientes insatisfechos.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Tiempo de arqueo de caja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40 minutos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/>
                        <a:t>&lt;5 minutos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Reducción de horas extra y errores de descuadre.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Tasa pedidos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80%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&gt;20%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Aumento pedidos por canal digital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4" name="Google Shape;234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5731790"/>
            <a:ext cx="10972800" cy="7667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695325" y="5941313"/>
            <a:ext cx="10572750" cy="44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Cualitativamente</a:t>
            </a:r>
            <a:r>
              <a:rPr lang="es-CL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el cliente obtiene una experiencia moderna y fluida, mientras que el restaurante consolida un control financiero riguroso que justifica plenamente la inversión del proyecto.</a:t>
            </a:r>
            <a:endParaRPr sz="1400" b="0" i="0" u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41" y="3979336"/>
            <a:ext cx="2563117" cy="179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2915" y="2215487"/>
            <a:ext cx="2563117" cy="1558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2698" y="3958349"/>
            <a:ext cx="2563117" cy="181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0898" y="2182067"/>
            <a:ext cx="2563117" cy="155848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523875" y="3843337"/>
            <a:ext cx="1114425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191884" y="4087117"/>
            <a:ext cx="246717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1: Análisis y Diseño</a:t>
            </a:r>
            <a:endParaRPr sz="1600" b="0" i="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248342" y="4727352"/>
            <a:ext cx="2258317" cy="89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Levantamiento y formalización del documento ERS, Kick-off, DAS, diagramas y </a:t>
            </a:r>
            <a:r>
              <a:rPr lang="es-CL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prototipos Web y Móvil.</a:t>
            </a: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948856" y="2313624"/>
            <a:ext cx="23712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2: BD y Backend</a:t>
            </a:r>
            <a:endParaRPr sz="1600" b="0" i="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2005315" y="2887744"/>
            <a:ext cx="2258317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de base de datos relacional, modelos Django REST Framework y endpoints API REST. </a:t>
            </a: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3928640" y="4154067"/>
            <a:ext cx="23712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</a:t>
            </a: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3: Desarrollo Web</a:t>
            </a:r>
            <a:endParaRPr sz="1600" b="0" i="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3977681" y="4708535"/>
            <a:ext cx="225831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módulos </a:t>
            </a:r>
            <a:r>
              <a:rPr lang="es-CL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tención en salón, punto de venta , integración con impresora térmica y panel de administración e informes.</a:t>
            </a:r>
            <a:endParaRPr/>
          </a:p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5788868" y="2303079"/>
            <a:ext cx="24671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</a:t>
            </a: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4: Desarrollo Móvil</a:t>
            </a:r>
            <a:endParaRPr sz="1600" b="0" i="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5893298" y="2899941"/>
            <a:ext cx="2258317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aplicación móvil cliente, carta digital multimedia y carrito de compra</a:t>
            </a: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523875" y="942975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Metodología de Desarrollo (Waterfall)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23875" y="154305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334292" y="37766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056969" y="3784726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942806" y="377397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889667" y="37957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847983" y="375853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0625596" y="376521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10601" y="2192158"/>
            <a:ext cx="2563117" cy="155848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 txBox="1"/>
          <p:nvPr/>
        </p:nvSpPr>
        <p:spPr>
          <a:xfrm>
            <a:off x="9506543" y="2313624"/>
            <a:ext cx="23712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</a:t>
            </a: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6: Capacitación y Cierre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9506543" y="3037829"/>
            <a:ext cx="2258317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Capacitación, marcha blanca y cierre</a:t>
            </a: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6" name="Google Shape;266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90200" y="3974131"/>
            <a:ext cx="2563117" cy="179869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9"/>
          <p:cNvSpPr txBox="1"/>
          <p:nvPr/>
        </p:nvSpPr>
        <p:spPr>
          <a:xfrm>
            <a:off x="7690200" y="4162112"/>
            <a:ext cx="256311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Actividad 5: Integración y QA</a:t>
            </a:r>
            <a:endParaRPr sz="1600" b="0" i="0" u="none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7842600" y="4831109"/>
            <a:ext cx="22583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Integración Pago</a:t>
            </a:r>
            <a:endParaRPr/>
          </a:p>
          <a:p>
            <a:pPr marL="0" marR="0" lvl="0" indent="0" algn="ctr" rtl="0">
              <a:lnSpc>
                <a:spcPct val="100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y ejecución del plan de pruebas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 txBox="1"/>
          <p:nvPr/>
        </p:nvSpPr>
        <p:spPr>
          <a:xfrm>
            <a:off x="523875" y="841831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Plan de Trabajo</a:t>
            </a:r>
            <a:endParaRPr sz="2800" b="1" i="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23875" y="1441906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5348409"/>
            <a:ext cx="11144250" cy="76676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 txBox="1"/>
          <p:nvPr/>
        </p:nvSpPr>
        <p:spPr>
          <a:xfrm>
            <a:off x="466435" y="5624068"/>
            <a:ext cx="111224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Plan de 18 semanas </a:t>
            </a:r>
            <a:r>
              <a:rPr lang="es-CL" sz="140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calendario para diseñar, desarrollar, integrar, validar y entregar la plataforma tecnológica propuesta.</a:t>
            </a:r>
            <a:endParaRPr sz="1400" b="0" i="0" u="non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279" name="Google Shape;27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988004"/>
            <a:ext cx="11144250" cy="282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2077342"/>
            <a:ext cx="3555950" cy="362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077342"/>
            <a:ext cx="3555950" cy="362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12025" y="2077342"/>
            <a:ext cx="3555950" cy="362009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 txBox="1"/>
          <p:nvPr/>
        </p:nvSpPr>
        <p:spPr>
          <a:xfrm>
            <a:off x="742950" y="2858392"/>
            <a:ext cx="32736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Karina Escobar Navarro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742950" y="3267967"/>
            <a:ext cx="3117800" cy="20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Gestora de Proyecto &amp; QA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742950" y="3565028"/>
            <a:ext cx="3117800" cy="1509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de casos de uso, diagramas de flujo y mockups, junto con la documentación de requerimientos y arquitectura. Implementación del proceso ETL para cargar el catálogo en PostgreSQL, y ejecución del plan de pruebas (QA) con validación final.</a:t>
            </a:r>
            <a:endParaRPr sz="1400" b="0" i="0" u="non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4537025" y="2858392"/>
            <a:ext cx="32736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Jerson Huaman Moreno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4537025" y="3267967"/>
            <a:ext cx="3117800" cy="20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Desarrollador Backend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4537025" y="3565028"/>
            <a:ext cx="3117800" cy="1291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e implementación de la arquitectura API REST (Django/Python), gestión del modelo de datos de salón/caja, seguridad, reglas de negocio y sockets para sincronización en tiempo real.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8331100" y="2858392"/>
            <a:ext cx="32736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Alexia Cano Cuminao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8331100" y="3267967"/>
            <a:ext cx="3117800" cy="20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Desarrolladora Frontend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8331100" y="3565028"/>
            <a:ext cx="3117800" cy="1291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Construcción de interfaz Web POS para cajera/salón (Angular) y aplicación móvil híbrida para clientes (Ionic/Angular), enfocada en experiencia de usuario accesible e interactiva.</a:t>
            </a:r>
            <a:endParaRPr/>
          </a:p>
        </p:txBody>
      </p:sp>
      <p:pic>
        <p:nvPicPr>
          <p:cNvPr id="297" name="Google Shape;297;p1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950" y="237261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37025" y="237261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31100" y="237261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 txBox="1"/>
          <p:nvPr/>
        </p:nvSpPr>
        <p:spPr>
          <a:xfrm>
            <a:off x="523875" y="942975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Equipo de Trabajo y Roles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23875" y="154305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915887"/>
            <a:ext cx="5405437" cy="339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915887"/>
            <a:ext cx="5405437" cy="3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2"/>
          <p:cNvSpPr txBox="1"/>
          <p:nvPr/>
        </p:nvSpPr>
        <p:spPr>
          <a:xfrm>
            <a:off x="800100" y="2159435"/>
            <a:ext cx="513564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Relación Perfil de Egreso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800100" y="2653737"/>
            <a:ext cx="4891087" cy="20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proyecto integra competencias clave de la carrera: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800100" y="3201853"/>
            <a:ext cx="4891087" cy="4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-CL" sz="1400" b="1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Ingeniería de Software: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Análisis ERS, arquitectura en capas API REST y diseño de bases de datos relacionales.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800100" y="3839591"/>
            <a:ext cx="4891087" cy="4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-CL" sz="1400" b="1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Web &amp; Híbrido: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Implementación Angular para POS y tecnología Ionic Móvil.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800100" y="4512766"/>
            <a:ext cx="4891087" cy="4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-CL" sz="1400" b="1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de Proyectos &amp; QA: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de plazos, presupuesto y aseguramiento de calidad con pruebas funcionales.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6538912" y="2159435"/>
            <a:ext cx="513564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Intereses &amp; Factibilidad</a:t>
            </a:r>
            <a:endParaRPr/>
          </a:p>
        </p:txBody>
      </p:sp>
      <p:sp>
        <p:nvSpPr>
          <p:cNvPr id="316" name="Google Shape;316;p12"/>
          <p:cNvSpPr txBox="1"/>
          <p:nvPr/>
        </p:nvSpPr>
        <p:spPr>
          <a:xfrm>
            <a:off x="6519861" y="2803266"/>
            <a:ext cx="4891087" cy="63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-CL" sz="1400" b="1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Interés Profesional: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Especialización del equipo en transformación digital para el rubro gastronómico y PyMEs comerciales.</a:t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6538912" y="3621583"/>
            <a:ext cx="4891087" cy="85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s-CL" sz="1400" b="1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Argumento de Factibilidad:</a:t>
            </a:r>
            <a:r>
              <a:rPr lang="es-CL" sz="1400" b="0" i="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Proyecto acotado a 16 semanas con tecnologías dominadas por el equipo, alcance validado mediante ERS y disponibilidad directa de la contraparte del restaurante.</a:t>
            </a:r>
            <a:endParaRPr/>
          </a:p>
        </p:txBody>
      </p:sp>
      <p:sp>
        <p:nvSpPr>
          <p:cNvPr id="318" name="Google Shape;318;p12"/>
          <p:cNvSpPr txBox="1"/>
          <p:nvPr/>
        </p:nvSpPr>
        <p:spPr>
          <a:xfrm>
            <a:off x="523875" y="814683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Marco Académico y Perfil APT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523875" y="1414758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 txBox="1"/>
          <p:nvPr/>
        </p:nvSpPr>
        <p:spPr>
          <a:xfrm>
            <a:off x="523875" y="428625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Avance Plan de Trabajo</a:t>
            </a:r>
            <a:endParaRPr sz="2550" b="1" i="0" u="non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23875" y="1028700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800" y="5499073"/>
            <a:ext cx="10972800" cy="10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786" y="564317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 txBox="1"/>
          <p:nvPr/>
        </p:nvSpPr>
        <p:spPr>
          <a:xfrm>
            <a:off x="877650" y="5646550"/>
            <a:ext cx="107049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Estado Global del Cronograma:</a:t>
            </a:r>
            <a:r>
              <a:rPr lang="es-CL" sz="1400" b="0" i="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Nos encontramos en la semana 4 con un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lang="es-CL" sz="1400" b="0" i="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% de avance general completado. 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Mantenemos un 1% de desviación en las actividades en relación del plazo planificado. </a:t>
            </a:r>
            <a:r>
              <a:rPr lang="es-CL" sz="1400" b="0" i="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Las actividades de levantamiento, análisis y diseño están concluidas</a:t>
            </a:r>
            <a:r>
              <a:rPr lang="es-CL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s-CL" sz="1400" b="0" i="0" u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CL" sz="14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Actualmente nos encontramos diseñando la base de datos y desarrollo backend. </a:t>
            </a:r>
            <a:endParaRPr>
              <a:solidFill>
                <a:srgbClr val="002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0979" y="1298980"/>
            <a:ext cx="1587146" cy="113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0980" y="2784597"/>
            <a:ext cx="1587146" cy="113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80981" y="4270215"/>
            <a:ext cx="1587145" cy="113126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 txBox="1"/>
          <p:nvPr/>
        </p:nvSpPr>
        <p:spPr>
          <a:xfrm>
            <a:off x="10339677" y="1581559"/>
            <a:ext cx="12427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SEMANA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4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10024063" y="3067177"/>
            <a:ext cx="170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CUMPLIMIENTO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14%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10185246" y="4542094"/>
            <a:ext cx="1397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DESVIACION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    1%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609600" y="6616968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337" name="Google Shape;33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600" y="1298975"/>
            <a:ext cx="9215276" cy="41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14"/>
          <p:cNvGraphicFramePr/>
          <p:nvPr/>
        </p:nvGraphicFramePr>
        <p:xfrm>
          <a:off x="523872" y="9510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{798CAD9D-2F1D-4E84-A60F-2785118AC01A}</a:tableStyleId>
              </a:tblPr>
              <a:tblGrid>
                <a:gridCol w="27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Estado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Responsable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Evidencia</a:t>
                      </a:r>
                      <a:r>
                        <a:rPr lang="es-CL" sz="12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 / </a:t>
                      </a:r>
                      <a:r>
                        <a:rPr lang="es-CL" sz="1400" b="0" i="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Producto</a:t>
                      </a:r>
                      <a:endParaRPr sz="1200" b="0" i="0" u="none">
                        <a:solidFill>
                          <a:srgbClr val="FFFFFF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Especificación de Requisitos 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sz="1200" b="1" i="0" u="none">
                        <a:solidFill>
                          <a:srgbClr val="16A34A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Documento ERS y KICK OFF firmado por cliente.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Documentación Arquitectura DAS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 i="0" u="non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Finalizada</a:t>
                      </a:r>
                      <a:endParaRPr sz="1200" b="1" i="0" u="non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381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casos de uso, diagramas de flujo, modelo de datos y mockup.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Modelo de Datos y API REST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 i="0" u="none">
                          <a:solidFill>
                            <a:srgbClr val="2563E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Proceso</a:t>
                      </a:r>
                      <a:endParaRPr sz="1200" b="1" i="0" u="none">
                        <a:solidFill>
                          <a:srgbClr val="D97706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Huaman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Script BD PostgreSQL, API Rest y endpoints para la página web y la app móvil.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Web POS Caja, Salón &amp; Admin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200"/>
                        <a:buFont typeface="Lato"/>
                        <a:buNone/>
                      </a:pPr>
                      <a:r>
                        <a:rPr lang="es-CL" sz="1200" b="1" i="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Angular: estructura, rutas, servicios, sesión, guards y roles.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Módulo App Movil Carta &amp; Pedidos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Alexia Cano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Pantallas Setup Ionic + Angular + Capacitor, almacenamiento local y navegación.</a:t>
                      </a:r>
                      <a:endParaRPr sz="1200" b="0" i="0" u="non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4" name="Google Shape;344;p14"/>
          <p:cNvSpPr/>
          <p:nvPr/>
        </p:nvSpPr>
        <p:spPr>
          <a:xfrm>
            <a:off x="523872" y="1382056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3309934" y="1382056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981572" y="1382056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7210422" y="1382056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23872" y="1827350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309934" y="1827350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981572" y="1827350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7210422" y="1827350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523872" y="2272644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3309934" y="2272644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981572" y="2272644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210422" y="2272644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23872" y="2717937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3309934" y="2717937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981572" y="2717937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7210422" y="2717937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23872" y="3163231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309934" y="3163231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981572" y="3163231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210422" y="3163231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523872" y="3608525"/>
            <a:ext cx="27860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3309934" y="3608525"/>
            <a:ext cx="16716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981572" y="3608525"/>
            <a:ext cx="2228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210422" y="3608525"/>
            <a:ext cx="4457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2305" y="335254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305" y="153921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4"/>
          <p:cNvSpPr txBox="1"/>
          <p:nvPr/>
        </p:nvSpPr>
        <p:spPr>
          <a:xfrm>
            <a:off x="523876" y="110896"/>
            <a:ext cx="11668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Seguimiento de Actividades</a:t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523876" y="710971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14"/>
          <p:cNvGraphicFramePr/>
          <p:nvPr/>
        </p:nvGraphicFramePr>
        <p:xfrm>
          <a:off x="523872" y="36335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{798CAD9D-2F1D-4E84-A60F-2785118AC01A}</a:tableStyleId>
              </a:tblPr>
              <a:tblGrid>
                <a:gridCol w="27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Impresora Térmica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 sz="1200" b="1" i="0" u="none">
                        <a:solidFill>
                          <a:srgbClr val="2563EB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Jerson / Alexia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impresión de comanda en formato ESC/POS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Carga &amp; Marcha Blanca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>
                          <a:solidFill>
                            <a:srgbClr val="D9770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Pendiente</a:t>
                      </a:r>
                      <a:endParaRPr/>
                    </a:p>
                  </a:txBody>
                  <a:tcPr marL="2571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Karina Escobar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Informe de QA y Acta de Aceptación Cliente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73" name="Google Shape;37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2305" y="375199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1619" y="4196693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305" y="19749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0794" y="4692453"/>
            <a:ext cx="2520000" cy="183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0412" y="4667848"/>
            <a:ext cx="2520000" cy="1869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50422" y="4667847"/>
            <a:ext cx="2520000" cy="17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4"/>
          <p:cNvSpPr txBox="1"/>
          <p:nvPr/>
        </p:nvSpPr>
        <p:spPr>
          <a:xfrm>
            <a:off x="3773973" y="5004531"/>
            <a:ext cx="192576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6767484" y="5035219"/>
            <a:ext cx="166585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ACTIVIDADES PENDIENTES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1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 txBox="1"/>
          <p:nvPr/>
        </p:nvSpPr>
        <p:spPr>
          <a:xfrm>
            <a:off x="9543547" y="5004531"/>
            <a:ext cx="173374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ACTIVIDADES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ATRASADAS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264" y="4704757"/>
            <a:ext cx="2520000" cy="180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 txBox="1"/>
          <p:nvPr/>
        </p:nvSpPr>
        <p:spPr>
          <a:xfrm>
            <a:off x="763870" y="5035219"/>
            <a:ext cx="186437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ACTIVIDADES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FINALIZAS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62305" y="240004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4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pic>
        <p:nvPicPr>
          <p:cNvPr id="386" name="Google Shape;38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30" y="2873909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8410"/>
            <a:ext cx="12192000" cy="7084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0701" y="1457352"/>
            <a:ext cx="3555950" cy="474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4776" y="1457352"/>
            <a:ext cx="3555950" cy="474750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5"/>
          <p:cNvSpPr txBox="1"/>
          <p:nvPr/>
        </p:nvSpPr>
        <p:spPr>
          <a:xfrm>
            <a:off x="4409776" y="2238401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>
                <a:solidFill>
                  <a:srgbClr val="92400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2: Resistencia al Cambio</a:t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4409776" y="2865362"/>
            <a:ext cx="3059011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Lenta adopción del personal:</a:t>
            </a:r>
            <a:r>
              <a:rPr lang="es-CL" sz="12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Garzones o cajera habituados al papel muestran dificultades en las primeras jornadas.</a:t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8203851" y="2238401"/>
            <a:ext cx="327369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3: Caída de Red Local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8203851" y="2865362"/>
            <a:ext cx="2968674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Pérdida de conectividad Wi-Fi:</a:t>
            </a:r>
            <a:r>
              <a:rPr lang="es-CL" sz="12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Interrupción en el envío de pedidos durante horas de alta demanda.</a:t>
            </a:r>
            <a:endParaRPr/>
          </a:p>
        </p:txBody>
      </p:sp>
      <p:pic>
        <p:nvPicPr>
          <p:cNvPr id="398" name="Google Shape;39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9776" y="1752626"/>
            <a:ext cx="428625" cy="32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03851" y="1752626"/>
            <a:ext cx="428625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 txBox="1"/>
          <p:nvPr/>
        </p:nvSpPr>
        <p:spPr>
          <a:xfrm>
            <a:off x="449843" y="707561"/>
            <a:ext cx="11668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Gestión de Riesgos y Mitigación</a:t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470508" y="1326876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8595224" y="963105"/>
            <a:ext cx="289502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Próxima revisión de riesgos: 11-09-2026</a:t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4376288" y="4541821"/>
            <a:ext cx="3092499" cy="628650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Talleres prácticos guiados y manual visual en estación de caja.</a:t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8203850" y="4561047"/>
            <a:ext cx="2968675" cy="662582"/>
          </a:xfrm>
          <a:prstGeom prst="roundRect">
            <a:avLst>
              <a:gd name="adj" fmla="val 13043"/>
            </a:avLst>
          </a:prstGeom>
          <a:solidFill>
            <a:srgbClr val="DAE5F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Modo offline temporal con cola de sincronización local.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358876" y="3833419"/>
            <a:ext cx="3092499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8203851" y="3833419"/>
            <a:ext cx="2968674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464798" y="1790302"/>
            <a:ext cx="1000125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0300247" y="1790302"/>
            <a:ext cx="8858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6560048" y="1828402"/>
            <a:ext cx="9048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NIVEL MEDIO</a:t>
            </a:r>
            <a:endParaRPr/>
          </a:p>
        </p:txBody>
      </p:sp>
      <p:sp>
        <p:nvSpPr>
          <p:cNvPr id="411" name="Google Shape;411;p15"/>
          <p:cNvSpPr txBox="1"/>
          <p:nvPr/>
        </p:nvSpPr>
        <p:spPr>
          <a:xfrm>
            <a:off x="10395497" y="1828402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4482701" y="3957244"/>
            <a:ext cx="141545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6397756" y="3957244"/>
            <a:ext cx="95699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Alto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8328491" y="3957244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9961462" y="3957244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4376287" y="5578494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8217398" y="5568969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6917976" y="5666295"/>
            <a:ext cx="657225" cy="2286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0639125" y="5666295"/>
            <a:ext cx="657225" cy="2286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4482701" y="5704395"/>
            <a:ext cx="13000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25-11-2026</a:t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6994176" y="5694870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8203851" y="5704395"/>
            <a:ext cx="12343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11-11-2026</a:t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10715325" y="5694870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  <p:pic>
        <p:nvPicPr>
          <p:cNvPr id="424" name="Google Shape;4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0651" y="1457352"/>
            <a:ext cx="3555950" cy="474750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5"/>
          <p:cNvSpPr txBox="1"/>
          <p:nvPr/>
        </p:nvSpPr>
        <p:spPr>
          <a:xfrm>
            <a:off x="615701" y="2238401"/>
            <a:ext cx="327369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>
                <a:solidFill>
                  <a:srgbClr val="991B1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Riesgo 1: Impresión Térmica</a:t>
            </a:r>
            <a:endParaRPr sz="1650" b="0" i="0" u="none">
              <a:solidFill>
                <a:srgbClr val="991B1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632979" y="2845333"/>
            <a:ext cx="3092499" cy="86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Incompatibilidad de driver ESC/POS:</a:t>
            </a:r>
            <a:r>
              <a:rPr lang="es-CL" sz="1200" b="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Fallo en la comunicación entre el navegador web y la impresora en cocina.</a:t>
            </a:r>
            <a:endParaRPr/>
          </a:p>
        </p:txBody>
      </p:sp>
      <p:pic>
        <p:nvPicPr>
          <p:cNvPr id="427" name="Google Shape;4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5701" y="1752626"/>
            <a:ext cx="342900" cy="32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5"/>
          <p:cNvSpPr/>
          <p:nvPr/>
        </p:nvSpPr>
        <p:spPr>
          <a:xfrm>
            <a:off x="602154" y="4560439"/>
            <a:ext cx="3128072" cy="66319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Mitigación: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Driver puente local en Python/Node y emulador térmico de respaldo.</a:t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605361" y="3813333"/>
            <a:ext cx="3092499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2857948" y="1790302"/>
            <a:ext cx="8858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2953198" y="1828402"/>
            <a:ext cx="7905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NIVEL ALTO</a:t>
            </a:r>
            <a:endParaRPr/>
          </a:p>
        </p:txBody>
      </p:sp>
      <p:sp>
        <p:nvSpPr>
          <p:cNvPr id="432" name="Google Shape;432;p15"/>
          <p:cNvSpPr txBox="1"/>
          <p:nvPr/>
        </p:nvSpPr>
        <p:spPr>
          <a:xfrm>
            <a:off x="761552" y="3957244"/>
            <a:ext cx="126477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Probabilidad: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/>
          </a:p>
        </p:txBody>
      </p:sp>
      <p:sp>
        <p:nvSpPr>
          <p:cNvPr id="433" name="Google Shape;433;p15"/>
          <p:cNvSpPr txBox="1"/>
          <p:nvPr/>
        </p:nvSpPr>
        <p:spPr>
          <a:xfrm>
            <a:off x="2519163" y="3957244"/>
            <a:ext cx="110767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Impacto: </a:t>
            </a:r>
            <a:r>
              <a:rPr lang="es-CL" sz="11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Medio</a:t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651274" y="5578494"/>
            <a:ext cx="3092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3196826" y="5666295"/>
            <a:ext cx="657225" cy="2286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15"/>
          <p:cNvSpPr txBox="1"/>
          <p:nvPr/>
        </p:nvSpPr>
        <p:spPr>
          <a:xfrm>
            <a:off x="761552" y="5704395"/>
            <a:ext cx="127278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Límite: 11-10-2026</a:t>
            </a:r>
            <a:endParaRPr/>
          </a:p>
        </p:txBody>
      </p:sp>
      <p:sp>
        <p:nvSpPr>
          <p:cNvPr id="437" name="Google Shape;437;p15"/>
          <p:cNvSpPr txBox="1"/>
          <p:nvPr/>
        </p:nvSpPr>
        <p:spPr>
          <a:xfrm>
            <a:off x="3273026" y="5694870"/>
            <a:ext cx="6000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En Plazo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/>
          <p:nvPr/>
        </p:nvSpPr>
        <p:spPr>
          <a:xfrm>
            <a:off x="412653" y="557064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lang="es-CL" sz="28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Conclusiones y Compromisos</a:t>
            </a:r>
            <a:endParaRPr sz="2600" b="1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412653" y="1197167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09600" y="1447800"/>
            <a:ext cx="5372100" cy="4324350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210300" y="1447800"/>
            <a:ext cx="5372100" cy="4324350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847725" y="5244164"/>
            <a:ext cx="4895850" cy="443329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6448425" y="5233988"/>
            <a:ext cx="4895850" cy="409575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448425" y="2181225"/>
            <a:ext cx="489585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6448425" y="3162300"/>
            <a:ext cx="489585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6448425" y="4143375"/>
            <a:ext cx="4895850" cy="866775"/>
          </a:xfrm>
          <a:prstGeom prst="roundRect">
            <a:avLst>
              <a:gd name="adj" fmla="val 1098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448425" y="2181225"/>
            <a:ext cx="38100" cy="866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6448425" y="3162300"/>
            <a:ext cx="38100" cy="8667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6448425" y="4143375"/>
            <a:ext cx="38100" cy="8667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5369379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16859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7524" y="5387342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975" y="1781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5" y="3190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17811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6"/>
          <p:cNvSpPr txBox="1"/>
          <p:nvPr/>
        </p:nvSpPr>
        <p:spPr>
          <a:xfrm>
            <a:off x="838200" y="6115050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6715125" y="5369379"/>
            <a:ext cx="424610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Próxima reunión de seguimiento: </a:t>
            </a:r>
            <a:r>
              <a:rPr lang="es-CL" sz="1100" b="1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VIERNES</a:t>
            </a: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CL" sz="1100" b="1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es-CL" sz="1100" b="1" i="0" u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-09-2026 </a:t>
            </a: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990600" y="5348940"/>
            <a:ext cx="46101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Proyecto preparado para iniciar la etapa intensiva de desarrollo de software.</a:t>
            </a:r>
            <a:endParaRPr sz="1100" b="0" i="0" u="non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1285875" y="1738312"/>
            <a:ext cx="20582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del Avance</a:t>
            </a:r>
            <a:endParaRPr/>
          </a:p>
        </p:txBody>
      </p:sp>
      <p:sp>
        <p:nvSpPr>
          <p:cNvPr id="465" name="Google Shape;465;p16"/>
          <p:cNvSpPr txBox="1"/>
          <p:nvPr/>
        </p:nvSpPr>
        <p:spPr>
          <a:xfrm>
            <a:off x="6886575" y="1738312"/>
            <a:ext cx="46679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Compromisos Próxima Semana (Semana 5)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1095375" y="3171825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Alineamiento Estratégico</a:t>
            </a:r>
            <a:r>
              <a:rPr lang="es-CL" sz="120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: Requerimientos y arquitectura validados con cliente.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1095375" y="3808011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Control de Riesgos: </a:t>
            </a:r>
            <a:r>
              <a:rPr lang="es-CL" sz="120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Contingencias técnicas identificadas y con plan de acción activo.</a:t>
            </a:r>
            <a:endParaRPr sz="120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16"/>
          <p:cNvSpPr txBox="1"/>
          <p:nvPr/>
        </p:nvSpPr>
        <p:spPr>
          <a:xfrm>
            <a:off x="1095375" y="4435298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Garantía de Valor: </a:t>
            </a:r>
            <a:r>
              <a:rPr lang="es-CL" sz="12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Base sólida para cumplir el retorno operativo y la meta de eficiencia</a:t>
            </a:r>
            <a:r>
              <a:rPr lang="es-CL" sz="1200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6638925" y="2533650"/>
            <a:ext cx="47048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Carga inicial del catálogo de productos y modelo relacional.</a:t>
            </a:r>
            <a:endParaRPr sz="1200" b="0" i="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16"/>
          <p:cNvSpPr txBox="1"/>
          <p:nvPr/>
        </p:nvSpPr>
        <p:spPr>
          <a:xfrm>
            <a:off x="6638925" y="2743200"/>
            <a:ext cx="16591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Karina Escobar</a:t>
            </a:r>
            <a:endParaRPr sz="1200" b="1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16"/>
          <p:cNvSpPr txBox="1"/>
          <p:nvPr/>
        </p:nvSpPr>
        <p:spPr>
          <a:xfrm>
            <a:off x="6638925" y="3514725"/>
            <a:ext cx="475611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Métodos HTTP, formato de respuestas (JSON) y autenticación.</a:t>
            </a:r>
            <a:endParaRPr sz="1200" b="0" i="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6638925" y="3724275"/>
            <a:ext cx="1723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Jerson Huaman</a:t>
            </a:r>
            <a:endParaRPr/>
          </a:p>
        </p:txBody>
      </p:sp>
      <p:sp>
        <p:nvSpPr>
          <p:cNvPr id="473" name="Google Shape;473;p16"/>
          <p:cNvSpPr txBox="1"/>
          <p:nvPr/>
        </p:nvSpPr>
        <p:spPr>
          <a:xfrm>
            <a:off x="6638925" y="4495800"/>
            <a:ext cx="397705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URLs específicas donde se consumiran los recursos.</a:t>
            </a:r>
            <a:endParaRPr sz="1200" b="0" i="0" u="non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6638925" y="4705350"/>
            <a:ext cx="17232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Resp: </a:t>
            </a:r>
            <a:r>
              <a:rPr lang="es-CL" sz="1200" b="1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Jerson Huaman</a:t>
            </a:r>
            <a:endParaRPr sz="1200" b="1" i="0" u="none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638925" y="2314575"/>
            <a:ext cx="269304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</a:t>
            </a:r>
            <a:r>
              <a:rPr lang="es-CL" sz="12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Script BD PostgreSQL Final</a:t>
            </a:r>
            <a:endParaRPr/>
          </a:p>
        </p:txBody>
      </p:sp>
      <p:sp>
        <p:nvSpPr>
          <p:cNvPr id="476" name="Google Shape;476;p16"/>
          <p:cNvSpPr txBox="1"/>
          <p:nvPr/>
        </p:nvSpPr>
        <p:spPr>
          <a:xfrm>
            <a:off x="6638925" y="3295650"/>
            <a:ext cx="218168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</a:t>
            </a:r>
            <a:r>
              <a:rPr lang="es-CL" sz="12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Web/Movil</a:t>
            </a:r>
            <a:endParaRPr sz="1200" b="1" i="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6638925" y="4276725"/>
            <a:ext cx="23804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Avance Endpoints Web/Movil</a:t>
            </a:r>
            <a:r>
              <a:rPr lang="es-CL" sz="1200" b="1" i="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i="0" u="non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942975" y="2071562"/>
            <a:ext cx="4895850" cy="833563"/>
          </a:xfrm>
          <a:prstGeom prst="roundRect">
            <a:avLst>
              <a:gd name="adj" fmla="val 18604"/>
            </a:avLst>
          </a:prstGeom>
          <a:solidFill>
            <a:srgbClr val="002060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1038225" y="2478823"/>
            <a:ext cx="157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r>
              <a:rPr lang="es-CL" sz="1400" b="1" i="0" u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% Completado</a:t>
            </a:r>
            <a:endParaRPr sz="1400" b="1" i="0" u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6"/>
          <p:cNvSpPr txBox="1"/>
          <p:nvPr/>
        </p:nvSpPr>
        <p:spPr>
          <a:xfrm>
            <a:off x="4427767" y="2588315"/>
            <a:ext cx="112530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Semana 4 de 18</a:t>
            </a:r>
            <a:endParaRPr/>
          </a:p>
        </p:txBody>
      </p:sp>
      <p:sp>
        <p:nvSpPr>
          <p:cNvPr id="481" name="Google Shape;481;p16"/>
          <p:cNvSpPr txBox="1"/>
          <p:nvPr/>
        </p:nvSpPr>
        <p:spPr>
          <a:xfrm>
            <a:off x="1038225" y="2288323"/>
            <a:ext cx="209672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Estado Global del Proyecto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3646714" y="2252559"/>
            <a:ext cx="1953986" cy="230981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3781085" y="2280586"/>
            <a:ext cx="172538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 Semanas Desviación</a:t>
            </a:r>
            <a:endParaRPr sz="1100" b="1" i="0" u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4" name="Google Shape;484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200" y="38195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4863" y="4473979"/>
            <a:ext cx="1714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"/>
          <p:cNvSpPr txBox="1"/>
          <p:nvPr/>
        </p:nvSpPr>
        <p:spPr>
          <a:xfrm>
            <a:off x="772355" y="2487728"/>
            <a:ext cx="104943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</a:t>
            </a:r>
            <a:r>
              <a:rPr lang="es-CL" sz="3400" b="1" i="0" u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racias </a:t>
            </a:r>
            <a:r>
              <a:rPr lang="es-CL" sz="34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s-CL" sz="3400" b="1" i="0" u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lang="es-CL" sz="34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s-CL" sz="3400" b="1" i="0" u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u </a:t>
            </a:r>
            <a:r>
              <a:rPr lang="es-CL" sz="34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CL" sz="3400" b="1" i="0" u="none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tención!</a:t>
            </a:r>
            <a:endParaRPr sz="3400" b="1" i="0" u="none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7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/>
          </a:p>
        </p:txBody>
      </p:sp>
      <p:sp>
        <p:nvSpPr>
          <p:cNvPr id="498" name="Google Shape;498;p17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/>
          </a:p>
        </p:txBody>
      </p:sp>
      <p:sp>
        <p:nvSpPr>
          <p:cNvPr id="499" name="Google Shape;499;p17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1" i="0" u="non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/>
          <p:nvPr/>
        </p:nvSpPr>
        <p:spPr>
          <a:xfrm>
            <a:off x="3812814" y="445437"/>
            <a:ext cx="4746171" cy="304800"/>
          </a:xfrm>
          <a:prstGeom prst="roundRect">
            <a:avLst>
              <a:gd name="adj" fmla="val 50000"/>
            </a:avLst>
          </a:prstGeom>
          <a:solidFill>
            <a:srgbClr val="142B43"/>
          </a:solidFill>
          <a:ln w="9525" cap="flat" cmpd="sng">
            <a:solidFill>
              <a:srgbClr val="1B49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7"/>
          <p:cNvSpPr txBox="1"/>
          <p:nvPr/>
        </p:nvSpPr>
        <p:spPr>
          <a:xfrm>
            <a:off x="4205723" y="501439"/>
            <a:ext cx="40860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MIRELLITA</a:t>
            </a:r>
            <a:endParaRPr/>
          </a:p>
        </p:txBody>
      </p:sp>
      <p:sp>
        <p:nvSpPr>
          <p:cNvPr id="3" name="Google Shape;349;p8">
            <a:extLst>
              <a:ext uri="{FF2B5EF4-FFF2-40B4-BE49-F238E27FC236}">
                <a16:creationId xmlns:a16="http://schemas.microsoft.com/office/drawing/2014/main" id="{CAFF8617-EB81-A276-DDE9-D0DB6790A0DE}"/>
              </a:ext>
            </a:extLst>
          </p:cNvPr>
          <p:cNvSpPr txBox="1"/>
          <p:nvPr/>
        </p:nvSpPr>
        <p:spPr>
          <a:xfrm>
            <a:off x="1731799" y="3197975"/>
            <a:ext cx="89082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</a:t>
            </a: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Transformación digital inteligente e integral para el Restaurante </a:t>
            </a:r>
            <a:r>
              <a:rPr lang="es-CL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Mirellita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1897</Words>
  <Application>Microsoft Office PowerPoint</Application>
  <PresentationFormat>Panorámica</PresentationFormat>
  <Paragraphs>262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8" baseType="lpstr">
      <vt:lpstr>Lato</vt:lpstr>
      <vt:lpstr>Poppins</vt:lpstr>
      <vt:lpstr>Crimson Pro SemiBold</vt:lpstr>
      <vt:lpstr>Poppins SemiBold</vt:lpstr>
      <vt:lpstr>Plus Jakarta Sans SemiBold</vt:lpstr>
      <vt:lpstr>Plus Jakarta Sans</vt:lpstr>
      <vt:lpstr>Calibri</vt:lpstr>
      <vt:lpstr>Arial</vt:lpstr>
      <vt:lpstr>Roboto Mono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Karina Escobar Navarro</cp:lastModifiedBy>
  <cp:revision>2</cp:revision>
  <dcterms:created xsi:type="dcterms:W3CDTF">2013-01-27T09:14:16Z</dcterms:created>
  <dcterms:modified xsi:type="dcterms:W3CDTF">2026-10-02T22:13:47Z</dcterms:modified>
</cp:coreProperties>
</file>